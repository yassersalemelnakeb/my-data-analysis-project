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Today I'll walk you through an HR Analytics Performance Dashboard I built completely from scratch in Microsoft Excel — covering everything from raw data cleaning to pivot-table modeling, KPI design, VBA automation, and a fully interactive executive dashboard. This project reflects the same kind of end-to-end thinking I'd bring to a real analytics engagement, so I'll walk through it the way I would with an HR leadership team.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exists because the business had a real blind spot: a single attrition percentage that looked fine on the surface, but no way to see where turnover was actually concentrated. HR analytics matters because every one of these numbers is a person and a cost — getting this right changes real retention decisions. My objective was to build one governed, interactive dashboard the business could actually trust and use in a live leadership meeting, replacing manual spreadsheet pulls.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covers 171 employee records across seven departments and four job levels, spanning six years of hiring history from 2020 to 2025. Before any analysis began, I ran a full data quality pass — standardizing status labels, fixing inconsistent date fields, and normalizing category values — because a dashboard is only as trustworthy as the data underneath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itself — a single screen covering headcount, attrition, diversity, job level, department mix, manager span of control, and tenure. Every chart is connected through slicers for Name, Department, Manager, and Year, so clicking any one filter updates the entire page simultaneously. The layout was intentionally designed to guide a viewer from a specific person, to their manager, to a time period, to a department.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KPI on this dashboard was chosen because it supports a specific business decision, not just because it was easy to calculate. Overall and Active Headcount separate historical scale from today's real staffing picture. Attrition and Attrition percent drive retention budget decisions. Transfers show whether the business is losing talent externally or redeploying it internally. And Stability shows whether long-term retention is genuinely strong or just looks that way on average.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attrition figure is 27.5% — on its own, that looks like a moderate, manageable number. But once I segmented it by department and employment type, a completely different picture emerged: Accounting is running attrition of 50%, and contractors are exiting at nearly double the rate of permanent staff. Meanwhile Sales, at 8.7%, is the most stable part of the business. None of this is visible in the blended company-wide average — it only shows up once you slice the data properly.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Segmenting the dashboard surfaced seven distinct, addressable problems — not just 'attrition is high,' but exactly where it's concentrated: a specific department, specific managers, and the contractor population. Internal mobility is also underused as a retention lever, and the org's span of control has no consistent structural logic behind it. Each of these is something HR can act on individually, rather than one vague, company-wide attrition initiative.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recommendations are deliberately specific rather than generic — retention programs aimed first at Accounting and the highest-attrition managers, a formal internal mobility program to fix the transfer-to-exit imbalance, and a defined promotion pathway to relieve pressure on the bottom-heavy job-level pyramid. Predictive HR analytics is the natural next step once this foundation is in place, which leads into where I'd take this project next.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part of this dashboard was built manually, and each layer created its own challenge. Getting eight pivot tables to filter consistently through one set of slicers required explicitly connecting Report Connections. Keeping the refresh reliable across all of them led me to write a VBA macro that refreshes everything in a single click instead of risking a partially updated dashboard. And as more charts were added, I had to clean up duplicate pivot caches that were slowing the file down.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was deliberately built in Excel first, to master the fundamentals before reaching for more advanced tools. The natural next steps are migrating this model into Power BI for a true relational data model, connecting it to a live SQL backend, and layering in Python for automated data cleaning. Longer term, I want to move from reporting on attrition after the fact to predicting it — building an actual churn-risk score using machine learning on this same data structure.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brought together two categories of skill. On the technical side: advanced Excel modeling, pivot table architecture, VBA automation, and interactive dashboard design. On the business side: the analytical thinking to look past a single headline number, and the storytelling ability to translate a data pattern into a specific, actionable HR recommendation. Together, that combination is what separates a chart from a decision-ready dashboard.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bring it together: this project turned 171 raw employee records into a governed, interactive dashboard that surfaces a genuinely actionable finding — attrition is concentrated in specific, addressable places, not spread evenly across the business. It reflects the full analytics lifecycle from data cleaning through automation and executive storytelling, and it's the foundation I want to build predictive HR analytics on top of next. Thank you —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9.png"/><Relationship Id="rId5" Type="http://schemas.openxmlformats.org/officeDocument/2006/relationships/image" Target="../media/image17.png"/><Relationship Id="rId10" Type="http://schemas.openxmlformats.org/officeDocument/2006/relationships/image" Target="../media/image7.png"/><Relationship Id="rId4" Type="http://schemas.openxmlformats.org/officeDocument/2006/relationships/image" Target="../media/image16.png"/><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4.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38.png"/><Relationship Id="rId4" Type="http://schemas.openxmlformats.org/officeDocument/2006/relationships/image" Target="../media/image5.png"/><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9.png"/><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4.png"/><Relationship Id="rId4" Type="http://schemas.openxmlformats.org/officeDocument/2006/relationships/image" Target="../media/image40.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image" Target="../media/image32.png"/><Relationship Id="rId5" Type="http://schemas.openxmlformats.org/officeDocument/2006/relationships/image" Target="../media/image35.png"/><Relationship Id="rId10"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F3D"/>
        </a:solidFill>
        <a:effectLst/>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1B3A63"/>
          </a:solidFill>
        </p:spPr>
      </p:sp>
      <p:sp>
        <p:nvSpPr>
          <p:cNvPr id="3" name="Shape 1"/>
          <p:cNvSpPr/>
          <p:nvPr/>
        </p:nvSpPr>
        <p:spPr>
          <a:xfrm>
            <a:off x="10332720" y="-914400"/>
            <a:ext cx="3108960" cy="3108960"/>
          </a:xfrm>
          <a:prstGeom prst="ellipse">
            <a:avLst/>
          </a:prstGeom>
          <a:solidFill>
            <a:srgbClr val="0F2A52"/>
          </a:solidFill>
        </p:spPr>
      </p:sp>
      <p:sp>
        <p:nvSpPr>
          <p:cNvPr id="4" name="Shape 2"/>
          <p:cNvSpPr/>
          <p:nvPr/>
        </p:nvSpPr>
        <p:spPr>
          <a:xfrm>
            <a:off x="-1828800" y="5120640"/>
            <a:ext cx="4389120" cy="4389120"/>
          </a:xfrm>
          <a:prstGeom prst="ellipse">
            <a:avLst/>
          </a:prstGeom>
          <a:solidFill>
            <a:srgbClr val="0F2A52"/>
          </a:solidFill>
        </p:spPr>
      </p:sp>
      <p:sp>
        <p:nvSpPr>
          <p:cNvPr id="5" name="Shape 3"/>
          <p:cNvSpPr/>
          <p:nvPr/>
        </p:nvSpPr>
        <p:spPr>
          <a:xfrm>
            <a:off x="685800" y="640080"/>
            <a:ext cx="731520" cy="731520"/>
          </a:xfrm>
          <a:prstGeom prst="ellipse">
            <a:avLst/>
          </a:prstGeom>
          <a:solidFill>
            <a:srgbClr val="22D3EE"/>
          </a:solidFill>
        </p:spPr>
      </p:sp>
      <p:pic>
        <p:nvPicPr>
          <p:cNvPr id="6" name="Image 0" descr="/home/claude/pptx_build/icons/chart_navy.png"/>
          <p:cNvPicPr>
            <a:picLocks noChangeAspect="1"/>
          </p:cNvPicPr>
          <p:nvPr/>
        </p:nvPicPr>
        <p:blipFill>
          <a:blip r:embed="rId3"/>
          <a:stretch>
            <a:fillRect/>
          </a:stretch>
        </p:blipFill>
        <p:spPr>
          <a:xfrm>
            <a:off x="905256" y="859536"/>
            <a:ext cx="292608" cy="292608"/>
          </a:xfrm>
          <a:prstGeom prst="rect">
            <a:avLst/>
          </a:prstGeom>
        </p:spPr>
      </p:pic>
      <p:sp>
        <p:nvSpPr>
          <p:cNvPr id="7" name="Text 4"/>
          <p:cNvSpPr/>
          <p:nvPr/>
        </p:nvSpPr>
        <p:spPr>
          <a:xfrm>
            <a:off x="685800" y="2331720"/>
            <a:ext cx="8229600" cy="365760"/>
          </a:xfrm>
          <a:prstGeom prst="rect">
            <a:avLst/>
          </a:prstGeom>
          <a:noFill/>
        </p:spPr>
        <p:txBody>
          <a:bodyPr wrap="square" rtlCol="0" anchor="ctr"/>
          <a:lstStyle/>
          <a:p>
            <a:pPr marL="0" indent="0">
              <a:buNone/>
            </a:pPr>
            <a:r>
              <a:rPr lang="en-US" sz="1400" b="1" kern="0" spc="300" dirty="0">
                <a:solidFill>
                  <a:srgbClr val="22D3EE"/>
                </a:solidFill>
                <a:latin typeface="Calibri" panose="020F0502020204030204" pitchFamily="34" charset="0"/>
                <a:ea typeface="Calibri" panose="020F0502020204030204" pitchFamily="34" charset="-122"/>
                <a:cs typeface="Calibri" panose="020F0502020204030204" pitchFamily="34" charset="-120"/>
              </a:rPr>
              <a:t>EXECUTIVE PORTFOLIO PROJECT</a:t>
            </a:r>
            <a:endParaRPr lang="en-US" sz="1400" dirty="0"/>
          </a:p>
        </p:txBody>
      </p:sp>
      <p:sp>
        <p:nvSpPr>
          <p:cNvPr id="8" name="Text 5"/>
          <p:cNvSpPr/>
          <p:nvPr/>
        </p:nvSpPr>
        <p:spPr>
          <a:xfrm>
            <a:off x="658368" y="2697480"/>
            <a:ext cx="9875520" cy="1737360"/>
          </a:xfrm>
          <a:prstGeom prst="rect">
            <a:avLst/>
          </a:prstGeom>
          <a:noFill/>
        </p:spPr>
        <p:txBody>
          <a:bodyPr wrap="square" rtlCol="0" anchor="ctr"/>
          <a:lstStyle/>
          <a:p>
            <a:pPr marL="0" indent="0">
              <a:lnSpc>
                <a:spcPts val="5200"/>
              </a:lnSpc>
              <a:buNone/>
            </a:pPr>
            <a:r>
              <a:rPr lang="en-US" sz="4600" b="1" dirty="0">
                <a:solidFill>
                  <a:srgbClr val="FFFFFF"/>
                </a:solidFill>
                <a:latin typeface="Cambria" panose="02040503050406030204" pitchFamily="34" charset="0"/>
                <a:ea typeface="Cambria" panose="02040503050406030204" pitchFamily="34" charset="-122"/>
                <a:cs typeface="Cambria" panose="02040503050406030204" pitchFamily="34" charset="-120"/>
              </a:rPr>
              <a:t>HR Analytics</a:t>
            </a:r>
            <a:endParaRPr lang="en-US" sz="4600" dirty="0"/>
          </a:p>
          <a:p>
            <a:pPr marL="0" indent="0">
              <a:lnSpc>
                <a:spcPts val="5200"/>
              </a:lnSpc>
              <a:buNone/>
            </a:pPr>
            <a:r>
              <a:rPr lang="en-US" sz="4600" b="1" dirty="0">
                <a:solidFill>
                  <a:srgbClr val="FFFFFF"/>
                </a:solidFill>
                <a:latin typeface="Cambria" panose="02040503050406030204" pitchFamily="34" charset="0"/>
                <a:ea typeface="Cambria" panose="02040503050406030204" pitchFamily="34" charset="-122"/>
                <a:cs typeface="Cambria" panose="02040503050406030204" pitchFamily="34" charset="-120"/>
              </a:rPr>
              <a:t>Performance Dashboard</a:t>
            </a:r>
            <a:endParaRPr lang="en-US" sz="4600" dirty="0"/>
          </a:p>
        </p:txBody>
      </p:sp>
      <p:sp>
        <p:nvSpPr>
          <p:cNvPr id="9" name="Text 6"/>
          <p:cNvSpPr/>
          <p:nvPr/>
        </p:nvSpPr>
        <p:spPr>
          <a:xfrm>
            <a:off x="685800" y="4343400"/>
            <a:ext cx="8503920" cy="685800"/>
          </a:xfrm>
          <a:prstGeom prst="rect">
            <a:avLst/>
          </a:prstGeom>
          <a:noFill/>
        </p:spPr>
        <p:txBody>
          <a:bodyPr wrap="square" rtlCol="0" anchor="ctr"/>
          <a:lstStyle/>
          <a:p>
            <a:pPr marL="0" indent="0">
              <a:buNone/>
            </a:pPr>
            <a:r>
              <a:rPr lang="en-US" sz="1600" i="1" dirty="0">
                <a:solidFill>
                  <a:srgbClr val="C7D6EA"/>
                </a:solidFill>
                <a:latin typeface="Calibri" panose="020F0502020204030204" pitchFamily="34" charset="0"/>
                <a:ea typeface="Calibri" panose="020F0502020204030204" pitchFamily="34" charset="-122"/>
                <a:cs typeface="Calibri" panose="020F0502020204030204" pitchFamily="34" charset="-120"/>
              </a:rPr>
              <a:t>Turning Workforce Data into Retention Strategy — Designed, Modeled, and Automated End-to-End in Microsoft Excel</a:t>
            </a:r>
            <a:endParaRPr lang="en-US" sz="1600" dirty="0"/>
          </a:p>
        </p:txBody>
      </p:sp>
      <p:sp>
        <p:nvSpPr>
          <p:cNvPr id="10" name="Shape 7"/>
          <p:cNvSpPr/>
          <p:nvPr/>
        </p:nvSpPr>
        <p:spPr>
          <a:xfrm>
            <a:off x="713232" y="5257800"/>
            <a:ext cx="1828800" cy="0"/>
          </a:xfrm>
          <a:prstGeom prst="line">
            <a:avLst/>
          </a:prstGeom>
          <a:noFill/>
          <a:ln w="25400">
            <a:solidFill>
              <a:srgbClr val="22D3EE"/>
            </a:solidFill>
            <a:prstDash val="solid"/>
          </a:ln>
        </p:spPr>
      </p:sp>
      <p:sp>
        <p:nvSpPr>
          <p:cNvPr id="11" name="Text 8"/>
          <p:cNvSpPr/>
          <p:nvPr/>
        </p:nvSpPr>
        <p:spPr>
          <a:xfrm>
            <a:off x="685800" y="5394960"/>
            <a:ext cx="5486400" cy="320040"/>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Designed by:  [Yasser Salem Elnakeb]</a:t>
            </a:r>
            <a:endParaRPr lang="en-US" sz="1400" dirty="0"/>
          </a:p>
        </p:txBody>
      </p:sp>
      <p:sp>
        <p:nvSpPr>
          <p:cNvPr id="12" name="Text 9"/>
          <p:cNvSpPr/>
          <p:nvPr/>
        </p:nvSpPr>
        <p:spPr>
          <a:xfrm>
            <a:off x="685800" y="5742432"/>
            <a:ext cx="6400800" cy="320040"/>
          </a:xfrm>
          <a:prstGeom prst="rect">
            <a:avLst/>
          </a:prstGeom>
          <a:noFill/>
        </p:spPr>
        <p:txBody>
          <a:bodyPr wrap="square" rtlCol="0" anchor="ctr"/>
          <a:lstStyle/>
          <a:p>
            <a:pPr marL="0" indent="0">
              <a:buNone/>
            </a:pPr>
            <a:r>
              <a:rPr lang="en-US" sz="1200" dirty="0">
                <a:solidFill>
                  <a:srgbClr val="8CA0B8"/>
                </a:solidFill>
                <a:latin typeface="Calibri" panose="020F0502020204030204" pitchFamily="34" charset="0"/>
                <a:ea typeface="Calibri" panose="020F0502020204030204" pitchFamily="34" charset="-122"/>
                <a:cs typeface="Calibri" panose="020F0502020204030204" pitchFamily="34" charset="-120"/>
              </a:rPr>
              <a:t>Data Analyst  ·  Excel Business Intelligence  ·  HR Analytics</a:t>
            </a:r>
            <a:endParaRPr lang="en-US" sz="1200" dirty="0"/>
          </a:p>
        </p:txBody>
      </p:sp>
      <p:sp>
        <p:nvSpPr>
          <p:cNvPr id="13" name="Shape 10"/>
          <p:cNvSpPr/>
          <p:nvPr/>
        </p:nvSpPr>
        <p:spPr>
          <a:xfrm>
            <a:off x="685800" y="6263640"/>
            <a:ext cx="1371600" cy="365760"/>
          </a:xfrm>
          <a:prstGeom prst="roundRect">
            <a:avLst>
              <a:gd name="adj" fmla="val 50000"/>
            </a:avLst>
          </a:prstGeom>
          <a:solidFill>
            <a:srgbClr val="0F2A52"/>
          </a:solidFill>
          <a:ln w="12700">
            <a:solidFill>
              <a:srgbClr val="1B3A63"/>
            </a:solidFill>
            <a:prstDash val="solid"/>
          </a:ln>
        </p:spPr>
      </p:sp>
      <p:sp>
        <p:nvSpPr>
          <p:cNvPr id="14" name="Text 11"/>
          <p:cNvSpPr/>
          <p:nvPr/>
        </p:nvSpPr>
        <p:spPr>
          <a:xfrm>
            <a:off x="685800" y="6263640"/>
            <a:ext cx="1371600" cy="365760"/>
          </a:xfrm>
          <a:prstGeom prst="rect">
            <a:avLst/>
          </a:prstGeom>
          <a:noFill/>
        </p:spPr>
        <p:txBody>
          <a:bodyPr wrap="square" rtlCol="0" anchor="ctr"/>
          <a:lstStyle/>
          <a:p>
            <a:pPr marL="0" indent="0" algn="ctr">
              <a:buNone/>
            </a:pPr>
            <a:r>
              <a:rPr lang="en-US" sz="1050" b="1" dirty="0">
                <a:solidFill>
                  <a:srgbClr val="C7D6EA"/>
                </a:solidFill>
                <a:latin typeface="Calibri" panose="020F0502020204030204" pitchFamily="34" charset="0"/>
                <a:ea typeface="Calibri" panose="020F0502020204030204" pitchFamily="34" charset="-122"/>
                <a:cs typeface="Calibri" panose="020F0502020204030204" pitchFamily="34" charset="-120"/>
              </a:rPr>
              <a:t>Excel</a:t>
            </a:r>
            <a:endParaRPr lang="en-US" sz="1050" dirty="0"/>
          </a:p>
        </p:txBody>
      </p:sp>
      <p:sp>
        <p:nvSpPr>
          <p:cNvPr id="15" name="Shape 12"/>
          <p:cNvSpPr/>
          <p:nvPr/>
        </p:nvSpPr>
        <p:spPr>
          <a:xfrm>
            <a:off x="2167128" y="6263640"/>
            <a:ext cx="1371600" cy="365760"/>
          </a:xfrm>
          <a:prstGeom prst="roundRect">
            <a:avLst>
              <a:gd name="adj" fmla="val 50000"/>
            </a:avLst>
          </a:prstGeom>
          <a:solidFill>
            <a:srgbClr val="0F2A52"/>
          </a:solidFill>
          <a:ln w="12700">
            <a:solidFill>
              <a:srgbClr val="1B3A63"/>
            </a:solidFill>
            <a:prstDash val="solid"/>
          </a:ln>
        </p:spPr>
      </p:sp>
      <p:sp>
        <p:nvSpPr>
          <p:cNvPr id="16" name="Text 13"/>
          <p:cNvSpPr/>
          <p:nvPr/>
        </p:nvSpPr>
        <p:spPr>
          <a:xfrm>
            <a:off x="2167128" y="6263640"/>
            <a:ext cx="1371600" cy="365760"/>
          </a:xfrm>
          <a:prstGeom prst="rect">
            <a:avLst/>
          </a:prstGeom>
          <a:noFill/>
        </p:spPr>
        <p:txBody>
          <a:bodyPr wrap="square" rtlCol="0" anchor="ctr"/>
          <a:lstStyle/>
          <a:p>
            <a:pPr marL="0" indent="0" algn="ctr">
              <a:buNone/>
            </a:pPr>
            <a:r>
              <a:rPr lang="en-US" sz="1050" b="1" dirty="0">
                <a:solidFill>
                  <a:srgbClr val="C7D6EA"/>
                </a:solidFill>
                <a:latin typeface="Calibri" panose="020F0502020204030204" pitchFamily="34" charset="0"/>
                <a:ea typeface="Calibri" panose="020F0502020204030204" pitchFamily="34" charset="-122"/>
                <a:cs typeface="Calibri" panose="020F0502020204030204" pitchFamily="34" charset="-120"/>
              </a:rPr>
              <a:t>Pivot Tables</a:t>
            </a:r>
            <a:endParaRPr lang="en-US" sz="1050" dirty="0"/>
          </a:p>
        </p:txBody>
      </p:sp>
      <p:sp>
        <p:nvSpPr>
          <p:cNvPr id="17" name="Shape 14"/>
          <p:cNvSpPr/>
          <p:nvPr/>
        </p:nvSpPr>
        <p:spPr>
          <a:xfrm>
            <a:off x="3648456" y="6263640"/>
            <a:ext cx="1371600" cy="365760"/>
          </a:xfrm>
          <a:prstGeom prst="roundRect">
            <a:avLst>
              <a:gd name="adj" fmla="val 50000"/>
            </a:avLst>
          </a:prstGeom>
          <a:solidFill>
            <a:srgbClr val="0F2A52"/>
          </a:solidFill>
          <a:ln w="12700">
            <a:solidFill>
              <a:srgbClr val="1B3A63"/>
            </a:solidFill>
            <a:prstDash val="solid"/>
          </a:ln>
        </p:spPr>
      </p:sp>
      <p:sp>
        <p:nvSpPr>
          <p:cNvPr id="18" name="Text 15"/>
          <p:cNvSpPr/>
          <p:nvPr/>
        </p:nvSpPr>
        <p:spPr>
          <a:xfrm>
            <a:off x="3648456" y="6263640"/>
            <a:ext cx="1371600" cy="365760"/>
          </a:xfrm>
          <a:prstGeom prst="rect">
            <a:avLst/>
          </a:prstGeom>
          <a:noFill/>
        </p:spPr>
        <p:txBody>
          <a:bodyPr wrap="square" rtlCol="0" anchor="ctr"/>
          <a:lstStyle/>
          <a:p>
            <a:pPr marL="0" indent="0" algn="ctr">
              <a:buNone/>
            </a:pPr>
            <a:r>
              <a:rPr lang="en-US" sz="1050" b="1" dirty="0">
                <a:solidFill>
                  <a:srgbClr val="C7D6EA"/>
                </a:solidFill>
                <a:latin typeface="Calibri" panose="020F0502020204030204" pitchFamily="34" charset="0"/>
                <a:ea typeface="Calibri" panose="020F0502020204030204" pitchFamily="34" charset="-122"/>
                <a:cs typeface="Calibri" panose="020F0502020204030204" pitchFamily="34" charset="-120"/>
              </a:rPr>
              <a:t>VBA</a:t>
            </a:r>
            <a:endParaRPr lang="en-US" sz="1050" dirty="0"/>
          </a:p>
        </p:txBody>
      </p:sp>
      <p:sp>
        <p:nvSpPr>
          <p:cNvPr id="19" name="Shape 16"/>
          <p:cNvSpPr/>
          <p:nvPr/>
        </p:nvSpPr>
        <p:spPr>
          <a:xfrm>
            <a:off x="5129784" y="6263640"/>
            <a:ext cx="1371600" cy="365760"/>
          </a:xfrm>
          <a:prstGeom prst="roundRect">
            <a:avLst>
              <a:gd name="adj" fmla="val 50000"/>
            </a:avLst>
          </a:prstGeom>
          <a:solidFill>
            <a:srgbClr val="0F2A52"/>
          </a:solidFill>
          <a:ln w="12700">
            <a:solidFill>
              <a:srgbClr val="1B3A63"/>
            </a:solidFill>
            <a:prstDash val="solid"/>
          </a:ln>
        </p:spPr>
      </p:sp>
      <p:sp>
        <p:nvSpPr>
          <p:cNvPr id="20" name="Text 17"/>
          <p:cNvSpPr/>
          <p:nvPr/>
        </p:nvSpPr>
        <p:spPr>
          <a:xfrm>
            <a:off x="5129784" y="6263640"/>
            <a:ext cx="1371600" cy="365760"/>
          </a:xfrm>
          <a:prstGeom prst="rect">
            <a:avLst/>
          </a:prstGeom>
          <a:noFill/>
        </p:spPr>
        <p:txBody>
          <a:bodyPr wrap="square" rtlCol="0" anchor="ctr"/>
          <a:lstStyle/>
          <a:p>
            <a:pPr marL="0" indent="0" algn="ctr">
              <a:buNone/>
            </a:pPr>
            <a:r>
              <a:rPr lang="en-US" sz="1050" b="1" dirty="0">
                <a:solidFill>
                  <a:srgbClr val="C7D6EA"/>
                </a:solidFill>
                <a:latin typeface="Calibri" panose="020F0502020204030204" pitchFamily="34" charset="0"/>
                <a:ea typeface="Calibri" panose="020F0502020204030204" pitchFamily="34" charset="-122"/>
                <a:cs typeface="Calibri" panose="020F0502020204030204" pitchFamily="34" charset="-120"/>
              </a:rPr>
              <a:t>Slicers</a:t>
            </a:r>
            <a:endParaRPr lang="en-US" sz="1050" dirty="0"/>
          </a:p>
        </p:txBody>
      </p:sp>
      <p:sp>
        <p:nvSpPr>
          <p:cNvPr id="21" name="Shape 18"/>
          <p:cNvSpPr/>
          <p:nvPr/>
        </p:nvSpPr>
        <p:spPr>
          <a:xfrm>
            <a:off x="6611112" y="6263640"/>
            <a:ext cx="1371600" cy="365760"/>
          </a:xfrm>
          <a:prstGeom prst="roundRect">
            <a:avLst>
              <a:gd name="adj" fmla="val 50000"/>
            </a:avLst>
          </a:prstGeom>
          <a:solidFill>
            <a:srgbClr val="0F2A52"/>
          </a:solidFill>
          <a:ln w="12700">
            <a:solidFill>
              <a:srgbClr val="1B3A63"/>
            </a:solidFill>
            <a:prstDash val="solid"/>
          </a:ln>
        </p:spPr>
      </p:sp>
      <p:sp>
        <p:nvSpPr>
          <p:cNvPr id="22" name="Text 19"/>
          <p:cNvSpPr/>
          <p:nvPr/>
        </p:nvSpPr>
        <p:spPr>
          <a:xfrm>
            <a:off x="6611112" y="6263640"/>
            <a:ext cx="1371600" cy="365760"/>
          </a:xfrm>
          <a:prstGeom prst="rect">
            <a:avLst/>
          </a:prstGeom>
          <a:noFill/>
        </p:spPr>
        <p:txBody>
          <a:bodyPr wrap="square" rtlCol="0" anchor="ctr"/>
          <a:lstStyle/>
          <a:p>
            <a:pPr marL="0" indent="0" algn="ctr">
              <a:buNone/>
            </a:pPr>
            <a:r>
              <a:rPr lang="en-US" sz="1050" b="1" dirty="0">
                <a:solidFill>
                  <a:srgbClr val="C7D6EA"/>
                </a:solidFill>
                <a:latin typeface="Calibri" panose="020F0502020204030204" pitchFamily="34" charset="0"/>
                <a:ea typeface="Calibri" panose="020F0502020204030204" pitchFamily="34" charset="-122"/>
                <a:cs typeface="Calibri" panose="020F0502020204030204" pitchFamily="34" charset="-120"/>
              </a:rPr>
              <a:t>Dashboards</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640080" y="438912"/>
            <a:ext cx="8229600" cy="320040"/>
          </a:xfrm>
          <a:prstGeom prst="rect">
            <a:avLst/>
          </a:prstGeom>
          <a:noFill/>
        </p:spPr>
        <p:txBody>
          <a:bodyPr wrap="square" rtlCol="0" anchor="ctr"/>
          <a:lstStyle/>
          <a:p>
            <a:pPr marL="0" indent="0">
              <a:buNone/>
            </a:pPr>
            <a:r>
              <a:rPr lang="en-US" sz="1300" b="1" kern="0" spc="200" dirty="0">
                <a:solidFill>
                  <a:srgbClr val="0E7490"/>
                </a:solidFill>
                <a:latin typeface="Calibri" panose="020F0502020204030204" pitchFamily="34" charset="0"/>
                <a:ea typeface="Calibri" panose="020F0502020204030204" pitchFamily="34" charset="-122"/>
                <a:cs typeface="Calibri" panose="020F0502020204030204" pitchFamily="34" charset="-120"/>
              </a:rPr>
              <a:t>PROJECT OVERVIEW</a:t>
            </a:r>
            <a:endParaRPr lang="en-US" sz="1300" dirty="0"/>
          </a:p>
        </p:txBody>
      </p:sp>
      <p:sp>
        <p:nvSpPr>
          <p:cNvPr id="3" name="Text 1"/>
          <p:cNvSpPr/>
          <p:nvPr/>
        </p:nvSpPr>
        <p:spPr>
          <a:xfrm>
            <a:off x="640080" y="749808"/>
            <a:ext cx="10515600" cy="777240"/>
          </a:xfrm>
          <a:prstGeom prst="rect">
            <a:avLst/>
          </a:prstGeom>
          <a:noFill/>
        </p:spPr>
        <p:txBody>
          <a:bodyPr wrap="square" rtlCol="0" anchor="ctr"/>
          <a:lstStyle/>
          <a:p>
            <a:pPr marL="0" indent="0">
              <a:buNone/>
            </a:pPr>
            <a:r>
              <a:rPr lang="en-US" sz="3200" b="1" dirty="0">
                <a:solidFill>
                  <a:srgbClr val="0A1F3D"/>
                </a:solidFill>
                <a:latin typeface="Cambria" panose="02040503050406030204" pitchFamily="34" charset="0"/>
                <a:ea typeface="Cambria" panose="02040503050406030204" pitchFamily="34" charset="-122"/>
                <a:cs typeface="Cambria" panose="02040503050406030204" pitchFamily="34" charset="-120"/>
              </a:rPr>
              <a:t>Why This Project, and What It Solves</a:t>
            </a:r>
            <a:endParaRPr lang="en-US" sz="3200" dirty="0"/>
          </a:p>
        </p:txBody>
      </p:sp>
      <p:sp>
        <p:nvSpPr>
          <p:cNvPr id="4" name="Text 2"/>
          <p:cNvSpPr/>
          <p:nvPr/>
        </p:nvSpPr>
        <p:spPr>
          <a:xfrm>
            <a:off x="640080" y="1691640"/>
            <a:ext cx="6309360" cy="4480560"/>
          </a:xfrm>
          <a:prstGeom prst="rect">
            <a:avLst/>
          </a:prstGeom>
          <a:noFill/>
        </p:spPr>
        <p:txBody>
          <a:bodyPr wrap="square" rtlCol="0" anchor="t"/>
          <a:lstStyle/>
          <a:p>
            <a:pPr marL="0" indent="0">
              <a:lnSpc>
                <a:spcPct val="118000"/>
              </a:lnSpc>
              <a:buNone/>
            </a:pPr>
            <a:r>
              <a:rPr lang="en-US" sz="1500" b="1" dirty="0">
                <a:solidFill>
                  <a:srgbClr val="0A1F3D"/>
                </a:solidFill>
              </a:rPr>
              <a:t>The Business Problem
</a:t>
            </a:r>
            <a:r>
              <a:rPr lang="en-US" sz="1300" dirty="0">
                <a:solidFill>
                  <a:srgbClr val="45536B"/>
                </a:solidFill>
              </a:rPr>
              <a:t>Leadership had no single, trustworthy view of workforce health. Attrition was reported as one blended company-wide number, with no visibility into which departments, managers, or contract types were actually driving it.
</a:t>
            </a:r>
            <a:r>
              <a:rPr lang="en-US" sz="1500" b="1" dirty="0">
                <a:solidFill>
                  <a:srgbClr val="0A1F3D"/>
                </a:solidFill>
              </a:rPr>
              <a:t>Why HR Analytics Matters
</a:t>
            </a:r>
            <a:r>
              <a:rPr lang="en-US" sz="1300" dirty="0">
                <a:solidFill>
                  <a:srgbClr val="45536B"/>
                </a:solidFill>
              </a:rPr>
              <a:t>Every HR number represents a person and a cost. Getting attrition, diversity, and tenure right is the difference between reacting to turnover and preventing it.
</a:t>
            </a:r>
            <a:r>
              <a:rPr lang="en-US" sz="1500" b="1" dirty="0">
                <a:solidFill>
                  <a:srgbClr val="0A1F3D"/>
                </a:solidFill>
              </a:rPr>
              <a:t>Project Objective
</a:t>
            </a:r>
            <a:r>
              <a:rPr lang="en-US" sz="1300" dirty="0">
                <a:solidFill>
                  <a:srgbClr val="45536B"/>
                </a:solidFill>
              </a:rPr>
              <a:t>Build one interactive dashboard that lets HR filter, drill, and trust the numbers — replacing manual, disconnected spreadsheet reporting.</a:t>
            </a:r>
            <a:endParaRPr lang="en-US" sz="1500" dirty="0"/>
          </a:p>
        </p:txBody>
      </p:sp>
      <p:sp>
        <p:nvSpPr>
          <p:cNvPr id="5" name="Shape 3"/>
          <p:cNvSpPr/>
          <p:nvPr/>
        </p:nvSpPr>
        <p:spPr>
          <a:xfrm>
            <a:off x="7360920" y="1691640"/>
            <a:ext cx="4160520" cy="1280160"/>
          </a:xfrm>
          <a:prstGeom prst="roundRect">
            <a:avLst>
              <a:gd name="adj" fmla="val 8571"/>
            </a:avLst>
          </a:prstGeom>
          <a:solidFill>
            <a:srgbClr val="FFFFFF"/>
          </a:solidFill>
          <a:effectLst>
            <a:outerShdw blurRad="101600" dist="38100" dir="5400000" algn="bl" rotWithShape="0">
              <a:srgbClr val="0A1F3D">
                <a:alpha val="16000"/>
              </a:srgbClr>
            </a:outerShdw>
          </a:effectLst>
        </p:spPr>
      </p:sp>
      <p:sp>
        <p:nvSpPr>
          <p:cNvPr id="6" name="Shape 4"/>
          <p:cNvSpPr/>
          <p:nvPr/>
        </p:nvSpPr>
        <p:spPr>
          <a:xfrm>
            <a:off x="7589520" y="1984248"/>
            <a:ext cx="685800" cy="685800"/>
          </a:xfrm>
          <a:prstGeom prst="ellipse">
            <a:avLst/>
          </a:prstGeom>
          <a:solidFill>
            <a:srgbClr val="22D3EE"/>
          </a:solidFill>
        </p:spPr>
      </p:sp>
      <p:pic>
        <p:nvPicPr>
          <p:cNvPr id="7" name="Image 0" descr="/home/claude/pptx_build/icons/target_navy.png"/>
          <p:cNvPicPr>
            <a:picLocks noChangeAspect="1"/>
          </p:cNvPicPr>
          <p:nvPr/>
        </p:nvPicPr>
        <p:blipFill>
          <a:blip r:embed="rId3"/>
          <a:stretch>
            <a:fillRect/>
          </a:stretch>
        </p:blipFill>
        <p:spPr>
          <a:xfrm>
            <a:off x="7808976" y="2203704"/>
            <a:ext cx="246888" cy="246888"/>
          </a:xfrm>
          <a:prstGeom prst="rect">
            <a:avLst/>
          </a:prstGeom>
        </p:spPr>
      </p:pic>
      <p:sp>
        <p:nvSpPr>
          <p:cNvPr id="8" name="Text 5"/>
          <p:cNvSpPr/>
          <p:nvPr/>
        </p:nvSpPr>
        <p:spPr>
          <a:xfrm>
            <a:off x="8458200" y="1874520"/>
            <a:ext cx="2880360" cy="365760"/>
          </a:xfrm>
          <a:prstGeom prst="rect">
            <a:avLst/>
          </a:prstGeom>
          <a:noFill/>
        </p:spPr>
        <p:txBody>
          <a:bodyPr wrap="square" rtlCol="0" anchor="ctr"/>
          <a:lstStyle/>
          <a:p>
            <a:pPr marL="0" indent="0">
              <a:buNone/>
            </a:pPr>
            <a:r>
              <a:rPr lang="en-US" sz="1450" b="1" dirty="0">
                <a:solidFill>
                  <a:srgbClr val="0A1F3D"/>
                </a:solidFill>
                <a:latin typeface="Calibri" panose="020F0502020204030204" pitchFamily="34" charset="0"/>
                <a:ea typeface="Calibri" panose="020F0502020204030204" pitchFamily="34" charset="-122"/>
                <a:cs typeface="Calibri" panose="020F0502020204030204" pitchFamily="34" charset="-120"/>
              </a:rPr>
              <a:t>Single Source of Truth</a:t>
            </a:r>
            <a:endParaRPr lang="en-US" sz="1450" dirty="0"/>
          </a:p>
        </p:txBody>
      </p:sp>
      <p:sp>
        <p:nvSpPr>
          <p:cNvPr id="9" name="Text 6"/>
          <p:cNvSpPr/>
          <p:nvPr/>
        </p:nvSpPr>
        <p:spPr>
          <a:xfrm>
            <a:off x="8458200" y="2258568"/>
            <a:ext cx="2880360" cy="594360"/>
          </a:xfrm>
          <a:prstGeom prst="rect">
            <a:avLst/>
          </a:prstGeom>
          <a:noFill/>
        </p:spPr>
        <p:txBody>
          <a:bodyPr wrap="square" rtlCol="0" anchor="ctr"/>
          <a:lstStyle/>
          <a:p>
            <a:pPr marL="0" indent="0">
              <a:lnSpc>
                <a:spcPct val="110000"/>
              </a:lnSpc>
              <a:buNone/>
            </a:pPr>
            <a:r>
              <a:rPr lang="en-US" sz="1150" dirty="0">
                <a:solidFill>
                  <a:srgbClr val="45536B"/>
                </a:solidFill>
                <a:latin typeface="Calibri" panose="020F0502020204030204" pitchFamily="34" charset="0"/>
                <a:ea typeface="Calibri" panose="020F0502020204030204" pitchFamily="34" charset="-122"/>
                <a:cs typeface="Calibri" panose="020F0502020204030204" pitchFamily="34" charset="-120"/>
              </a:rPr>
              <a:t>One governed data model feeding every KPI and chart.</a:t>
            </a:r>
            <a:endParaRPr lang="en-US" sz="1150" dirty="0"/>
          </a:p>
        </p:txBody>
      </p:sp>
      <p:sp>
        <p:nvSpPr>
          <p:cNvPr id="10" name="Shape 7"/>
          <p:cNvSpPr/>
          <p:nvPr/>
        </p:nvSpPr>
        <p:spPr>
          <a:xfrm>
            <a:off x="7360920" y="3172968"/>
            <a:ext cx="4160520" cy="1280160"/>
          </a:xfrm>
          <a:prstGeom prst="roundRect">
            <a:avLst>
              <a:gd name="adj" fmla="val 8571"/>
            </a:avLst>
          </a:prstGeom>
          <a:solidFill>
            <a:srgbClr val="FFFFFF"/>
          </a:solidFill>
          <a:effectLst>
            <a:outerShdw blurRad="101600" dist="38100" dir="5400000" algn="bl" rotWithShape="0">
              <a:srgbClr val="0A1F3D">
                <a:alpha val="16000"/>
              </a:srgbClr>
            </a:outerShdw>
          </a:effectLst>
        </p:spPr>
      </p:sp>
      <p:sp>
        <p:nvSpPr>
          <p:cNvPr id="11" name="Shape 8"/>
          <p:cNvSpPr/>
          <p:nvPr/>
        </p:nvSpPr>
        <p:spPr>
          <a:xfrm>
            <a:off x="7589520" y="3465576"/>
            <a:ext cx="685800" cy="685800"/>
          </a:xfrm>
          <a:prstGeom prst="ellipse">
            <a:avLst/>
          </a:prstGeom>
          <a:solidFill>
            <a:srgbClr val="22D3EE"/>
          </a:solidFill>
        </p:spPr>
      </p:sp>
      <p:pic>
        <p:nvPicPr>
          <p:cNvPr id="12" name="Image 1" descr="/home/claude/pptx_build/icons/bulb_navy.png"/>
          <p:cNvPicPr>
            <a:picLocks noChangeAspect="1"/>
          </p:cNvPicPr>
          <p:nvPr/>
        </p:nvPicPr>
        <p:blipFill>
          <a:blip r:embed="rId4"/>
          <a:stretch>
            <a:fillRect/>
          </a:stretch>
        </p:blipFill>
        <p:spPr>
          <a:xfrm>
            <a:off x="7808976" y="3685032"/>
            <a:ext cx="246888" cy="246888"/>
          </a:xfrm>
          <a:prstGeom prst="rect">
            <a:avLst/>
          </a:prstGeom>
        </p:spPr>
      </p:pic>
      <p:sp>
        <p:nvSpPr>
          <p:cNvPr id="13" name="Text 9"/>
          <p:cNvSpPr/>
          <p:nvPr/>
        </p:nvSpPr>
        <p:spPr>
          <a:xfrm>
            <a:off x="8458200" y="3355848"/>
            <a:ext cx="2880360" cy="365760"/>
          </a:xfrm>
          <a:prstGeom prst="rect">
            <a:avLst/>
          </a:prstGeom>
          <a:noFill/>
        </p:spPr>
        <p:txBody>
          <a:bodyPr wrap="square" rtlCol="0" anchor="ctr"/>
          <a:lstStyle/>
          <a:p>
            <a:pPr marL="0" indent="0">
              <a:buNone/>
            </a:pPr>
            <a:r>
              <a:rPr lang="en-US" sz="1450" b="1" dirty="0">
                <a:solidFill>
                  <a:srgbClr val="0A1F3D"/>
                </a:solidFill>
                <a:latin typeface="Calibri" panose="020F0502020204030204" pitchFamily="34" charset="0"/>
                <a:ea typeface="Calibri" panose="020F0502020204030204" pitchFamily="34" charset="-122"/>
                <a:cs typeface="Calibri" panose="020F0502020204030204" pitchFamily="34" charset="-120"/>
              </a:rPr>
              <a:t>Actionable Insight</a:t>
            </a:r>
            <a:endParaRPr lang="en-US" sz="1450" dirty="0"/>
          </a:p>
        </p:txBody>
      </p:sp>
      <p:sp>
        <p:nvSpPr>
          <p:cNvPr id="14" name="Text 10"/>
          <p:cNvSpPr/>
          <p:nvPr/>
        </p:nvSpPr>
        <p:spPr>
          <a:xfrm>
            <a:off x="8458200" y="3739896"/>
            <a:ext cx="2880360" cy="594360"/>
          </a:xfrm>
          <a:prstGeom prst="rect">
            <a:avLst/>
          </a:prstGeom>
          <a:noFill/>
        </p:spPr>
        <p:txBody>
          <a:bodyPr wrap="square" rtlCol="0" anchor="ctr"/>
          <a:lstStyle/>
          <a:p>
            <a:pPr marL="0" indent="0">
              <a:lnSpc>
                <a:spcPct val="110000"/>
              </a:lnSpc>
              <a:buNone/>
            </a:pPr>
            <a:r>
              <a:rPr lang="en-US" sz="1150" dirty="0">
                <a:solidFill>
                  <a:srgbClr val="45536B"/>
                </a:solidFill>
                <a:latin typeface="Calibri" panose="020F0502020204030204" pitchFamily="34" charset="0"/>
                <a:ea typeface="Calibri" panose="020F0502020204030204" pitchFamily="34" charset="-122"/>
                <a:cs typeface="Calibri" panose="020F0502020204030204" pitchFamily="34" charset="-120"/>
              </a:rPr>
              <a:t>Surface the retention hotspots hidden inside the average.</a:t>
            </a:r>
            <a:endParaRPr lang="en-US" sz="1150" dirty="0"/>
          </a:p>
        </p:txBody>
      </p:sp>
      <p:sp>
        <p:nvSpPr>
          <p:cNvPr id="15" name="Shape 11"/>
          <p:cNvSpPr/>
          <p:nvPr/>
        </p:nvSpPr>
        <p:spPr>
          <a:xfrm>
            <a:off x="7360920" y="4654296"/>
            <a:ext cx="4160520" cy="1280160"/>
          </a:xfrm>
          <a:prstGeom prst="roundRect">
            <a:avLst>
              <a:gd name="adj" fmla="val 8571"/>
            </a:avLst>
          </a:prstGeom>
          <a:solidFill>
            <a:srgbClr val="FFFFFF"/>
          </a:solidFill>
          <a:effectLst>
            <a:outerShdw blurRad="101600" dist="38100" dir="5400000" algn="bl" rotWithShape="0">
              <a:srgbClr val="0A1F3D">
                <a:alpha val="16000"/>
              </a:srgbClr>
            </a:outerShdw>
          </a:effectLst>
        </p:spPr>
      </p:sp>
      <p:sp>
        <p:nvSpPr>
          <p:cNvPr id="16" name="Shape 12"/>
          <p:cNvSpPr/>
          <p:nvPr/>
        </p:nvSpPr>
        <p:spPr>
          <a:xfrm>
            <a:off x="7589520" y="4946904"/>
            <a:ext cx="685800" cy="685800"/>
          </a:xfrm>
          <a:prstGeom prst="ellipse">
            <a:avLst/>
          </a:prstGeom>
          <a:solidFill>
            <a:srgbClr val="22D3EE"/>
          </a:solidFill>
        </p:spPr>
      </p:sp>
      <p:pic>
        <p:nvPicPr>
          <p:cNvPr id="17" name="Image 2" descr="/home/claude/pptx_build/icons/puzzle_navy.png"/>
          <p:cNvPicPr>
            <a:picLocks noChangeAspect="1"/>
          </p:cNvPicPr>
          <p:nvPr/>
        </p:nvPicPr>
        <p:blipFill>
          <a:blip r:embed="rId5"/>
          <a:stretch>
            <a:fillRect/>
          </a:stretch>
        </p:blipFill>
        <p:spPr>
          <a:xfrm>
            <a:off x="7808976" y="5166360"/>
            <a:ext cx="246888" cy="246888"/>
          </a:xfrm>
          <a:prstGeom prst="rect">
            <a:avLst/>
          </a:prstGeom>
        </p:spPr>
      </p:pic>
      <p:sp>
        <p:nvSpPr>
          <p:cNvPr id="18" name="Text 13"/>
          <p:cNvSpPr/>
          <p:nvPr/>
        </p:nvSpPr>
        <p:spPr>
          <a:xfrm>
            <a:off x="8458200" y="4837176"/>
            <a:ext cx="2880360" cy="365760"/>
          </a:xfrm>
          <a:prstGeom prst="rect">
            <a:avLst/>
          </a:prstGeom>
          <a:noFill/>
        </p:spPr>
        <p:txBody>
          <a:bodyPr wrap="square" rtlCol="0" anchor="ctr"/>
          <a:lstStyle/>
          <a:p>
            <a:pPr marL="0" indent="0">
              <a:buNone/>
            </a:pPr>
            <a:r>
              <a:rPr lang="en-US" sz="1450" b="1" dirty="0">
                <a:solidFill>
                  <a:srgbClr val="0A1F3D"/>
                </a:solidFill>
                <a:latin typeface="Calibri" panose="020F0502020204030204" pitchFamily="34" charset="0"/>
                <a:ea typeface="Calibri" panose="020F0502020204030204" pitchFamily="34" charset="-122"/>
                <a:cs typeface="Calibri" panose="020F0502020204030204" pitchFamily="34" charset="-120"/>
              </a:rPr>
              <a:t>Executive-Ready Delivery</a:t>
            </a:r>
            <a:endParaRPr lang="en-US" sz="1450" dirty="0"/>
          </a:p>
        </p:txBody>
      </p:sp>
      <p:sp>
        <p:nvSpPr>
          <p:cNvPr id="19" name="Text 14"/>
          <p:cNvSpPr/>
          <p:nvPr/>
        </p:nvSpPr>
        <p:spPr>
          <a:xfrm>
            <a:off x="8458200" y="5221224"/>
            <a:ext cx="2880360" cy="594360"/>
          </a:xfrm>
          <a:prstGeom prst="rect">
            <a:avLst/>
          </a:prstGeom>
          <a:noFill/>
        </p:spPr>
        <p:txBody>
          <a:bodyPr wrap="square" rtlCol="0" anchor="ctr"/>
          <a:lstStyle/>
          <a:p>
            <a:pPr marL="0" indent="0">
              <a:lnSpc>
                <a:spcPct val="110000"/>
              </a:lnSpc>
              <a:buNone/>
            </a:pPr>
            <a:r>
              <a:rPr lang="en-US" sz="1150" dirty="0">
                <a:solidFill>
                  <a:srgbClr val="45536B"/>
                </a:solidFill>
                <a:latin typeface="Calibri" panose="020F0502020204030204" pitchFamily="34" charset="0"/>
                <a:ea typeface="Calibri" panose="020F0502020204030204" pitchFamily="34" charset="-122"/>
                <a:cs typeface="Calibri" panose="020F0502020204030204" pitchFamily="34" charset="-120"/>
              </a:rPr>
              <a:t>Interactive, presentable, and built for a live leadership review.</a:t>
            </a:r>
            <a:endParaRPr lang="en-US" sz="1150" dirty="0"/>
          </a:p>
        </p:txBody>
      </p:sp>
      <p:sp>
        <p:nvSpPr>
          <p:cNvPr id="20" name="Text 15"/>
          <p:cNvSpPr/>
          <p:nvPr/>
        </p:nvSpPr>
        <p:spPr>
          <a:xfrm>
            <a:off x="548640" y="6519672"/>
            <a:ext cx="6400800" cy="274320"/>
          </a:xfrm>
          <a:prstGeom prst="rect">
            <a:avLst/>
          </a:prstGeom>
          <a:noFill/>
        </p:spPr>
        <p:txBody>
          <a:bodyPr wrap="square" rtlCol="0" anchor="ctr"/>
          <a:lstStyle/>
          <a:p>
            <a:pPr marL="0" indent="0" algn="l">
              <a:buNone/>
            </a:pPr>
            <a:r>
              <a:rPr lang="en-US" sz="1000" dirty="0">
                <a:solidFill>
                  <a:srgbClr val="8CA0B8"/>
                </a:solidFill>
                <a:latin typeface="Calibri" panose="020F0502020204030204" pitchFamily="34" charset="0"/>
                <a:ea typeface="Calibri" panose="020F0502020204030204" pitchFamily="34" charset="-122"/>
                <a:cs typeface="Calibri" panose="020F0502020204030204" pitchFamily="34" charset="-120"/>
              </a:rPr>
              <a:t>HR Analytics Performance Dashboard</a:t>
            </a:r>
            <a:endParaRPr lang="en-US" sz="1000" dirty="0"/>
          </a:p>
        </p:txBody>
      </p:sp>
      <p:sp>
        <p:nvSpPr>
          <p:cNvPr id="21" name="Text 16"/>
          <p:cNvSpPr/>
          <p:nvPr/>
        </p:nvSpPr>
        <p:spPr>
          <a:xfrm>
            <a:off x="10881360" y="6519672"/>
            <a:ext cx="777240" cy="274320"/>
          </a:xfrm>
          <a:prstGeom prst="rect">
            <a:avLst/>
          </a:prstGeom>
          <a:noFill/>
        </p:spPr>
        <p:txBody>
          <a:bodyPr wrap="square" rtlCol="0" anchor="ctr"/>
          <a:lstStyle/>
          <a:p>
            <a:pPr marL="0" indent="0" algn="r">
              <a:buNone/>
            </a:pPr>
            <a:r>
              <a:rPr lang="en-US" sz="1000" dirty="0">
                <a:solidFill>
                  <a:srgbClr val="8CA0B8"/>
                </a:solidFill>
                <a:latin typeface="Calibri" panose="020F0502020204030204" pitchFamily="34" charset="0"/>
                <a:ea typeface="Calibri" panose="020F0502020204030204" pitchFamily="34" charset="-122"/>
                <a:cs typeface="Calibri" panose="020F0502020204030204" pitchFamily="34" charset="-120"/>
              </a:rPr>
              <a:t>02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F3D"/>
        </a:solidFill>
        <a:effectLst/>
      </p:bgPr>
    </p:bg>
    <p:spTree>
      <p:nvGrpSpPr>
        <p:cNvPr id="1" name=""/>
        <p:cNvGrpSpPr/>
        <p:nvPr/>
      </p:nvGrpSpPr>
      <p:grpSpPr>
        <a:xfrm>
          <a:off x="0" y="0"/>
          <a:ext cx="0" cy="0"/>
          <a:chOff x="0" y="0"/>
          <a:chExt cx="0" cy="0"/>
        </a:xfrm>
      </p:grpSpPr>
      <p:sp>
        <p:nvSpPr>
          <p:cNvPr id="2" name="Text 0"/>
          <p:cNvSpPr/>
          <p:nvPr/>
        </p:nvSpPr>
        <p:spPr>
          <a:xfrm>
            <a:off x="640080" y="438912"/>
            <a:ext cx="8229600" cy="320040"/>
          </a:xfrm>
          <a:prstGeom prst="rect">
            <a:avLst/>
          </a:prstGeom>
          <a:noFill/>
        </p:spPr>
        <p:txBody>
          <a:bodyPr wrap="square" rtlCol="0" anchor="ctr"/>
          <a:lstStyle/>
          <a:p>
            <a:pPr marL="0" indent="0">
              <a:buNone/>
            </a:pPr>
            <a:r>
              <a:rPr lang="en-US" sz="1300" b="1" kern="0" spc="200" dirty="0">
                <a:solidFill>
                  <a:srgbClr val="22D3EE"/>
                </a:solidFill>
                <a:latin typeface="Calibri" panose="020F0502020204030204" pitchFamily="34" charset="0"/>
                <a:ea typeface="Calibri" panose="020F0502020204030204" pitchFamily="34" charset="-122"/>
                <a:cs typeface="Calibri" panose="020F0502020204030204" pitchFamily="34" charset="-120"/>
              </a:rPr>
              <a:t>THE DATASET</a:t>
            </a:r>
            <a:endParaRPr lang="en-US" sz="1300" dirty="0"/>
          </a:p>
        </p:txBody>
      </p:sp>
      <p:sp>
        <p:nvSpPr>
          <p:cNvPr id="3" name="Text 1"/>
          <p:cNvSpPr/>
          <p:nvPr/>
        </p:nvSpPr>
        <p:spPr>
          <a:xfrm>
            <a:off x="640080" y="749808"/>
            <a:ext cx="10515600" cy="777240"/>
          </a:xfrm>
          <a:prstGeom prst="rect">
            <a:avLst/>
          </a:prstGeom>
          <a:noFill/>
        </p:spPr>
        <p:txBody>
          <a:bodyPr wrap="square"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171 Employee Records, Six Years of History</a:t>
            </a:r>
            <a:endParaRPr lang="en-US" sz="3200" dirty="0"/>
          </a:p>
        </p:txBody>
      </p:sp>
      <p:sp>
        <p:nvSpPr>
          <p:cNvPr id="4" name="Shape 2"/>
          <p:cNvSpPr/>
          <p:nvPr/>
        </p:nvSpPr>
        <p:spPr>
          <a:xfrm>
            <a:off x="640080" y="1783080"/>
            <a:ext cx="3520440" cy="1554480"/>
          </a:xfrm>
          <a:prstGeom prst="roundRect">
            <a:avLst>
              <a:gd name="adj" fmla="val 5882"/>
            </a:avLst>
          </a:prstGeom>
          <a:solidFill>
            <a:srgbClr val="0F2A52"/>
          </a:solidFill>
          <a:ln w="12700">
            <a:solidFill>
              <a:srgbClr val="1B3A63"/>
            </a:solidFill>
            <a:prstDash val="solid"/>
          </a:ln>
        </p:spPr>
      </p:sp>
      <p:sp>
        <p:nvSpPr>
          <p:cNvPr id="5" name="Shape 3"/>
          <p:cNvSpPr/>
          <p:nvPr/>
        </p:nvSpPr>
        <p:spPr>
          <a:xfrm>
            <a:off x="896112" y="2039112"/>
            <a:ext cx="566928" cy="566928"/>
          </a:xfrm>
          <a:prstGeom prst="ellipse">
            <a:avLst/>
          </a:prstGeom>
          <a:solidFill>
            <a:srgbClr val="22D3EE"/>
          </a:solidFill>
        </p:spPr>
      </p:sp>
      <p:pic>
        <p:nvPicPr>
          <p:cNvPr id="6" name="Image 0" descr="/home/claude/pptx_build/icons/database_navy.png"/>
          <p:cNvPicPr>
            <a:picLocks noChangeAspect="1"/>
          </p:cNvPicPr>
          <p:nvPr/>
        </p:nvPicPr>
        <p:blipFill>
          <a:blip r:embed="rId3"/>
          <a:stretch>
            <a:fillRect/>
          </a:stretch>
        </p:blipFill>
        <p:spPr>
          <a:xfrm>
            <a:off x="1074928" y="2187448"/>
            <a:ext cx="274320" cy="274320"/>
          </a:xfrm>
          <a:prstGeom prst="rect">
            <a:avLst/>
          </a:prstGeom>
        </p:spPr>
      </p:pic>
      <p:sp>
        <p:nvSpPr>
          <p:cNvPr id="7" name="Text 4"/>
          <p:cNvSpPr/>
          <p:nvPr/>
        </p:nvSpPr>
        <p:spPr>
          <a:xfrm>
            <a:off x="1645920" y="1947672"/>
            <a:ext cx="2331720" cy="502920"/>
          </a:xfrm>
          <a:prstGeom prst="rect">
            <a:avLst/>
          </a:prstGeom>
          <a:noFill/>
        </p:spPr>
        <p:txBody>
          <a:bodyPr wrap="square"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171</a:t>
            </a:r>
            <a:endParaRPr lang="en-US" sz="2600" dirty="0"/>
          </a:p>
        </p:txBody>
      </p:sp>
      <p:sp>
        <p:nvSpPr>
          <p:cNvPr id="8" name="Text 5"/>
          <p:cNvSpPr/>
          <p:nvPr/>
        </p:nvSpPr>
        <p:spPr>
          <a:xfrm>
            <a:off x="1645920" y="2496312"/>
            <a:ext cx="2331720" cy="548640"/>
          </a:xfrm>
          <a:prstGeom prst="rect">
            <a:avLst/>
          </a:prstGeom>
          <a:noFill/>
        </p:spPr>
        <p:txBody>
          <a:bodyPr wrap="square" rtlCol="0" anchor="ctr"/>
          <a:lstStyle/>
          <a:p>
            <a:pPr marL="0" indent="0">
              <a:buNone/>
            </a:pPr>
            <a:r>
              <a:rPr lang="en-US" sz="1200" dirty="0">
                <a:solidFill>
                  <a:srgbClr val="B9CBE3"/>
                </a:solidFill>
                <a:latin typeface="Calibri" panose="020F0502020204030204" pitchFamily="34" charset="0"/>
                <a:ea typeface="Calibri" panose="020F0502020204030204" pitchFamily="34" charset="-122"/>
                <a:cs typeface="Calibri" panose="020F0502020204030204" pitchFamily="34" charset="-120"/>
              </a:rPr>
              <a:t>Total Employee Records</a:t>
            </a:r>
            <a:endParaRPr lang="en-US" sz="1200" dirty="0"/>
          </a:p>
        </p:txBody>
      </p:sp>
      <p:sp>
        <p:nvSpPr>
          <p:cNvPr id="9" name="Shape 6"/>
          <p:cNvSpPr/>
          <p:nvPr/>
        </p:nvSpPr>
        <p:spPr>
          <a:xfrm>
            <a:off x="4416552" y="1783080"/>
            <a:ext cx="3520440" cy="1554480"/>
          </a:xfrm>
          <a:prstGeom prst="roundRect">
            <a:avLst>
              <a:gd name="adj" fmla="val 5882"/>
            </a:avLst>
          </a:prstGeom>
          <a:solidFill>
            <a:srgbClr val="0F2A52"/>
          </a:solidFill>
          <a:ln w="12700">
            <a:solidFill>
              <a:srgbClr val="1B3A63"/>
            </a:solidFill>
            <a:prstDash val="solid"/>
          </a:ln>
        </p:spPr>
      </p:sp>
      <p:sp>
        <p:nvSpPr>
          <p:cNvPr id="10" name="Shape 7"/>
          <p:cNvSpPr/>
          <p:nvPr/>
        </p:nvSpPr>
        <p:spPr>
          <a:xfrm>
            <a:off x="4672584" y="2039112"/>
            <a:ext cx="566928" cy="566928"/>
          </a:xfrm>
          <a:prstGeom prst="ellipse">
            <a:avLst/>
          </a:prstGeom>
          <a:solidFill>
            <a:srgbClr val="22D3EE"/>
          </a:solidFill>
        </p:spPr>
      </p:sp>
      <p:pic>
        <p:nvPicPr>
          <p:cNvPr id="11" name="Image 1" descr="/home/claude/pptx_build/icons/building_navy.png"/>
          <p:cNvPicPr>
            <a:picLocks noChangeAspect="1"/>
          </p:cNvPicPr>
          <p:nvPr/>
        </p:nvPicPr>
        <p:blipFill>
          <a:blip r:embed="rId4"/>
          <a:stretch>
            <a:fillRect/>
          </a:stretch>
        </p:blipFill>
        <p:spPr>
          <a:xfrm>
            <a:off x="4851400" y="2176018"/>
            <a:ext cx="274320" cy="274320"/>
          </a:xfrm>
          <a:prstGeom prst="rect">
            <a:avLst/>
          </a:prstGeom>
        </p:spPr>
      </p:pic>
      <p:sp>
        <p:nvSpPr>
          <p:cNvPr id="12" name="Text 8"/>
          <p:cNvSpPr/>
          <p:nvPr/>
        </p:nvSpPr>
        <p:spPr>
          <a:xfrm>
            <a:off x="5422392" y="1947672"/>
            <a:ext cx="2331720" cy="502920"/>
          </a:xfrm>
          <a:prstGeom prst="rect">
            <a:avLst/>
          </a:prstGeom>
          <a:noFill/>
        </p:spPr>
        <p:txBody>
          <a:bodyPr wrap="square"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7</a:t>
            </a:r>
            <a:endParaRPr lang="en-US" sz="2600" dirty="0"/>
          </a:p>
        </p:txBody>
      </p:sp>
      <p:sp>
        <p:nvSpPr>
          <p:cNvPr id="13" name="Text 9"/>
          <p:cNvSpPr/>
          <p:nvPr/>
        </p:nvSpPr>
        <p:spPr>
          <a:xfrm>
            <a:off x="5422392" y="2496312"/>
            <a:ext cx="2331720" cy="548640"/>
          </a:xfrm>
          <a:prstGeom prst="rect">
            <a:avLst/>
          </a:prstGeom>
          <a:noFill/>
        </p:spPr>
        <p:txBody>
          <a:bodyPr wrap="square" rtlCol="0" anchor="ctr"/>
          <a:lstStyle/>
          <a:p>
            <a:pPr marL="0" indent="0">
              <a:buNone/>
            </a:pPr>
            <a:r>
              <a:rPr lang="en-US" sz="1200" dirty="0">
                <a:solidFill>
                  <a:srgbClr val="B9CBE3"/>
                </a:solidFill>
                <a:latin typeface="Calibri" panose="020F0502020204030204" pitchFamily="34" charset="0"/>
                <a:ea typeface="Calibri" panose="020F0502020204030204" pitchFamily="34" charset="-122"/>
                <a:cs typeface="Calibri" panose="020F0502020204030204" pitchFamily="34" charset="-120"/>
              </a:rPr>
              <a:t>Departments Tracked</a:t>
            </a:r>
            <a:endParaRPr lang="en-US" sz="1200" dirty="0"/>
          </a:p>
        </p:txBody>
      </p:sp>
      <p:sp>
        <p:nvSpPr>
          <p:cNvPr id="14" name="Shape 10"/>
          <p:cNvSpPr/>
          <p:nvPr/>
        </p:nvSpPr>
        <p:spPr>
          <a:xfrm>
            <a:off x="8193024" y="1783080"/>
            <a:ext cx="3520440" cy="1554480"/>
          </a:xfrm>
          <a:prstGeom prst="roundRect">
            <a:avLst>
              <a:gd name="adj" fmla="val 5882"/>
            </a:avLst>
          </a:prstGeom>
          <a:solidFill>
            <a:srgbClr val="0F2A52"/>
          </a:solidFill>
          <a:ln w="12700">
            <a:solidFill>
              <a:srgbClr val="1B3A63"/>
            </a:solidFill>
            <a:prstDash val="solid"/>
          </a:ln>
        </p:spPr>
      </p:sp>
      <p:sp>
        <p:nvSpPr>
          <p:cNvPr id="15" name="Shape 11"/>
          <p:cNvSpPr/>
          <p:nvPr/>
        </p:nvSpPr>
        <p:spPr>
          <a:xfrm>
            <a:off x="8449056" y="2039112"/>
            <a:ext cx="566928" cy="566928"/>
          </a:xfrm>
          <a:prstGeom prst="ellipse">
            <a:avLst/>
          </a:prstGeom>
          <a:solidFill>
            <a:srgbClr val="22D3EE"/>
          </a:solidFill>
        </p:spPr>
      </p:sp>
      <p:pic>
        <p:nvPicPr>
          <p:cNvPr id="16" name="Image 2" descr="/home/claude/pptx_build/icons/layer_navy.png"/>
          <p:cNvPicPr>
            <a:picLocks noChangeAspect="1"/>
          </p:cNvPicPr>
          <p:nvPr/>
        </p:nvPicPr>
        <p:blipFill>
          <a:blip r:embed="rId5"/>
          <a:stretch>
            <a:fillRect/>
          </a:stretch>
        </p:blipFill>
        <p:spPr>
          <a:xfrm>
            <a:off x="8617077" y="2165858"/>
            <a:ext cx="274320" cy="274320"/>
          </a:xfrm>
          <a:prstGeom prst="rect">
            <a:avLst/>
          </a:prstGeom>
        </p:spPr>
      </p:pic>
      <p:sp>
        <p:nvSpPr>
          <p:cNvPr id="17" name="Text 12"/>
          <p:cNvSpPr/>
          <p:nvPr/>
        </p:nvSpPr>
        <p:spPr>
          <a:xfrm>
            <a:off x="9198864" y="1947672"/>
            <a:ext cx="2331720" cy="502920"/>
          </a:xfrm>
          <a:prstGeom prst="rect">
            <a:avLst/>
          </a:prstGeom>
          <a:noFill/>
        </p:spPr>
        <p:txBody>
          <a:bodyPr wrap="square"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2600" dirty="0"/>
          </a:p>
        </p:txBody>
      </p:sp>
      <p:sp>
        <p:nvSpPr>
          <p:cNvPr id="18" name="Text 13"/>
          <p:cNvSpPr/>
          <p:nvPr/>
        </p:nvSpPr>
        <p:spPr>
          <a:xfrm>
            <a:off x="9198864" y="2496312"/>
            <a:ext cx="2331720" cy="548640"/>
          </a:xfrm>
          <a:prstGeom prst="rect">
            <a:avLst/>
          </a:prstGeom>
          <a:noFill/>
        </p:spPr>
        <p:txBody>
          <a:bodyPr wrap="square" rtlCol="0" anchor="ctr"/>
          <a:lstStyle/>
          <a:p>
            <a:pPr marL="0" indent="0">
              <a:buNone/>
            </a:pPr>
            <a:r>
              <a:rPr lang="en-US" sz="1200" dirty="0">
                <a:solidFill>
                  <a:srgbClr val="B9CBE3"/>
                </a:solidFill>
                <a:latin typeface="Calibri" panose="020F0502020204030204" pitchFamily="34" charset="0"/>
                <a:ea typeface="Calibri" panose="020F0502020204030204" pitchFamily="34" charset="-122"/>
                <a:cs typeface="Calibri" panose="020F0502020204030204" pitchFamily="34" charset="-120"/>
              </a:rPr>
              <a:t>Job Levels (Grades)</a:t>
            </a:r>
            <a:endParaRPr lang="en-US" sz="1200" dirty="0"/>
          </a:p>
        </p:txBody>
      </p:sp>
      <p:sp>
        <p:nvSpPr>
          <p:cNvPr id="19" name="Shape 14"/>
          <p:cNvSpPr/>
          <p:nvPr/>
        </p:nvSpPr>
        <p:spPr>
          <a:xfrm>
            <a:off x="640080" y="3611880"/>
            <a:ext cx="3520440" cy="1554480"/>
          </a:xfrm>
          <a:prstGeom prst="roundRect">
            <a:avLst>
              <a:gd name="adj" fmla="val 5882"/>
            </a:avLst>
          </a:prstGeom>
          <a:solidFill>
            <a:srgbClr val="0F2A52"/>
          </a:solidFill>
          <a:ln w="12700">
            <a:solidFill>
              <a:srgbClr val="1B3A63"/>
            </a:solidFill>
            <a:prstDash val="solid"/>
          </a:ln>
        </p:spPr>
      </p:sp>
      <p:sp>
        <p:nvSpPr>
          <p:cNvPr id="20" name="Shape 15"/>
          <p:cNvSpPr/>
          <p:nvPr/>
        </p:nvSpPr>
        <p:spPr>
          <a:xfrm>
            <a:off x="896112" y="3867912"/>
            <a:ext cx="566928" cy="566928"/>
          </a:xfrm>
          <a:prstGeom prst="ellipse">
            <a:avLst/>
          </a:prstGeom>
          <a:solidFill>
            <a:srgbClr val="22D3EE"/>
          </a:solidFill>
        </p:spPr>
      </p:sp>
      <p:pic>
        <p:nvPicPr>
          <p:cNvPr id="21" name="Image 3" descr="/home/claude/pptx_build/icons/venusMars_navy.png"/>
          <p:cNvPicPr>
            <a:picLocks noChangeAspect="1"/>
          </p:cNvPicPr>
          <p:nvPr/>
        </p:nvPicPr>
        <p:blipFill>
          <a:blip r:embed="rId6"/>
          <a:stretch>
            <a:fillRect/>
          </a:stretch>
        </p:blipFill>
        <p:spPr>
          <a:xfrm>
            <a:off x="1064133" y="3994658"/>
            <a:ext cx="274320" cy="274320"/>
          </a:xfrm>
          <a:prstGeom prst="rect">
            <a:avLst/>
          </a:prstGeom>
        </p:spPr>
      </p:pic>
      <p:sp>
        <p:nvSpPr>
          <p:cNvPr id="22" name="Text 16"/>
          <p:cNvSpPr/>
          <p:nvPr/>
        </p:nvSpPr>
        <p:spPr>
          <a:xfrm>
            <a:off x="1645920" y="3776472"/>
            <a:ext cx="2331720" cy="502920"/>
          </a:xfrm>
          <a:prstGeom prst="rect">
            <a:avLst/>
          </a:prstGeom>
          <a:noFill/>
        </p:spPr>
        <p:txBody>
          <a:bodyPr wrap="square"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62 / 38</a:t>
            </a:r>
            <a:endParaRPr lang="en-US" sz="2600" dirty="0"/>
          </a:p>
        </p:txBody>
      </p:sp>
      <p:sp>
        <p:nvSpPr>
          <p:cNvPr id="23" name="Text 17"/>
          <p:cNvSpPr/>
          <p:nvPr/>
        </p:nvSpPr>
        <p:spPr>
          <a:xfrm>
            <a:off x="1645920" y="4325112"/>
            <a:ext cx="2331720" cy="548640"/>
          </a:xfrm>
          <a:prstGeom prst="rect">
            <a:avLst/>
          </a:prstGeom>
          <a:noFill/>
        </p:spPr>
        <p:txBody>
          <a:bodyPr wrap="square" rtlCol="0" anchor="ctr"/>
          <a:lstStyle/>
          <a:p>
            <a:pPr marL="0" indent="0">
              <a:buNone/>
            </a:pPr>
            <a:r>
              <a:rPr lang="en-US" sz="1200" dirty="0">
                <a:solidFill>
                  <a:srgbClr val="B9CBE3"/>
                </a:solidFill>
                <a:latin typeface="Calibri" panose="020F0502020204030204" pitchFamily="34" charset="0"/>
                <a:ea typeface="Calibri" panose="020F0502020204030204" pitchFamily="34" charset="-122"/>
                <a:cs typeface="Calibri" panose="020F0502020204030204" pitchFamily="34" charset="-120"/>
              </a:rPr>
              <a:t>Male / Female Split</a:t>
            </a:r>
            <a:endParaRPr lang="en-US" sz="1200" dirty="0"/>
          </a:p>
        </p:txBody>
      </p:sp>
      <p:sp>
        <p:nvSpPr>
          <p:cNvPr id="24" name="Shape 18"/>
          <p:cNvSpPr/>
          <p:nvPr/>
        </p:nvSpPr>
        <p:spPr>
          <a:xfrm>
            <a:off x="4416552" y="3611880"/>
            <a:ext cx="3520440" cy="1554480"/>
          </a:xfrm>
          <a:prstGeom prst="roundRect">
            <a:avLst>
              <a:gd name="adj" fmla="val 5882"/>
            </a:avLst>
          </a:prstGeom>
          <a:solidFill>
            <a:srgbClr val="0F2A52"/>
          </a:solidFill>
          <a:ln w="12700">
            <a:solidFill>
              <a:srgbClr val="1B3A63"/>
            </a:solidFill>
            <a:prstDash val="solid"/>
          </a:ln>
        </p:spPr>
      </p:sp>
      <p:sp>
        <p:nvSpPr>
          <p:cNvPr id="25" name="Shape 19"/>
          <p:cNvSpPr/>
          <p:nvPr/>
        </p:nvSpPr>
        <p:spPr>
          <a:xfrm>
            <a:off x="4672584" y="3867912"/>
            <a:ext cx="566928" cy="566928"/>
          </a:xfrm>
          <a:prstGeom prst="ellipse">
            <a:avLst/>
          </a:prstGeom>
          <a:solidFill>
            <a:srgbClr val="22D3EE"/>
          </a:solidFill>
        </p:spPr>
      </p:sp>
      <p:pic>
        <p:nvPicPr>
          <p:cNvPr id="26" name="Image 4" descr="/home/claude/pptx_build/icons/contract_navy.png"/>
          <p:cNvPicPr>
            <a:picLocks noChangeAspect="1"/>
          </p:cNvPicPr>
          <p:nvPr/>
        </p:nvPicPr>
        <p:blipFill>
          <a:blip r:embed="rId7"/>
          <a:stretch>
            <a:fillRect/>
          </a:stretch>
        </p:blipFill>
        <p:spPr>
          <a:xfrm>
            <a:off x="4840605" y="3994658"/>
            <a:ext cx="274320" cy="274320"/>
          </a:xfrm>
          <a:prstGeom prst="rect">
            <a:avLst/>
          </a:prstGeom>
        </p:spPr>
      </p:pic>
      <p:sp>
        <p:nvSpPr>
          <p:cNvPr id="27" name="Text 20"/>
          <p:cNvSpPr/>
          <p:nvPr/>
        </p:nvSpPr>
        <p:spPr>
          <a:xfrm>
            <a:off x="5422392" y="3776472"/>
            <a:ext cx="2331720" cy="502920"/>
          </a:xfrm>
          <a:prstGeom prst="rect">
            <a:avLst/>
          </a:prstGeom>
          <a:noFill/>
        </p:spPr>
        <p:txBody>
          <a:bodyPr wrap="square"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89 / 11</a:t>
            </a:r>
            <a:endParaRPr lang="en-US" sz="2600" dirty="0"/>
          </a:p>
        </p:txBody>
      </p:sp>
      <p:sp>
        <p:nvSpPr>
          <p:cNvPr id="28" name="Text 21"/>
          <p:cNvSpPr/>
          <p:nvPr/>
        </p:nvSpPr>
        <p:spPr>
          <a:xfrm>
            <a:off x="5422392" y="4325112"/>
            <a:ext cx="2331720" cy="548640"/>
          </a:xfrm>
          <a:prstGeom prst="rect">
            <a:avLst/>
          </a:prstGeom>
          <a:noFill/>
        </p:spPr>
        <p:txBody>
          <a:bodyPr wrap="square" rtlCol="0" anchor="ctr"/>
          <a:lstStyle/>
          <a:p>
            <a:pPr marL="0" indent="0">
              <a:buNone/>
            </a:pPr>
            <a:r>
              <a:rPr lang="en-US" sz="1200" dirty="0">
                <a:solidFill>
                  <a:srgbClr val="B9CBE3"/>
                </a:solidFill>
                <a:latin typeface="Calibri" panose="020F0502020204030204" pitchFamily="34" charset="0"/>
                <a:ea typeface="Calibri" panose="020F0502020204030204" pitchFamily="34" charset="-122"/>
                <a:cs typeface="Calibri" panose="020F0502020204030204" pitchFamily="34" charset="-120"/>
              </a:rPr>
              <a:t>Permanent / Contract %</a:t>
            </a:r>
            <a:endParaRPr lang="en-US" sz="1200" dirty="0"/>
          </a:p>
        </p:txBody>
      </p:sp>
      <p:sp>
        <p:nvSpPr>
          <p:cNvPr id="29" name="Shape 22"/>
          <p:cNvSpPr/>
          <p:nvPr/>
        </p:nvSpPr>
        <p:spPr>
          <a:xfrm>
            <a:off x="8193024" y="3611880"/>
            <a:ext cx="3520440" cy="1554480"/>
          </a:xfrm>
          <a:prstGeom prst="roundRect">
            <a:avLst>
              <a:gd name="adj" fmla="val 5882"/>
            </a:avLst>
          </a:prstGeom>
          <a:solidFill>
            <a:srgbClr val="0F2A52"/>
          </a:solidFill>
          <a:ln w="12700">
            <a:solidFill>
              <a:srgbClr val="1B3A63"/>
            </a:solidFill>
            <a:prstDash val="solid"/>
          </a:ln>
        </p:spPr>
      </p:sp>
      <p:sp>
        <p:nvSpPr>
          <p:cNvPr id="30" name="Shape 23"/>
          <p:cNvSpPr/>
          <p:nvPr/>
        </p:nvSpPr>
        <p:spPr>
          <a:xfrm>
            <a:off x="8449056" y="3867912"/>
            <a:ext cx="566928" cy="566928"/>
          </a:xfrm>
          <a:prstGeom prst="ellipse">
            <a:avLst/>
          </a:prstGeom>
          <a:solidFill>
            <a:srgbClr val="22D3EE"/>
          </a:solidFill>
        </p:spPr>
      </p:sp>
      <p:pic>
        <p:nvPicPr>
          <p:cNvPr id="31" name="Image 5" descr="/home/claude/pptx_build/icons/calendar_navy.png"/>
          <p:cNvPicPr>
            <a:picLocks noChangeAspect="1"/>
          </p:cNvPicPr>
          <p:nvPr/>
        </p:nvPicPr>
        <p:blipFill>
          <a:blip r:embed="rId8"/>
          <a:stretch>
            <a:fillRect/>
          </a:stretch>
        </p:blipFill>
        <p:spPr>
          <a:xfrm>
            <a:off x="8617077" y="3994658"/>
            <a:ext cx="274320" cy="274320"/>
          </a:xfrm>
          <a:prstGeom prst="rect">
            <a:avLst/>
          </a:prstGeom>
        </p:spPr>
      </p:pic>
      <p:sp>
        <p:nvSpPr>
          <p:cNvPr id="32" name="Text 24"/>
          <p:cNvSpPr/>
          <p:nvPr/>
        </p:nvSpPr>
        <p:spPr>
          <a:xfrm>
            <a:off x="9198864" y="3776472"/>
            <a:ext cx="2331720" cy="502920"/>
          </a:xfrm>
          <a:prstGeom prst="rect">
            <a:avLst/>
          </a:prstGeom>
          <a:noFill/>
        </p:spPr>
        <p:txBody>
          <a:bodyPr wrap="square"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2020–2025</a:t>
            </a:r>
            <a:endParaRPr lang="en-US" sz="2600" dirty="0"/>
          </a:p>
        </p:txBody>
      </p:sp>
      <p:sp>
        <p:nvSpPr>
          <p:cNvPr id="33" name="Text 25"/>
          <p:cNvSpPr/>
          <p:nvPr/>
        </p:nvSpPr>
        <p:spPr>
          <a:xfrm>
            <a:off x="9198864" y="4325112"/>
            <a:ext cx="2331720" cy="548640"/>
          </a:xfrm>
          <a:prstGeom prst="rect">
            <a:avLst/>
          </a:prstGeom>
          <a:noFill/>
        </p:spPr>
        <p:txBody>
          <a:bodyPr wrap="square" rtlCol="0" anchor="ctr"/>
          <a:lstStyle/>
          <a:p>
            <a:pPr marL="0" indent="0">
              <a:buNone/>
            </a:pPr>
            <a:r>
              <a:rPr lang="en-US" sz="1200" dirty="0">
                <a:solidFill>
                  <a:srgbClr val="B9CBE3"/>
                </a:solidFill>
                <a:latin typeface="Calibri" panose="020F0502020204030204" pitchFamily="34" charset="0"/>
                <a:ea typeface="Calibri" panose="020F0502020204030204" pitchFamily="34" charset="-122"/>
                <a:cs typeface="Calibri" panose="020F0502020204030204" pitchFamily="34" charset="-120"/>
              </a:rPr>
              <a:t>Years of Service Covered</a:t>
            </a:r>
            <a:endParaRPr lang="en-US" sz="1200" dirty="0"/>
          </a:p>
        </p:txBody>
      </p:sp>
      <p:sp>
        <p:nvSpPr>
          <p:cNvPr id="34" name="Text 26"/>
          <p:cNvSpPr/>
          <p:nvPr/>
        </p:nvSpPr>
        <p:spPr>
          <a:xfrm>
            <a:off x="640080" y="5623560"/>
            <a:ext cx="10881360" cy="548640"/>
          </a:xfrm>
          <a:prstGeom prst="rect">
            <a:avLst/>
          </a:prstGeom>
          <a:noFill/>
        </p:spPr>
        <p:txBody>
          <a:bodyPr wrap="square" rtlCol="0" anchor="ctr"/>
          <a:lstStyle/>
          <a:p>
            <a:pPr marL="0" indent="0">
              <a:lnSpc>
                <a:spcPct val="115000"/>
              </a:lnSpc>
              <a:buNone/>
            </a:pPr>
            <a:r>
              <a:rPr lang="en-US" sz="1200" b="1" dirty="0">
                <a:solidFill>
                  <a:srgbClr val="22D3EE"/>
                </a:solidFill>
              </a:rPr>
              <a:t>Fields tracked:  </a:t>
            </a:r>
            <a:r>
              <a:rPr lang="en-US" sz="1200" dirty="0">
                <a:solidFill>
                  <a:srgbClr val="B9CBE3"/>
                </a:solidFill>
              </a:rPr>
              <a:t>Employee Status · Movement Type · Department · Job Grade · Reporting Manager · Employment Type · Gender · Marital Status · Date of Joining · Date of Relieving · Tenure (Stability)</a:t>
            </a:r>
            <a:endParaRPr lang="en-US" sz="1200" dirty="0"/>
          </a:p>
        </p:txBody>
      </p:sp>
      <p:sp>
        <p:nvSpPr>
          <p:cNvPr id="35" name="Text 27"/>
          <p:cNvSpPr/>
          <p:nvPr/>
        </p:nvSpPr>
        <p:spPr>
          <a:xfrm>
            <a:off x="640080" y="6108192"/>
            <a:ext cx="10881360" cy="457200"/>
          </a:xfrm>
          <a:prstGeom prst="rect">
            <a:avLst/>
          </a:prstGeom>
          <a:noFill/>
        </p:spPr>
        <p:txBody>
          <a:bodyPr wrap="square" rtlCol="0" anchor="ctr"/>
          <a:lstStyle/>
          <a:p>
            <a:pPr marL="0" indent="0">
              <a:buNone/>
            </a:pPr>
            <a:r>
              <a:rPr lang="en-US" sz="1100" i="1" dirty="0">
                <a:solidFill>
                  <a:srgbClr val="8CA0B8"/>
                </a:solidFill>
                <a:latin typeface="Calibri" panose="020F0502020204030204" pitchFamily="34" charset="0"/>
                <a:ea typeface="Calibri" panose="020F0502020204030204" pitchFamily="34" charset="-122"/>
                <a:cs typeface="Calibri" panose="020F0502020204030204" pitchFamily="34" charset="-120"/>
              </a:rPr>
              <a:t>Data quality improvements applied: standardized status labels, corrected inconsistent date fields, normalized department/grade categories, and converted the source range into a structured table for reliable pivot refresh.</a:t>
            </a:r>
            <a:endParaRPr lang="en-US" sz="1100" dirty="0"/>
          </a:p>
        </p:txBody>
      </p:sp>
      <p:sp>
        <p:nvSpPr>
          <p:cNvPr id="36" name="Text 28"/>
          <p:cNvSpPr/>
          <p:nvPr/>
        </p:nvSpPr>
        <p:spPr>
          <a:xfrm>
            <a:off x="548640" y="6519672"/>
            <a:ext cx="6400800" cy="274320"/>
          </a:xfrm>
          <a:prstGeom prst="rect">
            <a:avLst/>
          </a:prstGeom>
          <a:noFill/>
        </p:spPr>
        <p:txBody>
          <a:bodyPr wrap="square" rtlCol="0" anchor="ctr"/>
          <a:lstStyle/>
          <a:p>
            <a:pPr marL="0" indent="0" algn="l">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HR Analytics Performance Dashboard</a:t>
            </a:r>
            <a:endParaRPr lang="en-US" sz="1000" dirty="0"/>
          </a:p>
        </p:txBody>
      </p:sp>
      <p:sp>
        <p:nvSpPr>
          <p:cNvPr id="37" name="Text 29"/>
          <p:cNvSpPr/>
          <p:nvPr/>
        </p:nvSpPr>
        <p:spPr>
          <a:xfrm>
            <a:off x="10881360" y="6519672"/>
            <a:ext cx="777240" cy="274320"/>
          </a:xfrm>
          <a:prstGeom prst="rect">
            <a:avLst/>
          </a:prstGeom>
          <a:noFill/>
        </p:spPr>
        <p:txBody>
          <a:bodyPr wrap="square" rtlCol="0" anchor="ctr"/>
          <a:lstStyle/>
          <a:p>
            <a:pPr marL="0" indent="0" algn="r">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03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640080" y="438912"/>
            <a:ext cx="8229600" cy="320040"/>
          </a:xfrm>
          <a:prstGeom prst="rect">
            <a:avLst/>
          </a:prstGeom>
          <a:noFill/>
        </p:spPr>
        <p:txBody>
          <a:bodyPr wrap="square" rtlCol="0" anchor="ctr"/>
          <a:lstStyle/>
          <a:p>
            <a:pPr marL="0" indent="0">
              <a:buNone/>
            </a:pPr>
            <a:r>
              <a:rPr lang="en-US" sz="1300" b="1" kern="0" spc="200" dirty="0">
                <a:solidFill>
                  <a:srgbClr val="0E7490"/>
                </a:solidFill>
                <a:latin typeface="Calibri" panose="020F0502020204030204" pitchFamily="34" charset="0"/>
                <a:ea typeface="Calibri" panose="020F0502020204030204" pitchFamily="34" charset="-122"/>
                <a:cs typeface="Calibri" panose="020F0502020204030204" pitchFamily="34" charset="-120"/>
              </a:rPr>
              <a:t>THE DASHBOARD</a:t>
            </a:r>
            <a:endParaRPr lang="en-US" sz="1300" dirty="0"/>
          </a:p>
        </p:txBody>
      </p:sp>
      <p:sp>
        <p:nvSpPr>
          <p:cNvPr id="3" name="Text 1"/>
          <p:cNvSpPr/>
          <p:nvPr/>
        </p:nvSpPr>
        <p:spPr>
          <a:xfrm>
            <a:off x="640080" y="749808"/>
            <a:ext cx="10515600" cy="777240"/>
          </a:xfrm>
          <a:prstGeom prst="rect">
            <a:avLst/>
          </a:prstGeom>
          <a:noFill/>
        </p:spPr>
        <p:txBody>
          <a:bodyPr wrap="square" rtlCol="0" anchor="ctr"/>
          <a:lstStyle/>
          <a:p>
            <a:pPr marL="0" indent="0">
              <a:buNone/>
            </a:pPr>
            <a:r>
              <a:rPr lang="en-US" sz="3200" b="1" dirty="0">
                <a:solidFill>
                  <a:srgbClr val="0A1F3D"/>
                </a:solidFill>
                <a:latin typeface="Cambria" panose="02040503050406030204" pitchFamily="34" charset="0"/>
                <a:ea typeface="Cambria" panose="02040503050406030204" pitchFamily="34" charset="-122"/>
                <a:cs typeface="Cambria" panose="02040503050406030204" pitchFamily="34" charset="-120"/>
              </a:rPr>
              <a:t>One Screen. Every Workforce Metric.</a:t>
            </a:r>
            <a:endParaRPr lang="en-US" sz="3200" dirty="0"/>
          </a:p>
        </p:txBody>
      </p:sp>
      <p:sp>
        <p:nvSpPr>
          <p:cNvPr id="4" name="Shape 2"/>
          <p:cNvSpPr/>
          <p:nvPr/>
        </p:nvSpPr>
        <p:spPr>
          <a:xfrm>
            <a:off x="640080" y="1691640"/>
            <a:ext cx="7040880" cy="3977640"/>
          </a:xfrm>
          <a:prstGeom prst="roundRect">
            <a:avLst>
              <a:gd name="adj" fmla="val 1379"/>
            </a:avLst>
          </a:prstGeom>
          <a:solidFill>
            <a:srgbClr val="FFFFFF"/>
          </a:solidFill>
          <a:ln w="12700">
            <a:solidFill>
              <a:srgbClr val="DCE5F0"/>
            </a:solidFill>
            <a:prstDash val="solid"/>
          </a:ln>
          <a:effectLst>
            <a:outerShdw blurRad="177800" dist="38100" dir="5400000" algn="bl" rotWithShape="0">
              <a:srgbClr val="0A1F3D">
                <a:alpha val="22000"/>
              </a:srgbClr>
            </a:outerShdw>
          </a:effectLst>
        </p:spPr>
      </p:sp>
      <p:sp>
        <p:nvSpPr>
          <p:cNvPr id="6" name="Text 3"/>
          <p:cNvSpPr/>
          <p:nvPr/>
        </p:nvSpPr>
        <p:spPr>
          <a:xfrm>
            <a:off x="749808" y="5779008"/>
            <a:ext cx="6821424" cy="274320"/>
          </a:xfrm>
          <a:prstGeom prst="rect">
            <a:avLst/>
          </a:prstGeom>
          <a:noFill/>
        </p:spPr>
        <p:txBody>
          <a:bodyPr wrap="square" rtlCol="0" anchor="ctr"/>
          <a:lstStyle/>
          <a:p>
            <a:pPr marL="0" indent="0" algn="ctr">
              <a:buNone/>
            </a:pPr>
            <a:r>
              <a:rPr lang="en-US" sz="1050" i="1" dirty="0">
                <a:solidFill>
                  <a:srgbClr val="45536B"/>
                </a:solidFill>
                <a:latin typeface="Calibri" panose="020F0502020204030204" pitchFamily="34" charset="0"/>
                <a:ea typeface="Calibri" panose="020F0502020204030204" pitchFamily="34" charset="-122"/>
                <a:cs typeface="Calibri" panose="020F0502020204030204" pitchFamily="34" charset="-120"/>
              </a:rPr>
              <a:t>Live executive dashboard — Excel</a:t>
            </a:r>
            <a:endParaRPr lang="en-US" sz="1050" dirty="0"/>
          </a:p>
        </p:txBody>
      </p:sp>
      <p:sp>
        <p:nvSpPr>
          <p:cNvPr id="7" name="Shape 4"/>
          <p:cNvSpPr/>
          <p:nvPr/>
        </p:nvSpPr>
        <p:spPr>
          <a:xfrm>
            <a:off x="8001000" y="1691640"/>
            <a:ext cx="566928" cy="566928"/>
          </a:xfrm>
          <a:prstGeom prst="ellipse">
            <a:avLst/>
          </a:prstGeom>
          <a:solidFill>
            <a:srgbClr val="0E7490"/>
          </a:solidFill>
        </p:spPr>
      </p:sp>
      <p:pic>
        <p:nvPicPr>
          <p:cNvPr id="8" name="Image 1" descr="/home/claude/pptx_build/icons/filter_white.png"/>
          <p:cNvPicPr>
            <a:picLocks noChangeAspect="1"/>
          </p:cNvPicPr>
          <p:nvPr/>
        </p:nvPicPr>
        <p:blipFill>
          <a:blip r:embed="rId3"/>
          <a:stretch>
            <a:fillRect/>
          </a:stretch>
        </p:blipFill>
        <p:spPr>
          <a:xfrm>
            <a:off x="8139176" y="1839976"/>
            <a:ext cx="274320" cy="274320"/>
          </a:xfrm>
          <a:prstGeom prst="rect">
            <a:avLst/>
          </a:prstGeom>
        </p:spPr>
      </p:pic>
      <p:sp>
        <p:nvSpPr>
          <p:cNvPr id="9" name="Text 5"/>
          <p:cNvSpPr/>
          <p:nvPr/>
        </p:nvSpPr>
        <p:spPr>
          <a:xfrm>
            <a:off x="8732520" y="1673352"/>
            <a:ext cx="2834640" cy="365760"/>
          </a:xfrm>
          <a:prstGeom prst="rect">
            <a:avLst/>
          </a:prstGeom>
          <a:noFill/>
        </p:spPr>
        <p:txBody>
          <a:bodyPr wrap="square" rtlCol="0" anchor="ctr"/>
          <a:lstStyle/>
          <a:p>
            <a:pPr marL="0" indent="0">
              <a:buNone/>
            </a:pPr>
            <a:r>
              <a:rPr lang="en-US" sz="1400" b="1" dirty="0">
                <a:solidFill>
                  <a:srgbClr val="0A1F3D"/>
                </a:solidFill>
                <a:latin typeface="Calibri" panose="020F0502020204030204" pitchFamily="34" charset="0"/>
                <a:ea typeface="Calibri" panose="020F0502020204030204" pitchFamily="34" charset="-122"/>
                <a:cs typeface="Calibri" panose="020F0502020204030204" pitchFamily="34" charset="-120"/>
              </a:rPr>
              <a:t>Slicers</a:t>
            </a:r>
            <a:endParaRPr lang="en-US" sz="1400" dirty="0"/>
          </a:p>
        </p:txBody>
      </p:sp>
      <p:sp>
        <p:nvSpPr>
          <p:cNvPr id="10" name="Text 6"/>
          <p:cNvSpPr/>
          <p:nvPr/>
        </p:nvSpPr>
        <p:spPr>
          <a:xfrm>
            <a:off x="8732520" y="2057400"/>
            <a:ext cx="2834640" cy="868680"/>
          </a:xfrm>
          <a:prstGeom prst="rect">
            <a:avLst/>
          </a:prstGeom>
          <a:noFill/>
        </p:spPr>
        <p:txBody>
          <a:bodyPr wrap="square" rtlCol="0" anchor="ctr"/>
          <a:lstStyle/>
          <a:p>
            <a:pPr marL="0" indent="0">
              <a:lnSpc>
                <a:spcPct val="112000"/>
              </a:lnSpc>
              <a:buNone/>
            </a:pPr>
            <a:r>
              <a:rPr lang="en-US" sz="1100" dirty="0">
                <a:solidFill>
                  <a:srgbClr val="45536B"/>
                </a:solidFill>
                <a:latin typeface="Calibri" panose="020F0502020204030204" pitchFamily="34" charset="0"/>
                <a:ea typeface="Calibri" panose="020F0502020204030204" pitchFamily="34" charset="-122"/>
                <a:cs typeface="Calibri" panose="020F0502020204030204" pitchFamily="34" charset="-120"/>
              </a:rPr>
              <a:t>Filter instantly by Name, Department, Manager, or Year — every chart updates together.</a:t>
            </a:r>
            <a:endParaRPr lang="en-US" sz="1100" dirty="0"/>
          </a:p>
        </p:txBody>
      </p:sp>
      <p:sp>
        <p:nvSpPr>
          <p:cNvPr id="11" name="Shape 7"/>
          <p:cNvSpPr/>
          <p:nvPr/>
        </p:nvSpPr>
        <p:spPr>
          <a:xfrm>
            <a:off x="8001000" y="3063240"/>
            <a:ext cx="566928" cy="566928"/>
          </a:xfrm>
          <a:prstGeom prst="ellipse">
            <a:avLst/>
          </a:prstGeom>
          <a:solidFill>
            <a:srgbClr val="0E7490"/>
          </a:solidFill>
        </p:spPr>
      </p:sp>
      <p:pic>
        <p:nvPicPr>
          <p:cNvPr id="12" name="Image 2" descr="/home/claude/pptx_build/icons/sitemap_white.png"/>
          <p:cNvPicPr>
            <a:picLocks noChangeAspect="1"/>
          </p:cNvPicPr>
          <p:nvPr/>
        </p:nvPicPr>
        <p:blipFill>
          <a:blip r:embed="rId4"/>
          <a:stretch>
            <a:fillRect/>
          </a:stretch>
        </p:blipFill>
        <p:spPr>
          <a:xfrm>
            <a:off x="8139176" y="3211576"/>
            <a:ext cx="274320" cy="274320"/>
          </a:xfrm>
          <a:prstGeom prst="rect">
            <a:avLst/>
          </a:prstGeom>
        </p:spPr>
      </p:pic>
      <p:sp>
        <p:nvSpPr>
          <p:cNvPr id="13" name="Text 8"/>
          <p:cNvSpPr/>
          <p:nvPr/>
        </p:nvSpPr>
        <p:spPr>
          <a:xfrm>
            <a:off x="8732520" y="3044952"/>
            <a:ext cx="2834640" cy="365760"/>
          </a:xfrm>
          <a:prstGeom prst="rect">
            <a:avLst/>
          </a:prstGeom>
          <a:noFill/>
        </p:spPr>
        <p:txBody>
          <a:bodyPr wrap="square" rtlCol="0" anchor="ctr"/>
          <a:lstStyle/>
          <a:p>
            <a:pPr marL="0" indent="0">
              <a:buNone/>
            </a:pPr>
            <a:r>
              <a:rPr lang="en-US" sz="1400" b="1" dirty="0">
                <a:solidFill>
                  <a:srgbClr val="0A1F3D"/>
                </a:solidFill>
                <a:latin typeface="Calibri" panose="020F0502020204030204" pitchFamily="34" charset="0"/>
                <a:ea typeface="Calibri" panose="020F0502020204030204" pitchFamily="34" charset="-122"/>
                <a:cs typeface="Calibri" panose="020F0502020204030204" pitchFamily="34" charset="-120"/>
              </a:rPr>
              <a:t>KPI Strip</a:t>
            </a:r>
            <a:endParaRPr lang="en-US" sz="1400" dirty="0"/>
          </a:p>
        </p:txBody>
      </p:sp>
      <p:sp>
        <p:nvSpPr>
          <p:cNvPr id="14" name="Text 9"/>
          <p:cNvSpPr/>
          <p:nvPr/>
        </p:nvSpPr>
        <p:spPr>
          <a:xfrm>
            <a:off x="8732520" y="3429000"/>
            <a:ext cx="2834640" cy="868680"/>
          </a:xfrm>
          <a:prstGeom prst="rect">
            <a:avLst/>
          </a:prstGeom>
          <a:noFill/>
        </p:spPr>
        <p:txBody>
          <a:bodyPr wrap="square" rtlCol="0" anchor="ctr"/>
          <a:lstStyle/>
          <a:p>
            <a:pPr marL="0" indent="0">
              <a:lnSpc>
                <a:spcPct val="112000"/>
              </a:lnSpc>
              <a:buNone/>
            </a:pPr>
            <a:r>
              <a:rPr lang="en-US" sz="1100" dirty="0">
                <a:solidFill>
                  <a:srgbClr val="45536B"/>
                </a:solidFill>
                <a:latin typeface="Calibri" panose="020F0502020204030204" pitchFamily="34" charset="0"/>
                <a:ea typeface="Calibri" panose="020F0502020204030204" pitchFamily="34" charset="-122"/>
                <a:cs typeface="Calibri" panose="020F0502020204030204" pitchFamily="34" charset="-120"/>
              </a:rPr>
              <a:t>Overall HC, Active HC, Attrition %, and Transfers anchored at the top for a 3-second read.</a:t>
            </a:r>
            <a:endParaRPr lang="en-US" sz="1100" dirty="0"/>
          </a:p>
        </p:txBody>
      </p:sp>
      <p:sp>
        <p:nvSpPr>
          <p:cNvPr id="15" name="Shape 10"/>
          <p:cNvSpPr/>
          <p:nvPr/>
        </p:nvSpPr>
        <p:spPr>
          <a:xfrm>
            <a:off x="8001000" y="4434840"/>
            <a:ext cx="566928" cy="566928"/>
          </a:xfrm>
          <a:prstGeom prst="ellipse">
            <a:avLst/>
          </a:prstGeom>
          <a:solidFill>
            <a:srgbClr val="0E7490"/>
          </a:solidFill>
        </p:spPr>
      </p:sp>
      <p:pic>
        <p:nvPicPr>
          <p:cNvPr id="16" name="Image 3" descr="/home/claude/pptx_build/icons/mousepointer_white.png"/>
          <p:cNvPicPr>
            <a:picLocks noChangeAspect="1"/>
          </p:cNvPicPr>
          <p:nvPr/>
        </p:nvPicPr>
        <p:blipFill>
          <a:blip r:embed="rId5"/>
          <a:stretch>
            <a:fillRect/>
          </a:stretch>
        </p:blipFill>
        <p:spPr>
          <a:xfrm>
            <a:off x="8210296" y="4583176"/>
            <a:ext cx="274320" cy="274320"/>
          </a:xfrm>
          <a:prstGeom prst="rect">
            <a:avLst/>
          </a:prstGeom>
        </p:spPr>
      </p:pic>
      <p:sp>
        <p:nvSpPr>
          <p:cNvPr id="17" name="Text 11"/>
          <p:cNvSpPr/>
          <p:nvPr/>
        </p:nvSpPr>
        <p:spPr>
          <a:xfrm>
            <a:off x="8732520" y="4416552"/>
            <a:ext cx="2834640" cy="365760"/>
          </a:xfrm>
          <a:prstGeom prst="rect">
            <a:avLst/>
          </a:prstGeom>
          <a:noFill/>
        </p:spPr>
        <p:txBody>
          <a:bodyPr wrap="square" rtlCol="0" anchor="ctr"/>
          <a:lstStyle/>
          <a:p>
            <a:pPr marL="0" indent="0">
              <a:buNone/>
            </a:pPr>
            <a:r>
              <a:rPr lang="en-US" sz="1400" b="1" dirty="0">
                <a:solidFill>
                  <a:srgbClr val="0A1F3D"/>
                </a:solidFill>
                <a:latin typeface="Calibri" panose="020F0502020204030204" pitchFamily="34" charset="0"/>
                <a:ea typeface="Calibri" panose="020F0502020204030204" pitchFamily="34" charset="-122"/>
                <a:cs typeface="Calibri" panose="020F0502020204030204" pitchFamily="34" charset="-120"/>
              </a:rPr>
              <a:t>Guided Navigation</a:t>
            </a:r>
            <a:endParaRPr lang="en-US" sz="1400" dirty="0"/>
          </a:p>
        </p:txBody>
      </p:sp>
      <p:sp>
        <p:nvSpPr>
          <p:cNvPr id="18" name="Text 12"/>
          <p:cNvSpPr/>
          <p:nvPr/>
        </p:nvSpPr>
        <p:spPr>
          <a:xfrm>
            <a:off x="8732520" y="4800600"/>
            <a:ext cx="2834640" cy="868680"/>
          </a:xfrm>
          <a:prstGeom prst="rect">
            <a:avLst/>
          </a:prstGeom>
          <a:noFill/>
        </p:spPr>
        <p:txBody>
          <a:bodyPr wrap="square" rtlCol="0" anchor="ctr"/>
          <a:lstStyle/>
          <a:p>
            <a:pPr marL="0" indent="0">
              <a:lnSpc>
                <a:spcPct val="112000"/>
              </a:lnSpc>
              <a:buNone/>
            </a:pPr>
            <a:r>
              <a:rPr lang="en-US" sz="1100" dirty="0">
                <a:solidFill>
                  <a:srgbClr val="45536B"/>
                </a:solidFill>
                <a:latin typeface="Calibri" panose="020F0502020204030204" pitchFamily="34" charset="0"/>
                <a:ea typeface="Calibri" panose="020F0502020204030204" pitchFamily="34" charset="-122"/>
                <a:cs typeface="Calibri" panose="020F0502020204030204" pitchFamily="34" charset="-120"/>
              </a:rPr>
              <a:t>Left-rail slicers move from person → manager → time period → department.</a:t>
            </a:r>
            <a:endParaRPr lang="en-US" sz="1100" dirty="0"/>
          </a:p>
        </p:txBody>
      </p:sp>
      <p:sp>
        <p:nvSpPr>
          <p:cNvPr id="19" name="Text 13"/>
          <p:cNvSpPr/>
          <p:nvPr/>
        </p:nvSpPr>
        <p:spPr>
          <a:xfrm>
            <a:off x="548640" y="6519672"/>
            <a:ext cx="6400800" cy="274320"/>
          </a:xfrm>
          <a:prstGeom prst="rect">
            <a:avLst/>
          </a:prstGeom>
          <a:noFill/>
        </p:spPr>
        <p:txBody>
          <a:bodyPr wrap="square" rtlCol="0" anchor="ctr"/>
          <a:lstStyle/>
          <a:p>
            <a:pPr marL="0" indent="0" algn="l">
              <a:buNone/>
            </a:pPr>
            <a:r>
              <a:rPr lang="en-US" sz="1000" dirty="0">
                <a:solidFill>
                  <a:srgbClr val="8CA0B8"/>
                </a:solidFill>
                <a:latin typeface="Calibri" panose="020F0502020204030204" pitchFamily="34" charset="0"/>
                <a:ea typeface="Calibri" panose="020F0502020204030204" pitchFamily="34" charset="-122"/>
                <a:cs typeface="Calibri" panose="020F0502020204030204" pitchFamily="34" charset="-120"/>
              </a:rPr>
              <a:t>HR Analytics Performance Dashboard</a:t>
            </a:r>
            <a:endParaRPr lang="en-US" sz="1000" dirty="0"/>
          </a:p>
        </p:txBody>
      </p:sp>
      <p:sp>
        <p:nvSpPr>
          <p:cNvPr id="20" name="Text 14"/>
          <p:cNvSpPr/>
          <p:nvPr/>
        </p:nvSpPr>
        <p:spPr>
          <a:xfrm>
            <a:off x="10881360" y="6519672"/>
            <a:ext cx="777240" cy="274320"/>
          </a:xfrm>
          <a:prstGeom prst="rect">
            <a:avLst/>
          </a:prstGeom>
          <a:noFill/>
        </p:spPr>
        <p:txBody>
          <a:bodyPr wrap="square" rtlCol="0" anchor="ctr"/>
          <a:lstStyle/>
          <a:p>
            <a:pPr marL="0" indent="0" algn="r">
              <a:buNone/>
            </a:pPr>
            <a:r>
              <a:rPr lang="en-US" sz="1000" dirty="0">
                <a:solidFill>
                  <a:srgbClr val="8CA0B8"/>
                </a:solidFill>
                <a:latin typeface="Calibri" panose="020F0502020204030204" pitchFamily="34" charset="0"/>
                <a:ea typeface="Calibri" panose="020F0502020204030204" pitchFamily="34" charset="-122"/>
                <a:cs typeface="Calibri" panose="020F0502020204030204" pitchFamily="34" charset="-120"/>
              </a:rPr>
              <a:t>04 / 12</a:t>
            </a:r>
            <a:endParaRPr lang="en-US" sz="1000" dirty="0"/>
          </a:p>
        </p:txBody>
      </p:sp>
      <p:pic>
        <p:nvPicPr>
          <p:cNvPr id="21" name="Picture 20"/>
          <p:cNvPicPr>
            <a:picLocks noChangeAspect="1"/>
          </p:cNvPicPr>
          <p:nvPr/>
        </p:nvPicPr>
        <p:blipFill>
          <a:blip r:embed="rId6"/>
          <a:stretch>
            <a:fillRect/>
          </a:stretch>
        </p:blipFill>
        <p:spPr>
          <a:xfrm>
            <a:off x="506095" y="1557655"/>
            <a:ext cx="7330440" cy="416179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F3D"/>
        </a:solidFill>
        <a:effectLst/>
      </p:bgPr>
    </p:bg>
    <p:spTree>
      <p:nvGrpSpPr>
        <p:cNvPr id="1" name=""/>
        <p:cNvGrpSpPr/>
        <p:nvPr/>
      </p:nvGrpSpPr>
      <p:grpSpPr>
        <a:xfrm>
          <a:off x="0" y="0"/>
          <a:ext cx="0" cy="0"/>
          <a:chOff x="0" y="0"/>
          <a:chExt cx="0" cy="0"/>
        </a:xfrm>
      </p:grpSpPr>
      <p:sp>
        <p:nvSpPr>
          <p:cNvPr id="2" name="Text 0"/>
          <p:cNvSpPr/>
          <p:nvPr/>
        </p:nvSpPr>
        <p:spPr>
          <a:xfrm>
            <a:off x="640080" y="438912"/>
            <a:ext cx="8229600" cy="320040"/>
          </a:xfrm>
          <a:prstGeom prst="rect">
            <a:avLst/>
          </a:prstGeom>
          <a:noFill/>
        </p:spPr>
        <p:txBody>
          <a:bodyPr wrap="square" rtlCol="0" anchor="ctr"/>
          <a:lstStyle/>
          <a:p>
            <a:pPr marL="0" indent="0">
              <a:buNone/>
            </a:pPr>
            <a:r>
              <a:rPr lang="en-US" sz="1300" b="1" kern="0" spc="200" dirty="0">
                <a:solidFill>
                  <a:srgbClr val="22D3EE"/>
                </a:solidFill>
                <a:latin typeface="Calibri" panose="020F0502020204030204" pitchFamily="34" charset="0"/>
                <a:ea typeface="Calibri" panose="020F0502020204030204" pitchFamily="34" charset="-122"/>
                <a:cs typeface="Calibri" panose="020F0502020204030204" pitchFamily="34" charset="-120"/>
              </a:rPr>
              <a:t>KEY PERFORMANCE INDICATORS</a:t>
            </a:r>
            <a:endParaRPr lang="en-US" sz="1300" dirty="0"/>
          </a:p>
        </p:txBody>
      </p:sp>
      <p:sp>
        <p:nvSpPr>
          <p:cNvPr id="3" name="Text 1"/>
          <p:cNvSpPr/>
          <p:nvPr/>
        </p:nvSpPr>
        <p:spPr>
          <a:xfrm>
            <a:off x="640080" y="749808"/>
            <a:ext cx="10515600" cy="777240"/>
          </a:xfrm>
          <a:prstGeom prst="rect">
            <a:avLst/>
          </a:prstGeom>
          <a:noFill/>
        </p:spPr>
        <p:txBody>
          <a:bodyPr wrap="square"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Ten KPIs, Each Tied to a Business Decision</a:t>
            </a:r>
            <a:endParaRPr lang="en-US" sz="3200" dirty="0"/>
          </a:p>
        </p:txBody>
      </p:sp>
      <p:sp>
        <p:nvSpPr>
          <p:cNvPr id="4" name="Shape 2"/>
          <p:cNvSpPr/>
          <p:nvPr/>
        </p:nvSpPr>
        <p:spPr>
          <a:xfrm>
            <a:off x="594360" y="1783080"/>
            <a:ext cx="2084832" cy="2148840"/>
          </a:xfrm>
          <a:prstGeom prst="roundRect">
            <a:avLst>
              <a:gd name="adj" fmla="val 4386"/>
            </a:avLst>
          </a:prstGeom>
          <a:solidFill>
            <a:srgbClr val="0F2A52"/>
          </a:solidFill>
          <a:ln w="12700">
            <a:solidFill>
              <a:srgbClr val="1B3A63"/>
            </a:solidFill>
            <a:prstDash val="solid"/>
          </a:ln>
        </p:spPr>
      </p:sp>
      <p:sp>
        <p:nvSpPr>
          <p:cNvPr id="5" name="Shape 3"/>
          <p:cNvSpPr/>
          <p:nvPr/>
        </p:nvSpPr>
        <p:spPr>
          <a:xfrm>
            <a:off x="1353312" y="1984248"/>
            <a:ext cx="566928" cy="566928"/>
          </a:xfrm>
          <a:prstGeom prst="ellipse">
            <a:avLst/>
          </a:prstGeom>
          <a:solidFill>
            <a:srgbClr val="22D3EE"/>
          </a:solidFill>
        </p:spPr>
      </p:sp>
      <p:pic>
        <p:nvPicPr>
          <p:cNvPr id="6" name="Image 0" descr="/home/claude/pptx_build/icons/idcard_navy.png"/>
          <p:cNvPicPr>
            <a:picLocks noChangeAspect="1"/>
          </p:cNvPicPr>
          <p:nvPr/>
        </p:nvPicPr>
        <p:blipFill>
          <a:blip r:embed="rId3"/>
          <a:stretch>
            <a:fillRect/>
          </a:stretch>
        </p:blipFill>
        <p:spPr>
          <a:xfrm>
            <a:off x="1499108" y="2130679"/>
            <a:ext cx="274320" cy="274320"/>
          </a:xfrm>
          <a:prstGeom prst="rect">
            <a:avLst/>
          </a:prstGeom>
        </p:spPr>
      </p:pic>
      <p:sp>
        <p:nvSpPr>
          <p:cNvPr id="7" name="Text 4"/>
          <p:cNvSpPr/>
          <p:nvPr/>
        </p:nvSpPr>
        <p:spPr>
          <a:xfrm>
            <a:off x="685800" y="2651760"/>
            <a:ext cx="1901952" cy="3200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Overall HC</a:t>
            </a:r>
            <a:endParaRPr lang="en-US" sz="1250" dirty="0"/>
          </a:p>
        </p:txBody>
      </p:sp>
      <p:sp>
        <p:nvSpPr>
          <p:cNvPr id="8" name="Text 5"/>
          <p:cNvSpPr/>
          <p:nvPr/>
        </p:nvSpPr>
        <p:spPr>
          <a:xfrm>
            <a:off x="722376" y="2990088"/>
            <a:ext cx="1828800" cy="868680"/>
          </a:xfrm>
          <a:prstGeom prst="rect">
            <a:avLst/>
          </a:prstGeom>
          <a:noFill/>
        </p:spPr>
        <p:txBody>
          <a:bodyPr wrap="square" rtlCol="0" anchor="ctr"/>
          <a:lstStyle/>
          <a:p>
            <a:pPr marL="0" indent="0" algn="ctr">
              <a:lnSpc>
                <a:spcPct val="108000"/>
              </a:lnSpc>
              <a:buNone/>
            </a:pPr>
            <a:r>
              <a:rPr lang="en-US" sz="950" dirty="0">
                <a:solidFill>
                  <a:srgbClr val="B9CBE3"/>
                </a:solidFill>
                <a:latin typeface="Calibri" panose="020F0502020204030204" pitchFamily="34" charset="0"/>
                <a:ea typeface="Calibri" panose="020F0502020204030204" pitchFamily="34" charset="-122"/>
                <a:cs typeface="Calibri" panose="020F0502020204030204" pitchFamily="34" charset="-120"/>
              </a:rPr>
              <a:t>Total lifetime population — sizes historical hiring scale.</a:t>
            </a:r>
            <a:endParaRPr lang="en-US" sz="950" dirty="0"/>
          </a:p>
        </p:txBody>
      </p:sp>
      <p:sp>
        <p:nvSpPr>
          <p:cNvPr id="9" name="Shape 6"/>
          <p:cNvSpPr/>
          <p:nvPr/>
        </p:nvSpPr>
        <p:spPr>
          <a:xfrm>
            <a:off x="2816352" y="1783080"/>
            <a:ext cx="2084832" cy="2148840"/>
          </a:xfrm>
          <a:prstGeom prst="roundRect">
            <a:avLst>
              <a:gd name="adj" fmla="val 4386"/>
            </a:avLst>
          </a:prstGeom>
          <a:solidFill>
            <a:srgbClr val="0F2A52"/>
          </a:solidFill>
          <a:ln w="12700">
            <a:solidFill>
              <a:srgbClr val="1B3A63"/>
            </a:solidFill>
            <a:prstDash val="solid"/>
          </a:ln>
        </p:spPr>
      </p:sp>
      <p:sp>
        <p:nvSpPr>
          <p:cNvPr id="10" name="Shape 7"/>
          <p:cNvSpPr/>
          <p:nvPr/>
        </p:nvSpPr>
        <p:spPr>
          <a:xfrm>
            <a:off x="3575304" y="1984248"/>
            <a:ext cx="566928" cy="566928"/>
          </a:xfrm>
          <a:prstGeom prst="ellipse">
            <a:avLst/>
          </a:prstGeom>
          <a:solidFill>
            <a:srgbClr val="22D3EE"/>
          </a:solidFill>
        </p:spPr>
      </p:sp>
      <p:pic>
        <p:nvPicPr>
          <p:cNvPr id="11" name="Image 1" descr="/home/claude/pptx_build/icons/userCheck_navy.png"/>
          <p:cNvPicPr>
            <a:picLocks noChangeAspect="1"/>
          </p:cNvPicPr>
          <p:nvPr/>
        </p:nvPicPr>
        <p:blipFill>
          <a:blip r:embed="rId4"/>
          <a:stretch>
            <a:fillRect/>
          </a:stretch>
        </p:blipFill>
        <p:spPr>
          <a:xfrm>
            <a:off x="3721100" y="2130679"/>
            <a:ext cx="274320" cy="274320"/>
          </a:xfrm>
          <a:prstGeom prst="rect">
            <a:avLst/>
          </a:prstGeom>
        </p:spPr>
      </p:pic>
      <p:sp>
        <p:nvSpPr>
          <p:cNvPr id="12" name="Text 8"/>
          <p:cNvSpPr/>
          <p:nvPr/>
        </p:nvSpPr>
        <p:spPr>
          <a:xfrm>
            <a:off x="2907792" y="2651760"/>
            <a:ext cx="1901952" cy="3200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Active HC</a:t>
            </a:r>
            <a:endParaRPr lang="en-US" sz="1250" dirty="0"/>
          </a:p>
        </p:txBody>
      </p:sp>
      <p:sp>
        <p:nvSpPr>
          <p:cNvPr id="13" name="Text 9"/>
          <p:cNvSpPr/>
          <p:nvPr/>
        </p:nvSpPr>
        <p:spPr>
          <a:xfrm>
            <a:off x="2944368" y="2990088"/>
            <a:ext cx="1828800" cy="868680"/>
          </a:xfrm>
          <a:prstGeom prst="rect">
            <a:avLst/>
          </a:prstGeom>
          <a:noFill/>
        </p:spPr>
        <p:txBody>
          <a:bodyPr wrap="square" rtlCol="0" anchor="ctr"/>
          <a:lstStyle/>
          <a:p>
            <a:pPr marL="0" indent="0" algn="ctr">
              <a:lnSpc>
                <a:spcPct val="108000"/>
              </a:lnSpc>
              <a:buNone/>
            </a:pPr>
            <a:r>
              <a:rPr lang="en-US" sz="950" dirty="0">
                <a:solidFill>
                  <a:srgbClr val="B9CBE3"/>
                </a:solidFill>
                <a:latin typeface="Calibri" panose="020F0502020204030204" pitchFamily="34" charset="0"/>
                <a:ea typeface="Calibri" panose="020F0502020204030204" pitchFamily="34" charset="-122"/>
                <a:cs typeface="Calibri" panose="020F0502020204030204" pitchFamily="34" charset="-120"/>
              </a:rPr>
              <a:t>Today's real workforce — drives payroll &amp; staffing plans.</a:t>
            </a:r>
            <a:endParaRPr lang="en-US" sz="950" dirty="0"/>
          </a:p>
        </p:txBody>
      </p:sp>
      <p:sp>
        <p:nvSpPr>
          <p:cNvPr id="14" name="Shape 10"/>
          <p:cNvSpPr/>
          <p:nvPr/>
        </p:nvSpPr>
        <p:spPr>
          <a:xfrm>
            <a:off x="5038344" y="1783080"/>
            <a:ext cx="2084832" cy="2148840"/>
          </a:xfrm>
          <a:prstGeom prst="roundRect">
            <a:avLst>
              <a:gd name="adj" fmla="val 4386"/>
            </a:avLst>
          </a:prstGeom>
          <a:solidFill>
            <a:srgbClr val="0F2A52"/>
          </a:solidFill>
          <a:ln w="12700">
            <a:solidFill>
              <a:srgbClr val="1B3A63"/>
            </a:solidFill>
            <a:prstDash val="solid"/>
          </a:ln>
        </p:spPr>
      </p:sp>
      <p:sp>
        <p:nvSpPr>
          <p:cNvPr id="15" name="Shape 11"/>
          <p:cNvSpPr/>
          <p:nvPr/>
        </p:nvSpPr>
        <p:spPr>
          <a:xfrm>
            <a:off x="5797296" y="1984248"/>
            <a:ext cx="566928" cy="566928"/>
          </a:xfrm>
          <a:prstGeom prst="ellipse">
            <a:avLst/>
          </a:prstGeom>
          <a:solidFill>
            <a:srgbClr val="22D3EE"/>
          </a:solidFill>
        </p:spPr>
      </p:sp>
      <p:pic>
        <p:nvPicPr>
          <p:cNvPr id="16" name="Image 2" descr="/home/claude/pptx_build/icons/userMinus_navy.png"/>
          <p:cNvPicPr>
            <a:picLocks noChangeAspect="1"/>
          </p:cNvPicPr>
          <p:nvPr/>
        </p:nvPicPr>
        <p:blipFill>
          <a:blip r:embed="rId5"/>
          <a:stretch>
            <a:fillRect/>
          </a:stretch>
        </p:blipFill>
        <p:spPr>
          <a:xfrm>
            <a:off x="5943092" y="2130679"/>
            <a:ext cx="274320" cy="274320"/>
          </a:xfrm>
          <a:prstGeom prst="rect">
            <a:avLst/>
          </a:prstGeom>
        </p:spPr>
      </p:pic>
      <p:sp>
        <p:nvSpPr>
          <p:cNvPr id="17" name="Text 12"/>
          <p:cNvSpPr/>
          <p:nvPr/>
        </p:nvSpPr>
        <p:spPr>
          <a:xfrm>
            <a:off x="5129784" y="2651760"/>
            <a:ext cx="1901952" cy="3200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Attrition</a:t>
            </a:r>
            <a:endParaRPr lang="en-US" sz="1250" dirty="0"/>
          </a:p>
        </p:txBody>
      </p:sp>
      <p:sp>
        <p:nvSpPr>
          <p:cNvPr id="18" name="Text 13"/>
          <p:cNvSpPr/>
          <p:nvPr/>
        </p:nvSpPr>
        <p:spPr>
          <a:xfrm>
            <a:off x="5166360" y="2990088"/>
            <a:ext cx="1828800" cy="868680"/>
          </a:xfrm>
          <a:prstGeom prst="rect">
            <a:avLst/>
          </a:prstGeom>
          <a:noFill/>
        </p:spPr>
        <p:txBody>
          <a:bodyPr wrap="square" rtlCol="0" anchor="ctr"/>
          <a:lstStyle/>
          <a:p>
            <a:pPr marL="0" indent="0" algn="ctr">
              <a:lnSpc>
                <a:spcPct val="108000"/>
              </a:lnSpc>
              <a:buNone/>
            </a:pPr>
            <a:r>
              <a:rPr lang="en-US" sz="950" dirty="0">
                <a:solidFill>
                  <a:srgbClr val="B9CBE3"/>
                </a:solidFill>
                <a:latin typeface="Calibri" panose="020F0502020204030204" pitchFamily="34" charset="0"/>
                <a:ea typeface="Calibri" panose="020F0502020204030204" pitchFamily="34" charset="-122"/>
                <a:cs typeface="Calibri" panose="020F0502020204030204" pitchFamily="34" charset="-120"/>
              </a:rPr>
              <a:t>Raw exit count — the base retention-cost signal.</a:t>
            </a:r>
            <a:endParaRPr lang="en-US" sz="950" dirty="0"/>
          </a:p>
        </p:txBody>
      </p:sp>
      <p:sp>
        <p:nvSpPr>
          <p:cNvPr id="19" name="Shape 14"/>
          <p:cNvSpPr/>
          <p:nvPr/>
        </p:nvSpPr>
        <p:spPr>
          <a:xfrm>
            <a:off x="7260336" y="1783080"/>
            <a:ext cx="2084832" cy="2148840"/>
          </a:xfrm>
          <a:prstGeom prst="roundRect">
            <a:avLst>
              <a:gd name="adj" fmla="val 4386"/>
            </a:avLst>
          </a:prstGeom>
          <a:solidFill>
            <a:srgbClr val="0F2A52"/>
          </a:solidFill>
          <a:ln w="12700">
            <a:solidFill>
              <a:srgbClr val="1B3A63"/>
            </a:solidFill>
            <a:prstDash val="solid"/>
          </a:ln>
        </p:spPr>
      </p:sp>
      <p:sp>
        <p:nvSpPr>
          <p:cNvPr id="20" name="Shape 15"/>
          <p:cNvSpPr/>
          <p:nvPr/>
        </p:nvSpPr>
        <p:spPr>
          <a:xfrm>
            <a:off x="8019288" y="1984248"/>
            <a:ext cx="566928" cy="566928"/>
          </a:xfrm>
          <a:prstGeom prst="ellipse">
            <a:avLst/>
          </a:prstGeom>
          <a:solidFill>
            <a:srgbClr val="22D3EE"/>
          </a:solidFill>
        </p:spPr>
      </p:sp>
      <p:pic>
        <p:nvPicPr>
          <p:cNvPr id="21" name="Image 3" descr="/home/claude/pptx_build/icons/percent_navy.png"/>
          <p:cNvPicPr>
            <a:picLocks noChangeAspect="1"/>
          </p:cNvPicPr>
          <p:nvPr/>
        </p:nvPicPr>
        <p:blipFill>
          <a:blip r:embed="rId6"/>
          <a:stretch>
            <a:fillRect/>
          </a:stretch>
        </p:blipFill>
        <p:spPr>
          <a:xfrm>
            <a:off x="8165084" y="2130679"/>
            <a:ext cx="274320" cy="274320"/>
          </a:xfrm>
          <a:prstGeom prst="rect">
            <a:avLst/>
          </a:prstGeom>
        </p:spPr>
      </p:pic>
      <p:sp>
        <p:nvSpPr>
          <p:cNvPr id="22" name="Text 16"/>
          <p:cNvSpPr/>
          <p:nvPr/>
        </p:nvSpPr>
        <p:spPr>
          <a:xfrm>
            <a:off x="7351776" y="2651760"/>
            <a:ext cx="1901952" cy="3200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Attrition %</a:t>
            </a:r>
            <a:endParaRPr lang="en-US" sz="1250" dirty="0"/>
          </a:p>
        </p:txBody>
      </p:sp>
      <p:sp>
        <p:nvSpPr>
          <p:cNvPr id="23" name="Text 17"/>
          <p:cNvSpPr/>
          <p:nvPr/>
        </p:nvSpPr>
        <p:spPr>
          <a:xfrm>
            <a:off x="7388352" y="2990088"/>
            <a:ext cx="1828800" cy="868680"/>
          </a:xfrm>
          <a:prstGeom prst="rect">
            <a:avLst/>
          </a:prstGeom>
          <a:noFill/>
        </p:spPr>
        <p:txBody>
          <a:bodyPr wrap="square" rtlCol="0" anchor="ctr"/>
          <a:lstStyle/>
          <a:p>
            <a:pPr marL="0" indent="0" algn="ctr">
              <a:lnSpc>
                <a:spcPct val="108000"/>
              </a:lnSpc>
              <a:buNone/>
            </a:pPr>
            <a:r>
              <a:rPr lang="en-US" sz="950" dirty="0">
                <a:solidFill>
                  <a:srgbClr val="B9CBE3"/>
                </a:solidFill>
                <a:latin typeface="Calibri" panose="020F0502020204030204" pitchFamily="34" charset="0"/>
                <a:ea typeface="Calibri" panose="020F0502020204030204" pitchFamily="34" charset="-122"/>
                <a:cs typeface="Calibri" panose="020F0502020204030204" pitchFamily="34" charset="-120"/>
              </a:rPr>
              <a:t>Exit rate — triggers retention-budget decisions.</a:t>
            </a:r>
            <a:endParaRPr lang="en-US" sz="950" dirty="0"/>
          </a:p>
        </p:txBody>
      </p:sp>
      <p:sp>
        <p:nvSpPr>
          <p:cNvPr id="24" name="Shape 18"/>
          <p:cNvSpPr/>
          <p:nvPr/>
        </p:nvSpPr>
        <p:spPr>
          <a:xfrm>
            <a:off x="9482328" y="1783080"/>
            <a:ext cx="2084832" cy="2148840"/>
          </a:xfrm>
          <a:prstGeom prst="roundRect">
            <a:avLst>
              <a:gd name="adj" fmla="val 4386"/>
            </a:avLst>
          </a:prstGeom>
          <a:solidFill>
            <a:srgbClr val="0F2A52"/>
          </a:solidFill>
          <a:ln w="12700">
            <a:solidFill>
              <a:srgbClr val="1B3A63"/>
            </a:solidFill>
            <a:prstDash val="solid"/>
          </a:ln>
        </p:spPr>
      </p:sp>
      <p:sp>
        <p:nvSpPr>
          <p:cNvPr id="25" name="Shape 19"/>
          <p:cNvSpPr/>
          <p:nvPr/>
        </p:nvSpPr>
        <p:spPr>
          <a:xfrm>
            <a:off x="10241280" y="1984248"/>
            <a:ext cx="566928" cy="566928"/>
          </a:xfrm>
          <a:prstGeom prst="ellipse">
            <a:avLst/>
          </a:prstGeom>
          <a:solidFill>
            <a:srgbClr val="22D3EE"/>
          </a:solidFill>
        </p:spPr>
      </p:sp>
      <p:pic>
        <p:nvPicPr>
          <p:cNvPr id="26" name="Image 4" descr="/home/claude/pptx_build/icons/exchange_navy.png"/>
          <p:cNvPicPr>
            <a:picLocks noChangeAspect="1"/>
          </p:cNvPicPr>
          <p:nvPr/>
        </p:nvPicPr>
        <p:blipFill>
          <a:blip r:embed="rId7"/>
          <a:stretch>
            <a:fillRect/>
          </a:stretch>
        </p:blipFill>
        <p:spPr>
          <a:xfrm>
            <a:off x="10387076" y="2130679"/>
            <a:ext cx="274320" cy="274320"/>
          </a:xfrm>
          <a:prstGeom prst="rect">
            <a:avLst/>
          </a:prstGeom>
        </p:spPr>
      </p:pic>
      <p:sp>
        <p:nvSpPr>
          <p:cNvPr id="27" name="Text 20"/>
          <p:cNvSpPr/>
          <p:nvPr/>
        </p:nvSpPr>
        <p:spPr>
          <a:xfrm>
            <a:off x="9573768" y="2651760"/>
            <a:ext cx="1901952" cy="3200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Transfers</a:t>
            </a:r>
            <a:endParaRPr lang="en-US" sz="1250" dirty="0"/>
          </a:p>
        </p:txBody>
      </p:sp>
      <p:sp>
        <p:nvSpPr>
          <p:cNvPr id="28" name="Text 21"/>
          <p:cNvSpPr/>
          <p:nvPr/>
        </p:nvSpPr>
        <p:spPr>
          <a:xfrm>
            <a:off x="9610344" y="2990088"/>
            <a:ext cx="1828800" cy="868680"/>
          </a:xfrm>
          <a:prstGeom prst="rect">
            <a:avLst/>
          </a:prstGeom>
          <a:noFill/>
        </p:spPr>
        <p:txBody>
          <a:bodyPr wrap="square" rtlCol="0" anchor="ctr"/>
          <a:lstStyle/>
          <a:p>
            <a:pPr marL="0" indent="0" algn="ctr">
              <a:lnSpc>
                <a:spcPct val="108000"/>
              </a:lnSpc>
              <a:buNone/>
            </a:pPr>
            <a:r>
              <a:rPr lang="en-US" sz="950" dirty="0">
                <a:solidFill>
                  <a:srgbClr val="B9CBE3"/>
                </a:solidFill>
                <a:latin typeface="Calibri" panose="020F0502020204030204" pitchFamily="34" charset="0"/>
                <a:ea typeface="Calibri" panose="020F0502020204030204" pitchFamily="34" charset="-122"/>
                <a:cs typeface="Calibri" panose="020F0502020204030204" pitchFamily="34" charset="-120"/>
              </a:rPr>
              <a:t>Internal moves — measures mobility vs. hard loss.</a:t>
            </a:r>
            <a:endParaRPr lang="en-US" sz="950" dirty="0"/>
          </a:p>
        </p:txBody>
      </p:sp>
      <p:sp>
        <p:nvSpPr>
          <p:cNvPr id="29" name="Shape 22"/>
          <p:cNvSpPr/>
          <p:nvPr/>
        </p:nvSpPr>
        <p:spPr>
          <a:xfrm>
            <a:off x="594360" y="4114800"/>
            <a:ext cx="2084832" cy="2148840"/>
          </a:xfrm>
          <a:prstGeom prst="roundRect">
            <a:avLst>
              <a:gd name="adj" fmla="val 4386"/>
            </a:avLst>
          </a:prstGeom>
          <a:solidFill>
            <a:srgbClr val="0F2A52"/>
          </a:solidFill>
          <a:ln w="12700">
            <a:solidFill>
              <a:srgbClr val="1B3A63"/>
            </a:solidFill>
            <a:prstDash val="solid"/>
          </a:ln>
        </p:spPr>
      </p:sp>
      <p:sp>
        <p:nvSpPr>
          <p:cNvPr id="30" name="Shape 23"/>
          <p:cNvSpPr/>
          <p:nvPr/>
        </p:nvSpPr>
        <p:spPr>
          <a:xfrm>
            <a:off x="1353312" y="4315968"/>
            <a:ext cx="566928" cy="566928"/>
          </a:xfrm>
          <a:prstGeom prst="ellipse">
            <a:avLst/>
          </a:prstGeom>
          <a:solidFill>
            <a:srgbClr val="22D3EE"/>
          </a:solidFill>
        </p:spPr>
      </p:sp>
      <p:pic>
        <p:nvPicPr>
          <p:cNvPr id="31" name="Image 5" descr="/home/claude/pptx_build/icons/venusMars_navy.png"/>
          <p:cNvPicPr>
            <a:picLocks noChangeAspect="1"/>
          </p:cNvPicPr>
          <p:nvPr/>
        </p:nvPicPr>
        <p:blipFill>
          <a:blip r:embed="rId8"/>
          <a:stretch>
            <a:fillRect/>
          </a:stretch>
        </p:blipFill>
        <p:spPr>
          <a:xfrm>
            <a:off x="1499108" y="4462399"/>
            <a:ext cx="274320" cy="274320"/>
          </a:xfrm>
          <a:prstGeom prst="rect">
            <a:avLst/>
          </a:prstGeom>
        </p:spPr>
      </p:pic>
      <p:sp>
        <p:nvSpPr>
          <p:cNvPr id="32" name="Text 24"/>
          <p:cNvSpPr/>
          <p:nvPr/>
        </p:nvSpPr>
        <p:spPr>
          <a:xfrm>
            <a:off x="685800" y="4983480"/>
            <a:ext cx="1901952" cy="3200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Gender Diversity</a:t>
            </a:r>
            <a:endParaRPr lang="en-US" sz="1250" dirty="0"/>
          </a:p>
        </p:txBody>
      </p:sp>
      <p:sp>
        <p:nvSpPr>
          <p:cNvPr id="33" name="Text 25"/>
          <p:cNvSpPr/>
          <p:nvPr/>
        </p:nvSpPr>
        <p:spPr>
          <a:xfrm>
            <a:off x="722376" y="5321808"/>
            <a:ext cx="1828800" cy="868680"/>
          </a:xfrm>
          <a:prstGeom prst="rect">
            <a:avLst/>
          </a:prstGeom>
          <a:noFill/>
        </p:spPr>
        <p:txBody>
          <a:bodyPr wrap="square" rtlCol="0" anchor="ctr"/>
          <a:lstStyle/>
          <a:p>
            <a:pPr marL="0" indent="0" algn="ctr">
              <a:lnSpc>
                <a:spcPct val="108000"/>
              </a:lnSpc>
              <a:buNone/>
            </a:pPr>
            <a:r>
              <a:rPr lang="en-US" sz="950" dirty="0">
                <a:solidFill>
                  <a:srgbClr val="B9CBE3"/>
                </a:solidFill>
                <a:latin typeface="Calibri" panose="020F0502020204030204" pitchFamily="34" charset="0"/>
                <a:ea typeface="Calibri" panose="020F0502020204030204" pitchFamily="34" charset="-122"/>
                <a:cs typeface="Calibri" panose="020F0502020204030204" pitchFamily="34" charset="-120"/>
              </a:rPr>
              <a:t>Representation — informs DEI sourcing strategy.</a:t>
            </a:r>
            <a:endParaRPr lang="en-US" sz="950" dirty="0"/>
          </a:p>
        </p:txBody>
      </p:sp>
      <p:sp>
        <p:nvSpPr>
          <p:cNvPr id="34" name="Shape 26"/>
          <p:cNvSpPr/>
          <p:nvPr/>
        </p:nvSpPr>
        <p:spPr>
          <a:xfrm>
            <a:off x="2826512" y="4114800"/>
            <a:ext cx="2084832" cy="2148840"/>
          </a:xfrm>
          <a:prstGeom prst="roundRect">
            <a:avLst>
              <a:gd name="adj" fmla="val 4386"/>
            </a:avLst>
          </a:prstGeom>
          <a:solidFill>
            <a:srgbClr val="0F2A52"/>
          </a:solidFill>
          <a:ln w="12700">
            <a:solidFill>
              <a:srgbClr val="1B3A63"/>
            </a:solidFill>
            <a:prstDash val="solid"/>
          </a:ln>
        </p:spPr>
      </p:sp>
      <p:sp>
        <p:nvSpPr>
          <p:cNvPr id="35" name="Shape 27"/>
          <p:cNvSpPr/>
          <p:nvPr/>
        </p:nvSpPr>
        <p:spPr>
          <a:xfrm>
            <a:off x="3575304" y="4315968"/>
            <a:ext cx="566928" cy="566928"/>
          </a:xfrm>
          <a:prstGeom prst="ellipse">
            <a:avLst/>
          </a:prstGeom>
          <a:solidFill>
            <a:srgbClr val="22D3EE"/>
          </a:solidFill>
        </p:spPr>
      </p:sp>
      <p:pic>
        <p:nvPicPr>
          <p:cNvPr id="36" name="Image 6" descr="/home/claude/pptx_build/icons/building_navy.png"/>
          <p:cNvPicPr>
            <a:picLocks noChangeAspect="1"/>
          </p:cNvPicPr>
          <p:nvPr/>
        </p:nvPicPr>
        <p:blipFill>
          <a:blip r:embed="rId9"/>
          <a:stretch>
            <a:fillRect/>
          </a:stretch>
        </p:blipFill>
        <p:spPr>
          <a:xfrm>
            <a:off x="3721100" y="4462399"/>
            <a:ext cx="274320" cy="274320"/>
          </a:xfrm>
          <a:prstGeom prst="rect">
            <a:avLst/>
          </a:prstGeom>
        </p:spPr>
      </p:pic>
      <p:sp>
        <p:nvSpPr>
          <p:cNvPr id="37" name="Text 28"/>
          <p:cNvSpPr/>
          <p:nvPr/>
        </p:nvSpPr>
        <p:spPr>
          <a:xfrm>
            <a:off x="2907792" y="4983480"/>
            <a:ext cx="1901952" cy="3200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Department Mix</a:t>
            </a:r>
            <a:endParaRPr lang="en-US" sz="1250" dirty="0"/>
          </a:p>
        </p:txBody>
      </p:sp>
      <p:sp>
        <p:nvSpPr>
          <p:cNvPr id="38" name="Text 29"/>
          <p:cNvSpPr/>
          <p:nvPr/>
        </p:nvSpPr>
        <p:spPr>
          <a:xfrm>
            <a:off x="2944368" y="5321808"/>
            <a:ext cx="1828800" cy="868680"/>
          </a:xfrm>
          <a:prstGeom prst="rect">
            <a:avLst/>
          </a:prstGeom>
          <a:noFill/>
        </p:spPr>
        <p:txBody>
          <a:bodyPr wrap="square" rtlCol="0" anchor="ctr"/>
          <a:lstStyle/>
          <a:p>
            <a:pPr marL="0" indent="0" algn="ctr">
              <a:lnSpc>
                <a:spcPct val="108000"/>
              </a:lnSpc>
              <a:buNone/>
            </a:pPr>
            <a:r>
              <a:rPr lang="en-US" sz="950" dirty="0">
                <a:solidFill>
                  <a:srgbClr val="B9CBE3"/>
                </a:solidFill>
                <a:latin typeface="Calibri" panose="020F0502020204030204" pitchFamily="34" charset="0"/>
                <a:ea typeface="Calibri" panose="020F0502020204030204" pitchFamily="34" charset="-122"/>
                <a:cs typeface="Calibri" panose="020F0502020204030204" pitchFamily="34" charset="-120"/>
              </a:rPr>
              <a:t>Where headcount sits — flags concentration risk.</a:t>
            </a:r>
            <a:endParaRPr lang="en-US" sz="950" dirty="0"/>
          </a:p>
        </p:txBody>
      </p:sp>
      <p:sp>
        <p:nvSpPr>
          <p:cNvPr id="39" name="Shape 30"/>
          <p:cNvSpPr/>
          <p:nvPr/>
        </p:nvSpPr>
        <p:spPr>
          <a:xfrm>
            <a:off x="5038344" y="4114800"/>
            <a:ext cx="2084832" cy="2148840"/>
          </a:xfrm>
          <a:prstGeom prst="roundRect">
            <a:avLst>
              <a:gd name="adj" fmla="val 4386"/>
            </a:avLst>
          </a:prstGeom>
          <a:solidFill>
            <a:srgbClr val="0F2A52"/>
          </a:solidFill>
          <a:ln w="12700">
            <a:solidFill>
              <a:srgbClr val="1B3A63"/>
            </a:solidFill>
            <a:prstDash val="solid"/>
          </a:ln>
        </p:spPr>
      </p:sp>
      <p:sp>
        <p:nvSpPr>
          <p:cNvPr id="40" name="Shape 31"/>
          <p:cNvSpPr/>
          <p:nvPr/>
        </p:nvSpPr>
        <p:spPr>
          <a:xfrm>
            <a:off x="5797296" y="4315968"/>
            <a:ext cx="566928" cy="566928"/>
          </a:xfrm>
          <a:prstGeom prst="ellipse">
            <a:avLst/>
          </a:prstGeom>
          <a:solidFill>
            <a:srgbClr val="22D3EE"/>
          </a:solidFill>
        </p:spPr>
      </p:sp>
      <p:pic>
        <p:nvPicPr>
          <p:cNvPr id="41" name="Image 7" descr="/home/claude/pptx_build/icons/layer_navy.png"/>
          <p:cNvPicPr>
            <a:picLocks noChangeAspect="1"/>
          </p:cNvPicPr>
          <p:nvPr/>
        </p:nvPicPr>
        <p:blipFill>
          <a:blip r:embed="rId10"/>
          <a:stretch>
            <a:fillRect/>
          </a:stretch>
        </p:blipFill>
        <p:spPr>
          <a:xfrm>
            <a:off x="5943092" y="4462399"/>
            <a:ext cx="274320" cy="274320"/>
          </a:xfrm>
          <a:prstGeom prst="rect">
            <a:avLst/>
          </a:prstGeom>
        </p:spPr>
      </p:pic>
      <p:sp>
        <p:nvSpPr>
          <p:cNvPr id="42" name="Text 32"/>
          <p:cNvSpPr/>
          <p:nvPr/>
        </p:nvSpPr>
        <p:spPr>
          <a:xfrm>
            <a:off x="5129784" y="4983480"/>
            <a:ext cx="1901952" cy="3200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Job Levels</a:t>
            </a:r>
            <a:endParaRPr lang="en-US" sz="1250" dirty="0"/>
          </a:p>
        </p:txBody>
      </p:sp>
      <p:sp>
        <p:nvSpPr>
          <p:cNvPr id="43" name="Text 33"/>
          <p:cNvSpPr/>
          <p:nvPr/>
        </p:nvSpPr>
        <p:spPr>
          <a:xfrm>
            <a:off x="5166360" y="5321808"/>
            <a:ext cx="1828800" cy="868680"/>
          </a:xfrm>
          <a:prstGeom prst="rect">
            <a:avLst/>
          </a:prstGeom>
          <a:noFill/>
        </p:spPr>
        <p:txBody>
          <a:bodyPr wrap="square" rtlCol="0" anchor="ctr"/>
          <a:lstStyle/>
          <a:p>
            <a:pPr marL="0" indent="0" algn="ctr">
              <a:lnSpc>
                <a:spcPct val="108000"/>
              </a:lnSpc>
              <a:buNone/>
            </a:pPr>
            <a:r>
              <a:rPr lang="en-US" sz="950" dirty="0">
                <a:solidFill>
                  <a:srgbClr val="B9CBE3"/>
                </a:solidFill>
                <a:latin typeface="Calibri" panose="020F0502020204030204" pitchFamily="34" charset="0"/>
                <a:ea typeface="Calibri" panose="020F0502020204030204" pitchFamily="34" charset="-122"/>
                <a:cs typeface="Calibri" panose="020F0502020204030204" pitchFamily="34" charset="-120"/>
              </a:rPr>
              <a:t>Org pyramid shape — signals promotion pipeline health.</a:t>
            </a:r>
            <a:endParaRPr lang="en-US" sz="950" dirty="0"/>
          </a:p>
        </p:txBody>
      </p:sp>
      <p:sp>
        <p:nvSpPr>
          <p:cNvPr id="44" name="Shape 34"/>
          <p:cNvSpPr/>
          <p:nvPr/>
        </p:nvSpPr>
        <p:spPr>
          <a:xfrm>
            <a:off x="7260336" y="4114800"/>
            <a:ext cx="2084832" cy="2148840"/>
          </a:xfrm>
          <a:prstGeom prst="roundRect">
            <a:avLst>
              <a:gd name="adj" fmla="val 4386"/>
            </a:avLst>
          </a:prstGeom>
          <a:solidFill>
            <a:srgbClr val="0F2A52"/>
          </a:solidFill>
          <a:ln w="12700">
            <a:solidFill>
              <a:srgbClr val="1B3A63"/>
            </a:solidFill>
            <a:prstDash val="solid"/>
          </a:ln>
        </p:spPr>
      </p:sp>
      <p:sp>
        <p:nvSpPr>
          <p:cNvPr id="45" name="Shape 35"/>
          <p:cNvSpPr/>
          <p:nvPr/>
        </p:nvSpPr>
        <p:spPr>
          <a:xfrm>
            <a:off x="8019288" y="4315968"/>
            <a:ext cx="566928" cy="566928"/>
          </a:xfrm>
          <a:prstGeom prst="ellipse">
            <a:avLst/>
          </a:prstGeom>
          <a:solidFill>
            <a:srgbClr val="22D3EE"/>
          </a:solidFill>
        </p:spPr>
      </p:sp>
      <p:pic>
        <p:nvPicPr>
          <p:cNvPr id="46" name="Image 8" descr="/home/claude/pptx_build/icons/contract_navy.png"/>
          <p:cNvPicPr>
            <a:picLocks noChangeAspect="1"/>
          </p:cNvPicPr>
          <p:nvPr/>
        </p:nvPicPr>
        <p:blipFill>
          <a:blip r:embed="rId11"/>
          <a:stretch>
            <a:fillRect/>
          </a:stretch>
        </p:blipFill>
        <p:spPr>
          <a:xfrm>
            <a:off x="8165084" y="4462399"/>
            <a:ext cx="274320" cy="274320"/>
          </a:xfrm>
          <a:prstGeom prst="rect">
            <a:avLst/>
          </a:prstGeom>
        </p:spPr>
      </p:pic>
      <p:sp>
        <p:nvSpPr>
          <p:cNvPr id="47" name="Text 36"/>
          <p:cNvSpPr/>
          <p:nvPr/>
        </p:nvSpPr>
        <p:spPr>
          <a:xfrm>
            <a:off x="7351776" y="4983480"/>
            <a:ext cx="1901952" cy="3200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Employee Type</a:t>
            </a:r>
            <a:endParaRPr lang="en-US" sz="1250" dirty="0"/>
          </a:p>
        </p:txBody>
      </p:sp>
      <p:sp>
        <p:nvSpPr>
          <p:cNvPr id="48" name="Text 37"/>
          <p:cNvSpPr/>
          <p:nvPr/>
        </p:nvSpPr>
        <p:spPr>
          <a:xfrm>
            <a:off x="7388352" y="5321808"/>
            <a:ext cx="1828800" cy="868680"/>
          </a:xfrm>
          <a:prstGeom prst="rect">
            <a:avLst/>
          </a:prstGeom>
          <a:noFill/>
        </p:spPr>
        <p:txBody>
          <a:bodyPr wrap="square" rtlCol="0" anchor="ctr"/>
          <a:lstStyle/>
          <a:p>
            <a:pPr marL="0" indent="0" algn="ctr">
              <a:lnSpc>
                <a:spcPct val="108000"/>
              </a:lnSpc>
              <a:buNone/>
            </a:pPr>
            <a:r>
              <a:rPr lang="en-US" sz="950" dirty="0">
                <a:solidFill>
                  <a:srgbClr val="B9CBE3"/>
                </a:solidFill>
                <a:latin typeface="Calibri" panose="020F0502020204030204" pitchFamily="34" charset="0"/>
                <a:ea typeface="Calibri" panose="020F0502020204030204" pitchFamily="34" charset="-122"/>
                <a:cs typeface="Calibri" panose="020F0502020204030204" pitchFamily="34" charset="-120"/>
              </a:rPr>
              <a:t>Permanent vs. contract — shapes cost flexibility.</a:t>
            </a:r>
            <a:endParaRPr lang="en-US" sz="950" dirty="0"/>
          </a:p>
        </p:txBody>
      </p:sp>
      <p:sp>
        <p:nvSpPr>
          <p:cNvPr id="49" name="Shape 38"/>
          <p:cNvSpPr/>
          <p:nvPr/>
        </p:nvSpPr>
        <p:spPr>
          <a:xfrm>
            <a:off x="9482328" y="4114800"/>
            <a:ext cx="2084832" cy="2148840"/>
          </a:xfrm>
          <a:prstGeom prst="roundRect">
            <a:avLst>
              <a:gd name="adj" fmla="val 4386"/>
            </a:avLst>
          </a:prstGeom>
          <a:solidFill>
            <a:srgbClr val="0F2A52"/>
          </a:solidFill>
          <a:ln w="12700">
            <a:solidFill>
              <a:srgbClr val="1B3A63"/>
            </a:solidFill>
            <a:prstDash val="solid"/>
          </a:ln>
        </p:spPr>
      </p:sp>
      <p:sp>
        <p:nvSpPr>
          <p:cNvPr id="50" name="Shape 39"/>
          <p:cNvSpPr/>
          <p:nvPr/>
        </p:nvSpPr>
        <p:spPr>
          <a:xfrm>
            <a:off x="10241280" y="4315968"/>
            <a:ext cx="566928" cy="566928"/>
          </a:xfrm>
          <a:prstGeom prst="ellipse">
            <a:avLst/>
          </a:prstGeom>
          <a:solidFill>
            <a:srgbClr val="22D3EE"/>
          </a:solidFill>
        </p:spPr>
      </p:sp>
      <p:pic>
        <p:nvPicPr>
          <p:cNvPr id="51" name="Image 9" descr="/home/claude/pptx_build/icons/anchor_navy.png"/>
          <p:cNvPicPr>
            <a:picLocks noChangeAspect="1"/>
          </p:cNvPicPr>
          <p:nvPr/>
        </p:nvPicPr>
        <p:blipFill>
          <a:blip r:embed="rId12"/>
          <a:stretch>
            <a:fillRect/>
          </a:stretch>
        </p:blipFill>
        <p:spPr>
          <a:xfrm>
            <a:off x="10387076" y="4462399"/>
            <a:ext cx="274320" cy="274320"/>
          </a:xfrm>
          <a:prstGeom prst="rect">
            <a:avLst/>
          </a:prstGeom>
        </p:spPr>
      </p:pic>
      <p:sp>
        <p:nvSpPr>
          <p:cNvPr id="52" name="Text 40"/>
          <p:cNvSpPr/>
          <p:nvPr/>
        </p:nvSpPr>
        <p:spPr>
          <a:xfrm>
            <a:off x="9573768" y="4983480"/>
            <a:ext cx="1901952" cy="320040"/>
          </a:xfrm>
          <a:prstGeom prst="rect">
            <a:avLst/>
          </a:prstGeom>
          <a:noFill/>
        </p:spPr>
        <p:txBody>
          <a:bodyPr wrap="square"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Stability</a:t>
            </a:r>
            <a:endParaRPr lang="en-US" sz="1250" dirty="0"/>
          </a:p>
        </p:txBody>
      </p:sp>
      <p:sp>
        <p:nvSpPr>
          <p:cNvPr id="53" name="Text 41"/>
          <p:cNvSpPr/>
          <p:nvPr/>
        </p:nvSpPr>
        <p:spPr>
          <a:xfrm>
            <a:off x="9610344" y="5321808"/>
            <a:ext cx="1828800" cy="868680"/>
          </a:xfrm>
          <a:prstGeom prst="rect">
            <a:avLst/>
          </a:prstGeom>
          <a:noFill/>
        </p:spPr>
        <p:txBody>
          <a:bodyPr wrap="square" rtlCol="0" anchor="ctr"/>
          <a:lstStyle/>
          <a:p>
            <a:pPr marL="0" indent="0" algn="ctr">
              <a:lnSpc>
                <a:spcPct val="108000"/>
              </a:lnSpc>
              <a:buNone/>
            </a:pPr>
            <a:r>
              <a:rPr lang="en-US" sz="950" dirty="0">
                <a:solidFill>
                  <a:srgbClr val="B9CBE3"/>
                </a:solidFill>
                <a:latin typeface="Calibri" panose="020F0502020204030204" pitchFamily="34" charset="0"/>
                <a:ea typeface="Calibri" panose="020F0502020204030204" pitchFamily="34" charset="-122"/>
                <a:cs typeface="Calibri" panose="020F0502020204030204" pitchFamily="34" charset="-120"/>
              </a:rPr>
              <a:t>Tenure distribution — reveals long-term retention.</a:t>
            </a:r>
            <a:endParaRPr lang="en-US" sz="950" dirty="0"/>
          </a:p>
        </p:txBody>
      </p:sp>
      <p:sp>
        <p:nvSpPr>
          <p:cNvPr id="54" name="Text 42"/>
          <p:cNvSpPr/>
          <p:nvPr/>
        </p:nvSpPr>
        <p:spPr>
          <a:xfrm>
            <a:off x="548640" y="6519672"/>
            <a:ext cx="6400800" cy="274320"/>
          </a:xfrm>
          <a:prstGeom prst="rect">
            <a:avLst/>
          </a:prstGeom>
          <a:noFill/>
        </p:spPr>
        <p:txBody>
          <a:bodyPr wrap="square" rtlCol="0" anchor="ctr"/>
          <a:lstStyle/>
          <a:p>
            <a:pPr marL="0" indent="0" algn="l">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HR Analytics Performance Dashboard</a:t>
            </a:r>
            <a:endParaRPr lang="en-US" sz="1000" dirty="0"/>
          </a:p>
        </p:txBody>
      </p:sp>
      <p:sp>
        <p:nvSpPr>
          <p:cNvPr id="55" name="Text 43"/>
          <p:cNvSpPr/>
          <p:nvPr/>
        </p:nvSpPr>
        <p:spPr>
          <a:xfrm>
            <a:off x="10881360" y="6519672"/>
            <a:ext cx="777240" cy="274320"/>
          </a:xfrm>
          <a:prstGeom prst="rect">
            <a:avLst/>
          </a:prstGeom>
          <a:noFill/>
        </p:spPr>
        <p:txBody>
          <a:bodyPr wrap="square" rtlCol="0" anchor="ctr"/>
          <a:lstStyle/>
          <a:p>
            <a:pPr marL="0" indent="0" algn="r">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05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640080" y="438912"/>
            <a:ext cx="8229600" cy="320040"/>
          </a:xfrm>
          <a:prstGeom prst="rect">
            <a:avLst/>
          </a:prstGeom>
          <a:noFill/>
        </p:spPr>
        <p:txBody>
          <a:bodyPr wrap="square" rtlCol="0" anchor="ctr"/>
          <a:lstStyle/>
          <a:p>
            <a:pPr marL="0" indent="0">
              <a:buNone/>
            </a:pPr>
            <a:r>
              <a:rPr lang="en-US" sz="1300" b="1" kern="0" spc="200" dirty="0">
                <a:solidFill>
                  <a:srgbClr val="0E7490"/>
                </a:solidFill>
                <a:latin typeface="Calibri" panose="020F0502020204030204" pitchFamily="34" charset="0"/>
                <a:ea typeface="Calibri" panose="020F0502020204030204" pitchFamily="34" charset="-122"/>
                <a:cs typeface="Calibri" panose="020F0502020204030204" pitchFamily="34" charset="-120"/>
              </a:rPr>
              <a:t>BUSINESS INSIGHTS</a:t>
            </a:r>
            <a:endParaRPr lang="en-US" sz="1300" dirty="0"/>
          </a:p>
        </p:txBody>
      </p:sp>
      <p:sp>
        <p:nvSpPr>
          <p:cNvPr id="3" name="Text 1"/>
          <p:cNvSpPr/>
          <p:nvPr/>
        </p:nvSpPr>
        <p:spPr>
          <a:xfrm>
            <a:off x="640080" y="749808"/>
            <a:ext cx="10515600" cy="777240"/>
          </a:xfrm>
          <a:prstGeom prst="rect">
            <a:avLst/>
          </a:prstGeom>
          <a:noFill/>
        </p:spPr>
        <p:txBody>
          <a:bodyPr wrap="square" rtlCol="0" anchor="ctr"/>
          <a:lstStyle/>
          <a:p>
            <a:pPr marL="0" indent="0">
              <a:buNone/>
            </a:pPr>
            <a:r>
              <a:rPr lang="en-US" sz="3200" b="1" dirty="0">
                <a:solidFill>
                  <a:srgbClr val="0A1F3D"/>
                </a:solidFill>
                <a:latin typeface="Cambria" panose="02040503050406030204" pitchFamily="34" charset="0"/>
                <a:ea typeface="Cambria" panose="02040503050406030204" pitchFamily="34" charset="-122"/>
                <a:cs typeface="Cambria" panose="02040503050406030204" pitchFamily="34" charset="-120"/>
              </a:rPr>
              <a:t>What the Data Actually Revealed</a:t>
            </a:r>
            <a:endParaRPr lang="en-US" sz="3200" dirty="0"/>
          </a:p>
        </p:txBody>
      </p:sp>
      <p:sp>
        <p:nvSpPr>
          <p:cNvPr id="4" name="Shape 2"/>
          <p:cNvSpPr/>
          <p:nvPr/>
        </p:nvSpPr>
        <p:spPr>
          <a:xfrm>
            <a:off x="640080" y="1691640"/>
            <a:ext cx="3429000" cy="4434840"/>
          </a:xfrm>
          <a:prstGeom prst="roundRect">
            <a:avLst>
              <a:gd name="adj" fmla="val 3200"/>
            </a:avLst>
          </a:prstGeom>
          <a:solidFill>
            <a:srgbClr val="0A1F3D"/>
          </a:solidFill>
          <a:effectLst>
            <a:outerShdw blurRad="101600" dist="38100" dir="5400000" algn="bl" rotWithShape="0">
              <a:srgbClr val="0A1F3D">
                <a:alpha val="16000"/>
              </a:srgbClr>
            </a:outerShdw>
          </a:effectLst>
        </p:spPr>
      </p:sp>
      <p:sp>
        <p:nvSpPr>
          <p:cNvPr id="5" name="Text 3"/>
          <p:cNvSpPr/>
          <p:nvPr/>
        </p:nvSpPr>
        <p:spPr>
          <a:xfrm>
            <a:off x="822960" y="2148840"/>
            <a:ext cx="3063240" cy="914400"/>
          </a:xfrm>
          <a:prstGeom prst="rect">
            <a:avLst/>
          </a:prstGeom>
          <a:noFill/>
        </p:spPr>
        <p:txBody>
          <a:bodyPr wrap="square" rtlCol="0" anchor="ctr"/>
          <a:lstStyle/>
          <a:p>
            <a:pPr marL="0" indent="0">
              <a:buNone/>
            </a:pPr>
            <a:r>
              <a:rPr lang="en-US" sz="5200" b="1" dirty="0">
                <a:solidFill>
                  <a:srgbClr val="22D3EE"/>
                </a:solidFill>
                <a:latin typeface="Cambria" panose="02040503050406030204" pitchFamily="34" charset="0"/>
                <a:ea typeface="Cambria" panose="02040503050406030204" pitchFamily="34" charset="-122"/>
                <a:cs typeface="Cambria" panose="02040503050406030204" pitchFamily="34" charset="-120"/>
              </a:rPr>
              <a:t>27.5%</a:t>
            </a:r>
            <a:endParaRPr lang="en-US" sz="5200" dirty="0"/>
          </a:p>
        </p:txBody>
      </p:sp>
      <p:sp>
        <p:nvSpPr>
          <p:cNvPr id="6" name="Text 4"/>
          <p:cNvSpPr/>
          <p:nvPr/>
        </p:nvSpPr>
        <p:spPr>
          <a:xfrm>
            <a:off x="822960" y="3063240"/>
            <a:ext cx="3063240" cy="457200"/>
          </a:xfrm>
          <a:prstGeom prst="rect">
            <a:avLst/>
          </a:prstGeom>
          <a:noFill/>
        </p:spPr>
        <p:txBody>
          <a:bodyPr wrap="square" rtlCol="0" anchor="ctr"/>
          <a:lstStyle/>
          <a:p>
            <a:pPr marL="0" indent="0">
              <a:buNone/>
            </a:pPr>
            <a:r>
              <a:rPr lang="en-US" sz="1250" dirty="0">
                <a:solidFill>
                  <a:srgbClr val="C7D6EA"/>
                </a:solidFill>
                <a:latin typeface="Calibri" panose="020F0502020204030204" pitchFamily="34" charset="0"/>
                <a:ea typeface="Calibri" panose="020F0502020204030204" pitchFamily="34" charset="-122"/>
                <a:cs typeface="Calibri" panose="020F0502020204030204" pitchFamily="34" charset="-120"/>
              </a:rPr>
              <a:t>Company-wide lifetime attrition rate</a:t>
            </a:r>
            <a:endParaRPr lang="en-US" sz="1250" dirty="0"/>
          </a:p>
        </p:txBody>
      </p:sp>
      <p:sp>
        <p:nvSpPr>
          <p:cNvPr id="7" name="Shape 5"/>
          <p:cNvSpPr/>
          <p:nvPr/>
        </p:nvSpPr>
        <p:spPr>
          <a:xfrm>
            <a:off x="868680" y="3657600"/>
            <a:ext cx="2971800" cy="0"/>
          </a:xfrm>
          <a:prstGeom prst="line">
            <a:avLst/>
          </a:prstGeom>
          <a:noFill/>
          <a:ln w="12700">
            <a:solidFill>
              <a:srgbClr val="1B3A63"/>
            </a:solidFill>
            <a:prstDash val="solid"/>
          </a:ln>
        </p:spPr>
      </p:sp>
      <p:sp>
        <p:nvSpPr>
          <p:cNvPr id="8" name="Text 6"/>
          <p:cNvSpPr/>
          <p:nvPr/>
        </p:nvSpPr>
        <p:spPr>
          <a:xfrm>
            <a:off x="822960" y="3794760"/>
            <a:ext cx="3063240" cy="365760"/>
          </a:xfrm>
          <a:prstGeom prst="rect">
            <a:avLst/>
          </a:prstGeom>
          <a:noFill/>
        </p:spPr>
        <p:txBody>
          <a:bodyPr wrap="square" rtlCol="0" anchor="ctr"/>
          <a:lstStyle/>
          <a:p>
            <a:pPr marL="0" indent="0">
              <a:buNone/>
            </a:pPr>
            <a:r>
              <a:rPr lang="en-US" sz="1200" i="1" dirty="0">
                <a:solidFill>
                  <a:srgbClr val="8CA0B8"/>
                </a:solidFill>
                <a:latin typeface="Calibri" panose="020F0502020204030204" pitchFamily="34" charset="0"/>
                <a:ea typeface="Calibri" panose="020F0502020204030204" pitchFamily="34" charset="-122"/>
                <a:cs typeface="Calibri" panose="020F0502020204030204" pitchFamily="34" charset="-120"/>
              </a:rPr>
              <a:t>But the average hides the real story:</a:t>
            </a:r>
            <a:endParaRPr lang="en-US" sz="1200" dirty="0"/>
          </a:p>
        </p:txBody>
      </p:sp>
      <p:sp>
        <p:nvSpPr>
          <p:cNvPr id="9" name="Text 7"/>
          <p:cNvSpPr/>
          <p:nvPr/>
        </p:nvSpPr>
        <p:spPr>
          <a:xfrm>
            <a:off x="822960" y="4206240"/>
            <a:ext cx="3063240" cy="1737360"/>
          </a:xfrm>
          <a:prstGeom prst="rect">
            <a:avLst/>
          </a:prstGeom>
          <a:noFill/>
        </p:spPr>
        <p:txBody>
          <a:bodyPr wrap="square" rtlCol="0" anchor="ctr"/>
          <a:lstStyle/>
          <a:p>
            <a:pPr marL="0" indent="0">
              <a:lnSpc>
                <a:spcPct val="130000"/>
              </a:lnSpc>
              <a:buNone/>
            </a:pPr>
            <a:r>
              <a:rPr lang="en-US" sz="1500" b="1" dirty="0">
                <a:solidFill>
                  <a:srgbClr val="D65C5C"/>
                </a:solidFill>
              </a:rPr>
              <a:t>50.0%  </a:t>
            </a:r>
            <a:r>
              <a:rPr lang="en-US" sz="1250" dirty="0">
                <a:solidFill>
                  <a:srgbClr val="FFFFFF"/>
                </a:solidFill>
              </a:rPr>
              <a:t>attrition in Accounting
</a:t>
            </a:r>
            <a:r>
              <a:rPr lang="en-US" sz="1500" b="1" dirty="0">
                <a:solidFill>
                  <a:srgbClr val="D65C5C"/>
                </a:solidFill>
              </a:rPr>
              <a:t>43.5%  </a:t>
            </a:r>
            <a:r>
              <a:rPr lang="en-US" sz="1250" dirty="0">
                <a:solidFill>
                  <a:srgbClr val="FFFFFF"/>
                </a:solidFill>
              </a:rPr>
              <a:t>attrition among contractors
</a:t>
            </a:r>
            <a:r>
              <a:rPr lang="en-US" sz="1500" b="1" dirty="0">
                <a:solidFill>
                  <a:srgbClr val="22D3EE"/>
                </a:solidFill>
              </a:rPr>
              <a:t>8.7%  </a:t>
            </a:r>
            <a:r>
              <a:rPr lang="en-US" sz="1250" dirty="0">
                <a:solidFill>
                  <a:srgbClr val="FFFFFF"/>
                </a:solidFill>
              </a:rPr>
              <a:t>attrition in Sales (most stable)</a:t>
            </a:r>
            <a:endParaRPr lang="en-US" sz="1500" dirty="0"/>
          </a:p>
        </p:txBody>
      </p:sp>
      <p:sp>
        <p:nvSpPr>
          <p:cNvPr id="10" name="Shape 8"/>
          <p:cNvSpPr/>
          <p:nvPr/>
        </p:nvSpPr>
        <p:spPr>
          <a:xfrm>
            <a:off x="4434840" y="1691640"/>
            <a:ext cx="530352" cy="530352"/>
          </a:xfrm>
          <a:prstGeom prst="ellipse">
            <a:avLst/>
          </a:prstGeom>
          <a:solidFill>
            <a:srgbClr val="0E7490"/>
          </a:solidFill>
        </p:spPr>
      </p:sp>
      <p:pic>
        <p:nvPicPr>
          <p:cNvPr id="11" name="Image 0" descr="/home/claude/pptx_build/icons/trendUp_white.png"/>
          <p:cNvPicPr>
            <a:picLocks noChangeAspect="1"/>
          </p:cNvPicPr>
          <p:nvPr/>
        </p:nvPicPr>
        <p:blipFill>
          <a:blip r:embed="rId3"/>
          <a:stretch>
            <a:fillRect/>
          </a:stretch>
        </p:blipFill>
        <p:spPr>
          <a:xfrm>
            <a:off x="4562856" y="1812036"/>
            <a:ext cx="274320" cy="274320"/>
          </a:xfrm>
          <a:prstGeom prst="rect">
            <a:avLst/>
          </a:prstGeom>
        </p:spPr>
      </p:pic>
      <p:sp>
        <p:nvSpPr>
          <p:cNvPr id="12" name="Text 9"/>
          <p:cNvSpPr/>
          <p:nvPr/>
        </p:nvSpPr>
        <p:spPr>
          <a:xfrm>
            <a:off x="5120640" y="1673352"/>
            <a:ext cx="6309360" cy="365760"/>
          </a:xfrm>
          <a:prstGeom prst="rect">
            <a:avLst/>
          </a:prstGeom>
          <a:noFill/>
        </p:spPr>
        <p:txBody>
          <a:bodyPr wrap="square" rtlCol="0" anchor="ctr"/>
          <a:lstStyle/>
          <a:p>
            <a:pPr marL="0" indent="0">
              <a:buNone/>
            </a:pPr>
            <a:r>
              <a:rPr lang="en-US" sz="1400" b="1" dirty="0">
                <a:solidFill>
                  <a:srgbClr val="0A1F3D"/>
                </a:solidFill>
                <a:latin typeface="Calibri" panose="020F0502020204030204" pitchFamily="34" charset="0"/>
                <a:ea typeface="Calibri" panose="020F0502020204030204" pitchFamily="34" charset="-122"/>
                <a:cs typeface="Calibri" panose="020F0502020204030204" pitchFamily="34" charset="-120"/>
              </a:rPr>
              <a:t>Hiring outpaced retirement</a:t>
            </a:r>
            <a:endParaRPr lang="en-US" sz="1400" dirty="0"/>
          </a:p>
        </p:txBody>
      </p:sp>
      <p:sp>
        <p:nvSpPr>
          <p:cNvPr id="13" name="Text 10"/>
          <p:cNvSpPr/>
          <p:nvPr/>
        </p:nvSpPr>
        <p:spPr>
          <a:xfrm>
            <a:off x="5120640" y="2057400"/>
            <a:ext cx="6309360" cy="594360"/>
          </a:xfrm>
          <a:prstGeom prst="rect">
            <a:avLst/>
          </a:prstGeom>
          <a:noFill/>
        </p:spPr>
        <p:txBody>
          <a:bodyPr wrap="square" rtlCol="0" anchor="ctr"/>
          <a:lstStyle/>
          <a:p>
            <a:pPr marL="0" indent="0">
              <a:lnSpc>
                <a:spcPct val="110000"/>
              </a:lnSpc>
              <a:buNone/>
            </a:pPr>
            <a:r>
              <a:rPr lang="en-US" sz="1150" dirty="0">
                <a:solidFill>
                  <a:srgbClr val="45536B"/>
                </a:solidFill>
                <a:latin typeface="Calibri" panose="020F0502020204030204" pitchFamily="34" charset="0"/>
                <a:ea typeface="Calibri" panose="020F0502020204030204" pitchFamily="34" charset="-122"/>
                <a:cs typeface="Calibri" panose="020F0502020204030204" pitchFamily="34" charset="-120"/>
              </a:rPr>
              <a:t>Active headcount grew 5x (23 → 118) since 2020 — growth has been fast and mostly sustained.</a:t>
            </a:r>
            <a:endParaRPr lang="en-US" sz="1150" dirty="0"/>
          </a:p>
        </p:txBody>
      </p:sp>
      <p:sp>
        <p:nvSpPr>
          <p:cNvPr id="14" name="Shape 11"/>
          <p:cNvSpPr/>
          <p:nvPr/>
        </p:nvSpPr>
        <p:spPr>
          <a:xfrm>
            <a:off x="4434840" y="2788920"/>
            <a:ext cx="530352" cy="530352"/>
          </a:xfrm>
          <a:prstGeom prst="ellipse">
            <a:avLst/>
          </a:prstGeom>
          <a:solidFill>
            <a:srgbClr val="0E7490"/>
          </a:solidFill>
        </p:spPr>
      </p:sp>
      <p:pic>
        <p:nvPicPr>
          <p:cNvPr id="15" name="Image 1" descr="/home/claude/pptx_build/icons/alert_white.png"/>
          <p:cNvPicPr>
            <a:picLocks noChangeAspect="1"/>
          </p:cNvPicPr>
          <p:nvPr/>
        </p:nvPicPr>
        <p:blipFill>
          <a:blip r:embed="rId4"/>
          <a:stretch>
            <a:fillRect/>
          </a:stretch>
        </p:blipFill>
        <p:spPr>
          <a:xfrm>
            <a:off x="4552696" y="2899156"/>
            <a:ext cx="274320" cy="274320"/>
          </a:xfrm>
          <a:prstGeom prst="rect">
            <a:avLst/>
          </a:prstGeom>
        </p:spPr>
      </p:pic>
      <p:sp>
        <p:nvSpPr>
          <p:cNvPr id="16" name="Text 12"/>
          <p:cNvSpPr/>
          <p:nvPr/>
        </p:nvSpPr>
        <p:spPr>
          <a:xfrm>
            <a:off x="5120640" y="2770632"/>
            <a:ext cx="6309360" cy="365760"/>
          </a:xfrm>
          <a:prstGeom prst="rect">
            <a:avLst/>
          </a:prstGeom>
          <a:noFill/>
        </p:spPr>
        <p:txBody>
          <a:bodyPr wrap="square" rtlCol="0" anchor="ctr"/>
          <a:lstStyle/>
          <a:p>
            <a:pPr marL="0" indent="0">
              <a:buNone/>
            </a:pPr>
            <a:r>
              <a:rPr lang="en-US" sz="1400" b="1" dirty="0">
                <a:solidFill>
                  <a:srgbClr val="0A1F3D"/>
                </a:solidFill>
                <a:latin typeface="Calibri" panose="020F0502020204030204" pitchFamily="34" charset="0"/>
                <a:ea typeface="Calibri" panose="020F0502020204030204" pitchFamily="34" charset="-122"/>
                <a:cs typeface="Calibri" panose="020F0502020204030204" pitchFamily="34" charset="-120"/>
              </a:rPr>
              <a:t>Attrition is concentrated, not spread evenly</a:t>
            </a:r>
            <a:endParaRPr lang="en-US" sz="1400" dirty="0"/>
          </a:p>
        </p:txBody>
      </p:sp>
      <p:sp>
        <p:nvSpPr>
          <p:cNvPr id="17" name="Text 13"/>
          <p:cNvSpPr/>
          <p:nvPr/>
        </p:nvSpPr>
        <p:spPr>
          <a:xfrm>
            <a:off x="5120640" y="3154680"/>
            <a:ext cx="6309360" cy="594360"/>
          </a:xfrm>
          <a:prstGeom prst="rect">
            <a:avLst/>
          </a:prstGeom>
          <a:noFill/>
        </p:spPr>
        <p:txBody>
          <a:bodyPr wrap="square" rtlCol="0" anchor="ctr"/>
          <a:lstStyle/>
          <a:p>
            <a:pPr marL="0" indent="0">
              <a:lnSpc>
                <a:spcPct val="110000"/>
              </a:lnSpc>
              <a:buNone/>
            </a:pPr>
            <a:r>
              <a:rPr lang="en-US" sz="1150" dirty="0">
                <a:solidFill>
                  <a:srgbClr val="45536B"/>
                </a:solidFill>
                <a:latin typeface="Calibri" panose="020F0502020204030204" pitchFamily="34" charset="0"/>
                <a:ea typeface="Calibri" panose="020F0502020204030204" pitchFamily="34" charset="-122"/>
                <a:cs typeface="Calibri" panose="020F0502020204030204" pitchFamily="34" charset="-120"/>
              </a:rPr>
              <a:t>One department and one employment type drive a disproportionate share of all exits.</a:t>
            </a:r>
            <a:endParaRPr lang="en-US" sz="1150" dirty="0"/>
          </a:p>
        </p:txBody>
      </p:sp>
      <p:sp>
        <p:nvSpPr>
          <p:cNvPr id="18" name="Shape 14"/>
          <p:cNvSpPr/>
          <p:nvPr/>
        </p:nvSpPr>
        <p:spPr>
          <a:xfrm>
            <a:off x="4434840" y="3886200"/>
            <a:ext cx="530352" cy="530352"/>
          </a:xfrm>
          <a:prstGeom prst="ellipse">
            <a:avLst/>
          </a:prstGeom>
          <a:solidFill>
            <a:srgbClr val="0E7490"/>
          </a:solidFill>
        </p:spPr>
      </p:sp>
      <p:pic>
        <p:nvPicPr>
          <p:cNvPr id="19" name="Image 2" descr="/home/claude/pptx_build/icons/balanceScale_white.png"/>
          <p:cNvPicPr>
            <a:picLocks noChangeAspect="1"/>
          </p:cNvPicPr>
          <p:nvPr/>
        </p:nvPicPr>
        <p:blipFill>
          <a:blip r:embed="rId5"/>
          <a:stretch>
            <a:fillRect/>
          </a:stretch>
        </p:blipFill>
        <p:spPr>
          <a:xfrm>
            <a:off x="4532376" y="4006596"/>
            <a:ext cx="274320" cy="274320"/>
          </a:xfrm>
          <a:prstGeom prst="rect">
            <a:avLst/>
          </a:prstGeom>
        </p:spPr>
      </p:pic>
      <p:sp>
        <p:nvSpPr>
          <p:cNvPr id="20" name="Text 15"/>
          <p:cNvSpPr/>
          <p:nvPr/>
        </p:nvSpPr>
        <p:spPr>
          <a:xfrm>
            <a:off x="5120640" y="3867912"/>
            <a:ext cx="6309360" cy="365760"/>
          </a:xfrm>
          <a:prstGeom prst="rect">
            <a:avLst/>
          </a:prstGeom>
          <a:noFill/>
        </p:spPr>
        <p:txBody>
          <a:bodyPr wrap="square" rtlCol="0" anchor="ctr"/>
          <a:lstStyle/>
          <a:p>
            <a:pPr marL="0" indent="0">
              <a:buNone/>
            </a:pPr>
            <a:r>
              <a:rPr lang="en-US" sz="1400" b="1" dirty="0">
                <a:solidFill>
                  <a:srgbClr val="0A1F3D"/>
                </a:solidFill>
                <a:latin typeface="Calibri" panose="020F0502020204030204" pitchFamily="34" charset="0"/>
                <a:ea typeface="Calibri" panose="020F0502020204030204" pitchFamily="34" charset="-122"/>
                <a:cs typeface="Calibri" panose="020F0502020204030204" pitchFamily="34" charset="-120"/>
              </a:rPr>
              <a:t>Manager quality outweighs team size</a:t>
            </a:r>
            <a:endParaRPr lang="en-US" sz="1400" dirty="0"/>
          </a:p>
        </p:txBody>
      </p:sp>
      <p:sp>
        <p:nvSpPr>
          <p:cNvPr id="21" name="Text 16"/>
          <p:cNvSpPr/>
          <p:nvPr/>
        </p:nvSpPr>
        <p:spPr>
          <a:xfrm>
            <a:off x="5120640" y="4251960"/>
            <a:ext cx="6309360" cy="594360"/>
          </a:xfrm>
          <a:prstGeom prst="rect">
            <a:avLst/>
          </a:prstGeom>
          <a:noFill/>
        </p:spPr>
        <p:txBody>
          <a:bodyPr wrap="square" rtlCol="0" anchor="ctr"/>
          <a:lstStyle/>
          <a:p>
            <a:pPr marL="0" indent="0">
              <a:lnSpc>
                <a:spcPct val="110000"/>
              </a:lnSpc>
              <a:buNone/>
            </a:pPr>
            <a:r>
              <a:rPr lang="en-US" sz="1150" dirty="0">
                <a:solidFill>
                  <a:srgbClr val="45536B"/>
                </a:solidFill>
                <a:latin typeface="Calibri" panose="020F0502020204030204" pitchFamily="34" charset="0"/>
                <a:ea typeface="Calibri" panose="020F0502020204030204" pitchFamily="34" charset="-122"/>
                <a:cs typeface="Calibri" panose="020F0502020204030204" pitchFamily="34" charset="-120"/>
              </a:rPr>
              <a:t>The manager with the widest span (42 reports) has the lowest team attrition of anyone.</a:t>
            </a:r>
            <a:endParaRPr lang="en-US" sz="1150" dirty="0"/>
          </a:p>
        </p:txBody>
      </p:sp>
      <p:sp>
        <p:nvSpPr>
          <p:cNvPr id="22" name="Shape 17"/>
          <p:cNvSpPr/>
          <p:nvPr/>
        </p:nvSpPr>
        <p:spPr>
          <a:xfrm>
            <a:off x="4434840" y="4983480"/>
            <a:ext cx="530352" cy="530352"/>
          </a:xfrm>
          <a:prstGeom prst="ellipse">
            <a:avLst/>
          </a:prstGeom>
          <a:solidFill>
            <a:srgbClr val="0E7490"/>
          </a:solidFill>
        </p:spPr>
      </p:sp>
      <p:pic>
        <p:nvPicPr>
          <p:cNvPr id="23" name="Image 3" descr="/home/claude/pptx_build/icons/exchange_white.png"/>
          <p:cNvPicPr>
            <a:picLocks noChangeAspect="1"/>
          </p:cNvPicPr>
          <p:nvPr/>
        </p:nvPicPr>
        <p:blipFill>
          <a:blip r:embed="rId6"/>
          <a:stretch>
            <a:fillRect/>
          </a:stretch>
        </p:blipFill>
        <p:spPr>
          <a:xfrm>
            <a:off x="4562856" y="5103876"/>
            <a:ext cx="274320" cy="274320"/>
          </a:xfrm>
          <a:prstGeom prst="rect">
            <a:avLst/>
          </a:prstGeom>
        </p:spPr>
      </p:pic>
      <p:sp>
        <p:nvSpPr>
          <p:cNvPr id="24" name="Text 18"/>
          <p:cNvSpPr/>
          <p:nvPr/>
        </p:nvSpPr>
        <p:spPr>
          <a:xfrm>
            <a:off x="5120640" y="4965192"/>
            <a:ext cx="6309360" cy="365760"/>
          </a:xfrm>
          <a:prstGeom prst="rect">
            <a:avLst/>
          </a:prstGeom>
          <a:noFill/>
        </p:spPr>
        <p:txBody>
          <a:bodyPr wrap="square" rtlCol="0" anchor="ctr"/>
          <a:lstStyle/>
          <a:p>
            <a:pPr marL="0" indent="0">
              <a:buNone/>
            </a:pPr>
            <a:r>
              <a:rPr lang="en-US" sz="1400" b="1" dirty="0">
                <a:solidFill>
                  <a:srgbClr val="0A1F3D"/>
                </a:solidFill>
                <a:latin typeface="Calibri" panose="020F0502020204030204" pitchFamily="34" charset="0"/>
                <a:ea typeface="Calibri" panose="020F0502020204030204" pitchFamily="34" charset="-122"/>
                <a:cs typeface="Calibri" panose="020F0502020204030204" pitchFamily="34" charset="-120"/>
              </a:rPr>
              <a:t>Internal mobility is rarely used</a:t>
            </a:r>
            <a:endParaRPr lang="en-US" sz="1400" dirty="0"/>
          </a:p>
        </p:txBody>
      </p:sp>
      <p:sp>
        <p:nvSpPr>
          <p:cNvPr id="25" name="Text 19"/>
          <p:cNvSpPr/>
          <p:nvPr/>
        </p:nvSpPr>
        <p:spPr>
          <a:xfrm>
            <a:off x="5120640" y="5349240"/>
            <a:ext cx="6309360" cy="594360"/>
          </a:xfrm>
          <a:prstGeom prst="rect">
            <a:avLst/>
          </a:prstGeom>
          <a:noFill/>
        </p:spPr>
        <p:txBody>
          <a:bodyPr wrap="square" rtlCol="0" anchor="ctr"/>
          <a:lstStyle/>
          <a:p>
            <a:pPr marL="0" indent="0">
              <a:lnSpc>
                <a:spcPct val="110000"/>
              </a:lnSpc>
              <a:buNone/>
            </a:pPr>
            <a:r>
              <a:rPr lang="en-US" sz="1150" dirty="0">
                <a:solidFill>
                  <a:srgbClr val="45536B"/>
                </a:solidFill>
                <a:latin typeface="Calibri" panose="020F0502020204030204" pitchFamily="34" charset="0"/>
                <a:ea typeface="Calibri" panose="020F0502020204030204" pitchFamily="34" charset="-122"/>
                <a:cs typeface="Calibri" panose="020F0502020204030204" pitchFamily="34" charset="-120"/>
              </a:rPr>
              <a:t>Only 6 transfers were recorded against 47 exits — most departures are hard losses.</a:t>
            </a:r>
            <a:endParaRPr lang="en-US" sz="1150" dirty="0"/>
          </a:p>
        </p:txBody>
      </p:sp>
      <p:sp>
        <p:nvSpPr>
          <p:cNvPr id="26" name="Text 20"/>
          <p:cNvSpPr/>
          <p:nvPr/>
        </p:nvSpPr>
        <p:spPr>
          <a:xfrm>
            <a:off x="548640" y="6519672"/>
            <a:ext cx="6400800" cy="274320"/>
          </a:xfrm>
          <a:prstGeom prst="rect">
            <a:avLst/>
          </a:prstGeom>
          <a:noFill/>
        </p:spPr>
        <p:txBody>
          <a:bodyPr wrap="square" rtlCol="0" anchor="ctr"/>
          <a:lstStyle/>
          <a:p>
            <a:pPr marL="0" indent="0" algn="l">
              <a:buNone/>
            </a:pPr>
            <a:r>
              <a:rPr lang="en-US" sz="1000" dirty="0">
                <a:solidFill>
                  <a:srgbClr val="8CA0B8"/>
                </a:solidFill>
                <a:latin typeface="Calibri" panose="020F0502020204030204" pitchFamily="34" charset="0"/>
                <a:ea typeface="Calibri" panose="020F0502020204030204" pitchFamily="34" charset="-122"/>
                <a:cs typeface="Calibri" panose="020F0502020204030204" pitchFamily="34" charset="-120"/>
              </a:rPr>
              <a:t>HR Analytics Performance Dashboard</a:t>
            </a:r>
            <a:endParaRPr lang="en-US" sz="1000" dirty="0"/>
          </a:p>
        </p:txBody>
      </p:sp>
      <p:sp>
        <p:nvSpPr>
          <p:cNvPr id="27" name="Text 21"/>
          <p:cNvSpPr/>
          <p:nvPr/>
        </p:nvSpPr>
        <p:spPr>
          <a:xfrm>
            <a:off x="10881360" y="6519672"/>
            <a:ext cx="777240" cy="274320"/>
          </a:xfrm>
          <a:prstGeom prst="rect">
            <a:avLst/>
          </a:prstGeom>
          <a:noFill/>
        </p:spPr>
        <p:txBody>
          <a:bodyPr wrap="square" rtlCol="0" anchor="ctr"/>
          <a:lstStyle/>
          <a:p>
            <a:pPr marL="0" indent="0" algn="r">
              <a:buNone/>
            </a:pPr>
            <a:r>
              <a:rPr lang="en-US" sz="1000" dirty="0">
                <a:solidFill>
                  <a:srgbClr val="8CA0B8"/>
                </a:solidFill>
                <a:latin typeface="Calibri" panose="020F0502020204030204" pitchFamily="34" charset="0"/>
                <a:ea typeface="Calibri" panose="020F0502020204030204" pitchFamily="34" charset="-122"/>
                <a:cs typeface="Calibri" panose="020F0502020204030204" pitchFamily="34" charset="-120"/>
              </a:rPr>
              <a:t>06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F3D"/>
        </a:solidFill>
        <a:effectLst/>
      </p:bgPr>
    </p:bg>
    <p:spTree>
      <p:nvGrpSpPr>
        <p:cNvPr id="1" name=""/>
        <p:cNvGrpSpPr/>
        <p:nvPr/>
      </p:nvGrpSpPr>
      <p:grpSpPr>
        <a:xfrm>
          <a:off x="0" y="0"/>
          <a:ext cx="0" cy="0"/>
          <a:chOff x="0" y="0"/>
          <a:chExt cx="0" cy="0"/>
        </a:xfrm>
      </p:grpSpPr>
      <p:sp>
        <p:nvSpPr>
          <p:cNvPr id="2" name="Text 0"/>
          <p:cNvSpPr/>
          <p:nvPr/>
        </p:nvSpPr>
        <p:spPr>
          <a:xfrm>
            <a:off x="640080" y="438912"/>
            <a:ext cx="8229600" cy="320040"/>
          </a:xfrm>
          <a:prstGeom prst="rect">
            <a:avLst/>
          </a:prstGeom>
          <a:noFill/>
        </p:spPr>
        <p:txBody>
          <a:bodyPr wrap="square" rtlCol="0" anchor="ctr"/>
          <a:lstStyle/>
          <a:p>
            <a:pPr marL="0" indent="0">
              <a:buNone/>
            </a:pPr>
            <a:r>
              <a:rPr lang="en-US" sz="1300" b="1" kern="0" spc="200" dirty="0">
                <a:solidFill>
                  <a:srgbClr val="22D3EE"/>
                </a:solidFill>
                <a:latin typeface="Calibri" panose="020F0502020204030204" pitchFamily="34" charset="0"/>
                <a:ea typeface="Calibri" panose="020F0502020204030204" pitchFamily="34" charset="-122"/>
                <a:cs typeface="Calibri" panose="020F0502020204030204" pitchFamily="34" charset="-120"/>
              </a:rPr>
              <a:t>PROBLEMS IDENTIFIED</a:t>
            </a:r>
            <a:endParaRPr lang="en-US" sz="1300" dirty="0"/>
          </a:p>
        </p:txBody>
      </p:sp>
      <p:sp>
        <p:nvSpPr>
          <p:cNvPr id="3" name="Text 1"/>
          <p:cNvSpPr/>
          <p:nvPr/>
        </p:nvSpPr>
        <p:spPr>
          <a:xfrm>
            <a:off x="640080" y="749808"/>
            <a:ext cx="10515600" cy="777240"/>
          </a:xfrm>
          <a:prstGeom prst="rect">
            <a:avLst/>
          </a:prstGeom>
          <a:noFill/>
        </p:spPr>
        <p:txBody>
          <a:bodyPr wrap="square"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Seven Issues the Dashboard Surfaced</a:t>
            </a:r>
            <a:endParaRPr lang="en-US" sz="3200" dirty="0"/>
          </a:p>
        </p:txBody>
      </p:sp>
      <p:sp>
        <p:nvSpPr>
          <p:cNvPr id="4" name="Shape 2"/>
          <p:cNvSpPr/>
          <p:nvPr/>
        </p:nvSpPr>
        <p:spPr>
          <a:xfrm>
            <a:off x="594360" y="1691640"/>
            <a:ext cx="2606040" cy="2103120"/>
          </a:xfrm>
          <a:prstGeom prst="roundRect">
            <a:avLst>
              <a:gd name="adj" fmla="val 4348"/>
            </a:avLst>
          </a:prstGeom>
          <a:solidFill>
            <a:srgbClr val="0F2A52"/>
          </a:solidFill>
          <a:ln w="12700">
            <a:solidFill>
              <a:srgbClr val="3A5578"/>
            </a:solidFill>
            <a:prstDash val="solid"/>
          </a:ln>
        </p:spPr>
      </p:sp>
      <p:sp>
        <p:nvSpPr>
          <p:cNvPr id="5" name="Shape 3"/>
          <p:cNvSpPr/>
          <p:nvPr/>
        </p:nvSpPr>
        <p:spPr>
          <a:xfrm>
            <a:off x="777240" y="1874520"/>
            <a:ext cx="457200" cy="457200"/>
          </a:xfrm>
          <a:prstGeom prst="ellipse">
            <a:avLst/>
          </a:prstGeom>
          <a:solidFill>
            <a:srgbClr val="D65C5C"/>
          </a:solidFill>
        </p:spPr>
        <p:txBody>
          <a:bodyPr/>
          <a:lstStyle/>
          <a:p>
            <a:endParaRPr lang="en-US"/>
          </a:p>
        </p:txBody>
      </p:sp>
      <p:pic>
        <p:nvPicPr>
          <p:cNvPr id="6" name="Image 0" descr="/home/claude/pptx_build/icons/warning_white.png"/>
          <p:cNvPicPr>
            <a:picLocks noChangeAspect="1"/>
          </p:cNvPicPr>
          <p:nvPr/>
        </p:nvPicPr>
        <p:blipFill>
          <a:blip r:embed="rId3"/>
          <a:stretch>
            <a:fillRect/>
          </a:stretch>
        </p:blipFill>
        <p:spPr>
          <a:xfrm>
            <a:off x="868426" y="1957451"/>
            <a:ext cx="274320" cy="274320"/>
          </a:xfrm>
          <a:prstGeom prst="rect">
            <a:avLst/>
          </a:prstGeom>
        </p:spPr>
      </p:pic>
      <p:sp>
        <p:nvSpPr>
          <p:cNvPr id="7" name="Text 4"/>
          <p:cNvSpPr/>
          <p:nvPr/>
        </p:nvSpPr>
        <p:spPr>
          <a:xfrm>
            <a:off x="777240" y="2423160"/>
            <a:ext cx="2240280" cy="502920"/>
          </a:xfrm>
          <a:prstGeom prst="rect">
            <a:avLst/>
          </a:prstGeom>
          <a:noFill/>
        </p:spPr>
        <p:txBody>
          <a:bodyPr wrap="square" rtlCol="0" anchor="ctr"/>
          <a:lstStyle/>
          <a:p>
            <a:pPr marL="0" indent="0">
              <a:lnSpc>
                <a:spcPct val="103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 Attrition Rate</a:t>
            </a:r>
            <a:endParaRPr lang="en-US" sz="1250" dirty="0"/>
          </a:p>
        </p:txBody>
      </p:sp>
      <p:sp>
        <p:nvSpPr>
          <p:cNvPr id="8" name="Text 5"/>
          <p:cNvSpPr/>
          <p:nvPr/>
        </p:nvSpPr>
        <p:spPr>
          <a:xfrm>
            <a:off x="777240" y="2926080"/>
            <a:ext cx="2240280" cy="777240"/>
          </a:xfrm>
          <a:prstGeom prst="rect">
            <a:avLst/>
          </a:prstGeom>
          <a:noFill/>
        </p:spPr>
        <p:txBody>
          <a:bodyPr wrap="square" rtlCol="0" anchor="ctr"/>
          <a:lstStyle/>
          <a:p>
            <a:pPr marL="0" indent="0">
              <a:lnSpc>
                <a:spcPct val="108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27.5% lifetime attrition, with a 50% spike in Accounting.</a:t>
            </a:r>
            <a:endParaRPr lang="en-US" sz="1000" dirty="0"/>
          </a:p>
        </p:txBody>
      </p:sp>
      <p:sp>
        <p:nvSpPr>
          <p:cNvPr id="9" name="Shape 6"/>
          <p:cNvSpPr/>
          <p:nvPr/>
        </p:nvSpPr>
        <p:spPr>
          <a:xfrm>
            <a:off x="3383280" y="1691640"/>
            <a:ext cx="2606040" cy="2103120"/>
          </a:xfrm>
          <a:prstGeom prst="roundRect">
            <a:avLst>
              <a:gd name="adj" fmla="val 4348"/>
            </a:avLst>
          </a:prstGeom>
          <a:solidFill>
            <a:srgbClr val="0F2A52"/>
          </a:solidFill>
          <a:ln w="12700">
            <a:solidFill>
              <a:srgbClr val="3A5578"/>
            </a:solidFill>
            <a:prstDash val="solid"/>
          </a:ln>
        </p:spPr>
      </p:sp>
      <p:sp>
        <p:nvSpPr>
          <p:cNvPr id="10" name="Shape 7"/>
          <p:cNvSpPr/>
          <p:nvPr/>
        </p:nvSpPr>
        <p:spPr>
          <a:xfrm>
            <a:off x="3566160" y="1874520"/>
            <a:ext cx="457200" cy="457200"/>
          </a:xfrm>
          <a:prstGeom prst="ellipse">
            <a:avLst/>
          </a:prstGeom>
          <a:solidFill>
            <a:srgbClr val="D65C5C"/>
          </a:solidFill>
        </p:spPr>
        <p:txBody>
          <a:bodyPr/>
          <a:lstStyle/>
          <a:p>
            <a:endParaRPr lang="en-US"/>
          </a:p>
        </p:txBody>
      </p:sp>
      <p:pic>
        <p:nvPicPr>
          <p:cNvPr id="11" name="Image 1" descr="/home/claude/pptx_build/icons/building_white.png"/>
          <p:cNvPicPr>
            <a:picLocks noChangeAspect="1"/>
          </p:cNvPicPr>
          <p:nvPr/>
        </p:nvPicPr>
        <p:blipFill>
          <a:blip r:embed="rId4"/>
          <a:stretch>
            <a:fillRect/>
          </a:stretch>
        </p:blipFill>
        <p:spPr>
          <a:xfrm>
            <a:off x="3667506" y="1947291"/>
            <a:ext cx="274320" cy="274320"/>
          </a:xfrm>
          <a:prstGeom prst="rect">
            <a:avLst/>
          </a:prstGeom>
        </p:spPr>
      </p:pic>
      <p:sp>
        <p:nvSpPr>
          <p:cNvPr id="12" name="Text 8"/>
          <p:cNvSpPr/>
          <p:nvPr/>
        </p:nvSpPr>
        <p:spPr>
          <a:xfrm>
            <a:off x="3566160" y="2423160"/>
            <a:ext cx="2240280" cy="502920"/>
          </a:xfrm>
          <a:prstGeom prst="rect">
            <a:avLst/>
          </a:prstGeom>
          <a:noFill/>
        </p:spPr>
        <p:txBody>
          <a:bodyPr wrap="square" rtlCol="0" anchor="ctr"/>
          <a:lstStyle/>
          <a:p>
            <a:pPr marL="0" indent="0">
              <a:lnSpc>
                <a:spcPct val="103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Uneven Department Distribution</a:t>
            </a:r>
            <a:endParaRPr lang="en-US" sz="1250" dirty="0"/>
          </a:p>
        </p:txBody>
      </p:sp>
      <p:sp>
        <p:nvSpPr>
          <p:cNvPr id="13" name="Text 9"/>
          <p:cNvSpPr/>
          <p:nvPr/>
        </p:nvSpPr>
        <p:spPr>
          <a:xfrm>
            <a:off x="3566160" y="2926080"/>
            <a:ext cx="2240280" cy="777240"/>
          </a:xfrm>
          <a:prstGeom prst="rect">
            <a:avLst/>
          </a:prstGeom>
          <a:noFill/>
        </p:spPr>
        <p:txBody>
          <a:bodyPr wrap="square" rtlCol="0" anchor="ctr"/>
          <a:lstStyle/>
          <a:p>
            <a:pPr marL="0" indent="0">
              <a:lnSpc>
                <a:spcPct val="108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Operations and HR carry the largest, and riskiest, headcount share.</a:t>
            </a:r>
            <a:endParaRPr lang="en-US" sz="1000" dirty="0"/>
          </a:p>
        </p:txBody>
      </p:sp>
      <p:sp>
        <p:nvSpPr>
          <p:cNvPr id="14" name="Shape 10"/>
          <p:cNvSpPr/>
          <p:nvPr/>
        </p:nvSpPr>
        <p:spPr>
          <a:xfrm>
            <a:off x="6172200" y="1691640"/>
            <a:ext cx="2606040" cy="2103120"/>
          </a:xfrm>
          <a:prstGeom prst="roundRect">
            <a:avLst>
              <a:gd name="adj" fmla="val 4348"/>
            </a:avLst>
          </a:prstGeom>
          <a:solidFill>
            <a:srgbClr val="0F2A52"/>
          </a:solidFill>
          <a:ln w="12700">
            <a:solidFill>
              <a:srgbClr val="3A5578"/>
            </a:solidFill>
            <a:prstDash val="solid"/>
          </a:ln>
        </p:spPr>
      </p:sp>
      <p:sp>
        <p:nvSpPr>
          <p:cNvPr id="15" name="Shape 11"/>
          <p:cNvSpPr/>
          <p:nvPr/>
        </p:nvSpPr>
        <p:spPr>
          <a:xfrm>
            <a:off x="6355080" y="1874520"/>
            <a:ext cx="457200" cy="457200"/>
          </a:xfrm>
          <a:prstGeom prst="ellipse">
            <a:avLst/>
          </a:prstGeom>
          <a:solidFill>
            <a:srgbClr val="D65C5C"/>
          </a:solidFill>
        </p:spPr>
      </p:sp>
      <p:pic>
        <p:nvPicPr>
          <p:cNvPr id="16" name="Image 2" descr="/home/claude/pptx_build/icons/sitemap_white.png"/>
          <p:cNvPicPr>
            <a:picLocks noChangeAspect="1"/>
          </p:cNvPicPr>
          <p:nvPr/>
        </p:nvPicPr>
        <p:blipFill>
          <a:blip r:embed="rId5"/>
          <a:stretch>
            <a:fillRect/>
          </a:stretch>
        </p:blipFill>
        <p:spPr>
          <a:xfrm>
            <a:off x="6446266" y="1947291"/>
            <a:ext cx="274320" cy="274320"/>
          </a:xfrm>
          <a:prstGeom prst="rect">
            <a:avLst/>
          </a:prstGeom>
        </p:spPr>
      </p:pic>
      <p:sp>
        <p:nvSpPr>
          <p:cNvPr id="17" name="Text 12"/>
          <p:cNvSpPr/>
          <p:nvPr/>
        </p:nvSpPr>
        <p:spPr>
          <a:xfrm>
            <a:off x="6355080" y="2423160"/>
            <a:ext cx="2240280" cy="502920"/>
          </a:xfrm>
          <a:prstGeom prst="rect">
            <a:avLst/>
          </a:prstGeom>
          <a:noFill/>
        </p:spPr>
        <p:txBody>
          <a:bodyPr wrap="square" rtlCol="0" anchor="ctr"/>
          <a:lstStyle/>
          <a:p>
            <a:pPr marL="0" indent="0">
              <a:lnSpc>
                <a:spcPct val="103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Management Shortage</a:t>
            </a:r>
            <a:endParaRPr lang="en-US" sz="1250" dirty="0"/>
          </a:p>
        </p:txBody>
      </p:sp>
      <p:sp>
        <p:nvSpPr>
          <p:cNvPr id="18" name="Text 13"/>
          <p:cNvSpPr/>
          <p:nvPr/>
        </p:nvSpPr>
        <p:spPr>
          <a:xfrm>
            <a:off x="6355080" y="2926080"/>
            <a:ext cx="2240280" cy="777240"/>
          </a:xfrm>
          <a:prstGeom prst="rect">
            <a:avLst/>
          </a:prstGeom>
          <a:noFill/>
        </p:spPr>
        <p:txBody>
          <a:bodyPr wrap="square" rtlCol="0" anchor="ctr"/>
          <a:lstStyle/>
          <a:p>
            <a:pPr marL="0" indent="0">
              <a:lnSpc>
                <a:spcPct val="108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Span of control ranges from 4 to 42 reports with no structural logic.</a:t>
            </a:r>
            <a:endParaRPr lang="en-US" sz="1000" dirty="0"/>
          </a:p>
        </p:txBody>
      </p:sp>
      <p:sp>
        <p:nvSpPr>
          <p:cNvPr id="19" name="Shape 14"/>
          <p:cNvSpPr/>
          <p:nvPr/>
        </p:nvSpPr>
        <p:spPr>
          <a:xfrm>
            <a:off x="8961120" y="1691640"/>
            <a:ext cx="2606040" cy="2103120"/>
          </a:xfrm>
          <a:prstGeom prst="roundRect">
            <a:avLst>
              <a:gd name="adj" fmla="val 4348"/>
            </a:avLst>
          </a:prstGeom>
          <a:solidFill>
            <a:srgbClr val="0F2A52"/>
          </a:solidFill>
          <a:ln w="12700">
            <a:solidFill>
              <a:srgbClr val="3A5578"/>
            </a:solidFill>
            <a:prstDash val="solid"/>
          </a:ln>
        </p:spPr>
      </p:sp>
      <p:sp>
        <p:nvSpPr>
          <p:cNvPr id="20" name="Shape 15"/>
          <p:cNvSpPr/>
          <p:nvPr/>
        </p:nvSpPr>
        <p:spPr>
          <a:xfrm>
            <a:off x="9144000" y="1874520"/>
            <a:ext cx="457200" cy="457200"/>
          </a:xfrm>
          <a:prstGeom prst="ellipse">
            <a:avLst/>
          </a:prstGeom>
          <a:solidFill>
            <a:srgbClr val="D65C5C"/>
          </a:solidFill>
        </p:spPr>
      </p:sp>
      <p:pic>
        <p:nvPicPr>
          <p:cNvPr id="21" name="Image 3" descr="/home/claude/pptx_build/icons/userSlash_white.png"/>
          <p:cNvPicPr>
            <a:picLocks noChangeAspect="1"/>
          </p:cNvPicPr>
          <p:nvPr/>
        </p:nvPicPr>
        <p:blipFill>
          <a:blip r:embed="rId6"/>
          <a:stretch>
            <a:fillRect/>
          </a:stretch>
        </p:blipFill>
        <p:spPr>
          <a:xfrm>
            <a:off x="9235186" y="1947291"/>
            <a:ext cx="274320" cy="274320"/>
          </a:xfrm>
          <a:prstGeom prst="rect">
            <a:avLst/>
          </a:prstGeom>
        </p:spPr>
      </p:pic>
      <p:sp>
        <p:nvSpPr>
          <p:cNvPr id="22" name="Text 16"/>
          <p:cNvSpPr/>
          <p:nvPr/>
        </p:nvSpPr>
        <p:spPr>
          <a:xfrm>
            <a:off x="9144000" y="2423160"/>
            <a:ext cx="2240280" cy="502920"/>
          </a:xfrm>
          <a:prstGeom prst="rect">
            <a:avLst/>
          </a:prstGeom>
          <a:noFill/>
        </p:spPr>
        <p:txBody>
          <a:bodyPr wrap="square" rtlCol="0" anchor="ctr"/>
          <a:lstStyle/>
          <a:p>
            <a:pPr marL="0" indent="0">
              <a:lnSpc>
                <a:spcPct val="103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 Turnover Under Specific Managers</a:t>
            </a:r>
            <a:endParaRPr lang="en-US" sz="1250" dirty="0"/>
          </a:p>
        </p:txBody>
      </p:sp>
      <p:sp>
        <p:nvSpPr>
          <p:cNvPr id="23" name="Text 17"/>
          <p:cNvSpPr/>
          <p:nvPr/>
        </p:nvSpPr>
        <p:spPr>
          <a:xfrm>
            <a:off x="9144000" y="2926080"/>
            <a:ext cx="2240280" cy="777240"/>
          </a:xfrm>
          <a:prstGeom prst="rect">
            <a:avLst/>
          </a:prstGeom>
          <a:noFill/>
        </p:spPr>
        <p:txBody>
          <a:bodyPr wrap="square" rtlCol="0" anchor="ctr"/>
          <a:lstStyle/>
          <a:p>
            <a:pPr marL="0" indent="0">
              <a:lnSpc>
                <a:spcPct val="108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Three managers each run 36%+ team attrition.</a:t>
            </a:r>
            <a:endParaRPr lang="en-US" sz="1000" dirty="0"/>
          </a:p>
        </p:txBody>
      </p:sp>
      <p:sp>
        <p:nvSpPr>
          <p:cNvPr id="24" name="Shape 18"/>
          <p:cNvSpPr/>
          <p:nvPr/>
        </p:nvSpPr>
        <p:spPr>
          <a:xfrm>
            <a:off x="594360" y="3959352"/>
            <a:ext cx="2606040" cy="2103120"/>
          </a:xfrm>
          <a:prstGeom prst="roundRect">
            <a:avLst>
              <a:gd name="adj" fmla="val 4348"/>
            </a:avLst>
          </a:prstGeom>
          <a:solidFill>
            <a:srgbClr val="0F2A52"/>
          </a:solidFill>
          <a:ln w="12700">
            <a:solidFill>
              <a:srgbClr val="3A5578"/>
            </a:solidFill>
            <a:prstDash val="solid"/>
          </a:ln>
        </p:spPr>
      </p:sp>
      <p:sp>
        <p:nvSpPr>
          <p:cNvPr id="25" name="Shape 19"/>
          <p:cNvSpPr/>
          <p:nvPr/>
        </p:nvSpPr>
        <p:spPr>
          <a:xfrm>
            <a:off x="777240" y="4142232"/>
            <a:ext cx="457200" cy="457200"/>
          </a:xfrm>
          <a:prstGeom prst="ellipse">
            <a:avLst/>
          </a:prstGeom>
          <a:solidFill>
            <a:srgbClr val="D65C5C"/>
          </a:solidFill>
        </p:spPr>
      </p:sp>
      <p:pic>
        <p:nvPicPr>
          <p:cNvPr id="26" name="Image 4" descr="/home/claude/pptx_build/icons/arrowDown_white.png"/>
          <p:cNvPicPr>
            <a:picLocks noChangeAspect="1"/>
          </p:cNvPicPr>
          <p:nvPr/>
        </p:nvPicPr>
        <p:blipFill>
          <a:blip r:embed="rId7"/>
          <a:stretch>
            <a:fillRect/>
          </a:stretch>
        </p:blipFill>
        <p:spPr>
          <a:xfrm>
            <a:off x="878586" y="4237228"/>
            <a:ext cx="274320" cy="274320"/>
          </a:xfrm>
          <a:prstGeom prst="rect">
            <a:avLst/>
          </a:prstGeom>
        </p:spPr>
      </p:pic>
      <p:sp>
        <p:nvSpPr>
          <p:cNvPr id="27" name="Text 20"/>
          <p:cNvSpPr/>
          <p:nvPr/>
        </p:nvSpPr>
        <p:spPr>
          <a:xfrm>
            <a:off x="777240" y="4690872"/>
            <a:ext cx="2240280" cy="502920"/>
          </a:xfrm>
          <a:prstGeom prst="rect">
            <a:avLst/>
          </a:prstGeom>
          <a:noFill/>
        </p:spPr>
        <p:txBody>
          <a:bodyPr wrap="square" rtlCol="0" anchor="ctr"/>
          <a:lstStyle/>
          <a:p>
            <a:pPr marL="0" indent="0">
              <a:lnSpc>
                <a:spcPct val="103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Weak Retention Safety Valve</a:t>
            </a:r>
            <a:endParaRPr lang="en-US" sz="1250" dirty="0"/>
          </a:p>
        </p:txBody>
      </p:sp>
      <p:sp>
        <p:nvSpPr>
          <p:cNvPr id="28" name="Text 21"/>
          <p:cNvSpPr/>
          <p:nvPr/>
        </p:nvSpPr>
        <p:spPr>
          <a:xfrm>
            <a:off x="777240" y="5193792"/>
            <a:ext cx="2240280" cy="777240"/>
          </a:xfrm>
          <a:prstGeom prst="rect">
            <a:avLst/>
          </a:prstGeom>
          <a:noFill/>
        </p:spPr>
        <p:txBody>
          <a:bodyPr wrap="square" rtlCol="0" anchor="ctr"/>
          <a:lstStyle/>
          <a:p>
            <a:pPr marL="0" indent="0">
              <a:lnSpc>
                <a:spcPct val="108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Just 6 internal transfers recorded against 47 exits.</a:t>
            </a:r>
            <a:endParaRPr lang="en-US" sz="1000" dirty="0"/>
          </a:p>
        </p:txBody>
      </p:sp>
      <p:sp>
        <p:nvSpPr>
          <p:cNvPr id="29" name="Shape 22"/>
          <p:cNvSpPr/>
          <p:nvPr/>
        </p:nvSpPr>
        <p:spPr>
          <a:xfrm>
            <a:off x="3383280" y="3959352"/>
            <a:ext cx="2606040" cy="2103120"/>
          </a:xfrm>
          <a:prstGeom prst="roundRect">
            <a:avLst>
              <a:gd name="adj" fmla="val 4348"/>
            </a:avLst>
          </a:prstGeom>
          <a:solidFill>
            <a:srgbClr val="0F2A52"/>
          </a:solidFill>
          <a:ln w="12700">
            <a:solidFill>
              <a:srgbClr val="3A5578"/>
            </a:solidFill>
            <a:prstDash val="solid"/>
          </a:ln>
        </p:spPr>
      </p:sp>
      <p:sp>
        <p:nvSpPr>
          <p:cNvPr id="30" name="Shape 23"/>
          <p:cNvSpPr/>
          <p:nvPr/>
        </p:nvSpPr>
        <p:spPr>
          <a:xfrm>
            <a:off x="3566160" y="4142232"/>
            <a:ext cx="457200" cy="457200"/>
          </a:xfrm>
          <a:prstGeom prst="ellipse">
            <a:avLst/>
          </a:prstGeom>
          <a:solidFill>
            <a:srgbClr val="D65C5C"/>
          </a:solidFill>
        </p:spPr>
      </p:sp>
      <p:pic>
        <p:nvPicPr>
          <p:cNvPr id="31" name="Image 5" descr="/home/claude/pptx_build/icons/anchor_white.png"/>
          <p:cNvPicPr>
            <a:picLocks noChangeAspect="1"/>
          </p:cNvPicPr>
          <p:nvPr/>
        </p:nvPicPr>
        <p:blipFill>
          <a:blip r:embed="rId8"/>
          <a:stretch>
            <a:fillRect/>
          </a:stretch>
        </p:blipFill>
        <p:spPr>
          <a:xfrm>
            <a:off x="3667506" y="4237228"/>
            <a:ext cx="274320" cy="274320"/>
          </a:xfrm>
          <a:prstGeom prst="rect">
            <a:avLst/>
          </a:prstGeom>
        </p:spPr>
      </p:pic>
      <p:sp>
        <p:nvSpPr>
          <p:cNvPr id="32" name="Text 24"/>
          <p:cNvSpPr/>
          <p:nvPr/>
        </p:nvSpPr>
        <p:spPr>
          <a:xfrm>
            <a:off x="3566160" y="4690872"/>
            <a:ext cx="2240280" cy="502920"/>
          </a:xfrm>
          <a:prstGeom prst="rect">
            <a:avLst/>
          </a:prstGeom>
          <a:noFill/>
        </p:spPr>
        <p:txBody>
          <a:bodyPr wrap="square" rtlCol="0" anchor="ctr"/>
          <a:lstStyle/>
          <a:p>
            <a:pPr marL="0" indent="0">
              <a:lnSpc>
                <a:spcPct val="103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Low Early-Tenure Stability</a:t>
            </a:r>
            <a:endParaRPr lang="en-US" sz="1250" dirty="0"/>
          </a:p>
        </p:txBody>
      </p:sp>
      <p:sp>
        <p:nvSpPr>
          <p:cNvPr id="33" name="Text 25"/>
          <p:cNvSpPr/>
          <p:nvPr/>
        </p:nvSpPr>
        <p:spPr>
          <a:xfrm>
            <a:off x="3566160" y="5193792"/>
            <a:ext cx="2240280" cy="777240"/>
          </a:xfrm>
          <a:prstGeom prst="rect">
            <a:avLst/>
          </a:prstGeom>
          <a:noFill/>
        </p:spPr>
        <p:txBody>
          <a:bodyPr wrap="square" rtlCol="0" anchor="ctr"/>
          <a:lstStyle/>
          <a:p>
            <a:pPr marL="0" indent="0">
              <a:lnSpc>
                <a:spcPct val="108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A meaningful share of hires exit before reaching two years.</a:t>
            </a:r>
            <a:endParaRPr lang="en-US" sz="1000" dirty="0"/>
          </a:p>
        </p:txBody>
      </p:sp>
      <p:sp>
        <p:nvSpPr>
          <p:cNvPr id="34" name="Shape 26"/>
          <p:cNvSpPr/>
          <p:nvPr/>
        </p:nvSpPr>
        <p:spPr>
          <a:xfrm>
            <a:off x="6172200" y="3959352"/>
            <a:ext cx="2606040" cy="2103120"/>
          </a:xfrm>
          <a:prstGeom prst="roundRect">
            <a:avLst>
              <a:gd name="adj" fmla="val 4348"/>
            </a:avLst>
          </a:prstGeom>
          <a:solidFill>
            <a:srgbClr val="0F2A52"/>
          </a:solidFill>
          <a:ln w="12700">
            <a:solidFill>
              <a:srgbClr val="3A5578"/>
            </a:solidFill>
            <a:prstDash val="solid"/>
          </a:ln>
        </p:spPr>
      </p:sp>
      <p:sp>
        <p:nvSpPr>
          <p:cNvPr id="35" name="Shape 27"/>
          <p:cNvSpPr/>
          <p:nvPr/>
        </p:nvSpPr>
        <p:spPr>
          <a:xfrm>
            <a:off x="6355080" y="4142232"/>
            <a:ext cx="457200" cy="457200"/>
          </a:xfrm>
          <a:prstGeom prst="ellipse">
            <a:avLst/>
          </a:prstGeom>
          <a:solidFill>
            <a:srgbClr val="D65C5C"/>
          </a:solidFill>
        </p:spPr>
      </p:sp>
      <p:pic>
        <p:nvPicPr>
          <p:cNvPr id="36" name="Image 6" descr="/home/claude/pptx_build/icons/contract_white.png"/>
          <p:cNvPicPr>
            <a:picLocks noChangeAspect="1"/>
          </p:cNvPicPr>
          <p:nvPr/>
        </p:nvPicPr>
        <p:blipFill>
          <a:blip r:embed="rId9"/>
          <a:stretch>
            <a:fillRect/>
          </a:stretch>
        </p:blipFill>
        <p:spPr>
          <a:xfrm>
            <a:off x="6456426" y="4237228"/>
            <a:ext cx="274320" cy="274320"/>
          </a:xfrm>
          <a:prstGeom prst="rect">
            <a:avLst/>
          </a:prstGeom>
        </p:spPr>
      </p:pic>
      <p:sp>
        <p:nvSpPr>
          <p:cNvPr id="37" name="Text 28"/>
          <p:cNvSpPr/>
          <p:nvPr/>
        </p:nvSpPr>
        <p:spPr>
          <a:xfrm>
            <a:off x="6355080" y="4690872"/>
            <a:ext cx="2240280" cy="502920"/>
          </a:xfrm>
          <a:prstGeom prst="rect">
            <a:avLst/>
          </a:prstGeom>
          <a:noFill/>
        </p:spPr>
        <p:txBody>
          <a:bodyPr wrap="square" rtlCol="0" anchor="ctr"/>
          <a:lstStyle/>
          <a:p>
            <a:pPr marL="0" indent="0">
              <a:lnSpc>
                <a:spcPct val="103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Contractor Dependency Risk</a:t>
            </a:r>
            <a:endParaRPr lang="en-US" sz="1250" dirty="0"/>
          </a:p>
        </p:txBody>
      </p:sp>
      <p:sp>
        <p:nvSpPr>
          <p:cNvPr id="38" name="Text 29"/>
          <p:cNvSpPr/>
          <p:nvPr/>
        </p:nvSpPr>
        <p:spPr>
          <a:xfrm>
            <a:off x="6355080" y="5193792"/>
            <a:ext cx="2240280" cy="777240"/>
          </a:xfrm>
          <a:prstGeom prst="rect">
            <a:avLst/>
          </a:prstGeom>
          <a:noFill/>
        </p:spPr>
        <p:txBody>
          <a:bodyPr wrap="square" rtlCol="0" anchor="ctr"/>
          <a:lstStyle/>
          <a:p>
            <a:pPr marL="0" indent="0">
              <a:lnSpc>
                <a:spcPct val="108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Contract staff attrite at 43.5% — nearly double permanent staff.</a:t>
            </a:r>
            <a:endParaRPr lang="en-US" sz="1000" dirty="0"/>
          </a:p>
        </p:txBody>
      </p:sp>
      <p:sp>
        <p:nvSpPr>
          <p:cNvPr id="39" name="Text 30"/>
          <p:cNvSpPr/>
          <p:nvPr/>
        </p:nvSpPr>
        <p:spPr>
          <a:xfrm>
            <a:off x="548640" y="6519672"/>
            <a:ext cx="6400800" cy="274320"/>
          </a:xfrm>
          <a:prstGeom prst="rect">
            <a:avLst/>
          </a:prstGeom>
          <a:noFill/>
        </p:spPr>
        <p:txBody>
          <a:bodyPr wrap="square" rtlCol="0" anchor="ctr"/>
          <a:lstStyle/>
          <a:p>
            <a:pPr marL="0" indent="0" algn="l">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HR Analytics Performance Dashboard</a:t>
            </a:r>
            <a:endParaRPr lang="en-US" sz="1000" dirty="0"/>
          </a:p>
        </p:txBody>
      </p:sp>
      <p:sp>
        <p:nvSpPr>
          <p:cNvPr id="40" name="Text 31"/>
          <p:cNvSpPr/>
          <p:nvPr/>
        </p:nvSpPr>
        <p:spPr>
          <a:xfrm>
            <a:off x="10881360" y="6519672"/>
            <a:ext cx="777240" cy="274320"/>
          </a:xfrm>
          <a:prstGeom prst="rect">
            <a:avLst/>
          </a:prstGeom>
          <a:noFill/>
        </p:spPr>
        <p:txBody>
          <a:bodyPr wrap="square" rtlCol="0" anchor="ctr"/>
          <a:lstStyle/>
          <a:p>
            <a:pPr marL="0" indent="0" algn="r">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07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640080" y="438912"/>
            <a:ext cx="8229600" cy="320040"/>
          </a:xfrm>
          <a:prstGeom prst="rect">
            <a:avLst/>
          </a:prstGeom>
          <a:noFill/>
        </p:spPr>
        <p:txBody>
          <a:bodyPr wrap="square" rtlCol="0" anchor="ctr"/>
          <a:lstStyle/>
          <a:p>
            <a:pPr marL="0" indent="0">
              <a:buNone/>
            </a:pPr>
            <a:r>
              <a:rPr lang="en-US" sz="1300" b="1" kern="0" spc="200" dirty="0">
                <a:solidFill>
                  <a:srgbClr val="0E7490"/>
                </a:solidFill>
                <a:latin typeface="Calibri" panose="020F0502020204030204" pitchFamily="34" charset="0"/>
                <a:ea typeface="Calibri" panose="020F0502020204030204" pitchFamily="34" charset="-122"/>
                <a:cs typeface="Calibri" panose="020F0502020204030204" pitchFamily="34" charset="-120"/>
              </a:rPr>
              <a:t>RECOMMENDATIONS</a:t>
            </a:r>
            <a:endParaRPr lang="en-US" sz="1300" dirty="0"/>
          </a:p>
        </p:txBody>
      </p:sp>
      <p:sp>
        <p:nvSpPr>
          <p:cNvPr id="3" name="Text 1"/>
          <p:cNvSpPr/>
          <p:nvPr/>
        </p:nvSpPr>
        <p:spPr>
          <a:xfrm>
            <a:off x="640080" y="749808"/>
            <a:ext cx="10515600" cy="777240"/>
          </a:xfrm>
          <a:prstGeom prst="rect">
            <a:avLst/>
          </a:prstGeom>
          <a:noFill/>
        </p:spPr>
        <p:txBody>
          <a:bodyPr wrap="square" rtlCol="0" anchor="ctr"/>
          <a:lstStyle/>
          <a:p>
            <a:pPr marL="0" indent="0">
              <a:buNone/>
            </a:pPr>
            <a:r>
              <a:rPr lang="en-US" sz="3200" b="1" dirty="0">
                <a:solidFill>
                  <a:srgbClr val="0A1F3D"/>
                </a:solidFill>
                <a:latin typeface="Cambria" panose="02040503050406030204" pitchFamily="34" charset="0"/>
                <a:ea typeface="Cambria" panose="02040503050406030204" pitchFamily="34" charset="-122"/>
                <a:cs typeface="Cambria" panose="02040503050406030204" pitchFamily="34" charset="-120"/>
              </a:rPr>
              <a:t>Targeted Actions, Not a Blanket Initiative</a:t>
            </a:r>
            <a:endParaRPr lang="en-US" sz="3200" dirty="0"/>
          </a:p>
        </p:txBody>
      </p:sp>
      <p:sp>
        <p:nvSpPr>
          <p:cNvPr id="4" name="Shape 2"/>
          <p:cNvSpPr/>
          <p:nvPr/>
        </p:nvSpPr>
        <p:spPr>
          <a:xfrm>
            <a:off x="594360" y="1737360"/>
            <a:ext cx="2606040" cy="1965960"/>
          </a:xfrm>
          <a:prstGeom prst="roundRect">
            <a:avLst>
              <a:gd name="adj" fmla="val 4651"/>
            </a:avLst>
          </a:prstGeom>
          <a:solidFill>
            <a:srgbClr val="FFFFFF"/>
          </a:solidFill>
          <a:effectLst>
            <a:outerShdw blurRad="101600" dist="38100" dir="5400000" algn="bl" rotWithShape="0">
              <a:srgbClr val="0A1F3D">
                <a:alpha val="16000"/>
              </a:srgbClr>
            </a:outerShdw>
          </a:effectLst>
        </p:spPr>
      </p:sp>
      <p:sp>
        <p:nvSpPr>
          <p:cNvPr id="5" name="Shape 3"/>
          <p:cNvSpPr/>
          <p:nvPr/>
        </p:nvSpPr>
        <p:spPr>
          <a:xfrm>
            <a:off x="795528" y="1938528"/>
            <a:ext cx="502920" cy="502920"/>
          </a:xfrm>
          <a:prstGeom prst="ellipse">
            <a:avLst/>
          </a:prstGeom>
          <a:solidFill>
            <a:srgbClr val="22D3EE"/>
          </a:solidFill>
        </p:spPr>
      </p:sp>
      <p:pic>
        <p:nvPicPr>
          <p:cNvPr id="6" name="Image 0" descr="/home/claude/pptx_build/icons/award_navy.png"/>
          <p:cNvPicPr>
            <a:picLocks noChangeAspect="1"/>
          </p:cNvPicPr>
          <p:nvPr/>
        </p:nvPicPr>
        <p:blipFill>
          <a:blip r:embed="rId3"/>
          <a:stretch>
            <a:fillRect/>
          </a:stretch>
        </p:blipFill>
        <p:spPr>
          <a:xfrm>
            <a:off x="940689" y="2053209"/>
            <a:ext cx="274320" cy="274320"/>
          </a:xfrm>
          <a:prstGeom prst="rect">
            <a:avLst/>
          </a:prstGeom>
        </p:spPr>
      </p:pic>
      <p:sp>
        <p:nvSpPr>
          <p:cNvPr id="7" name="Text 4"/>
          <p:cNvSpPr/>
          <p:nvPr/>
        </p:nvSpPr>
        <p:spPr>
          <a:xfrm>
            <a:off x="777240" y="2514600"/>
            <a:ext cx="2240280" cy="502920"/>
          </a:xfrm>
          <a:prstGeom prst="rect">
            <a:avLst/>
          </a:prstGeom>
          <a:noFill/>
        </p:spPr>
        <p:txBody>
          <a:bodyPr wrap="square" rtlCol="0" anchor="ctr"/>
          <a:lstStyle/>
          <a:p>
            <a:pPr marL="0" indent="0">
              <a:lnSpc>
                <a:spcPct val="105000"/>
              </a:lnSpc>
              <a:buNone/>
            </a:pPr>
            <a:r>
              <a:rPr lang="en-US" sz="1250" b="1" dirty="0">
                <a:solidFill>
                  <a:srgbClr val="0A1F3D"/>
                </a:solidFill>
                <a:latin typeface="Calibri" panose="020F0502020204030204" pitchFamily="34" charset="0"/>
                <a:ea typeface="Calibri" panose="020F0502020204030204" pitchFamily="34" charset="-122"/>
                <a:cs typeface="Calibri" panose="020F0502020204030204" pitchFamily="34" charset="-120"/>
              </a:rPr>
              <a:t>Retention Programs</a:t>
            </a:r>
            <a:endParaRPr lang="en-US" sz="1250" dirty="0"/>
          </a:p>
        </p:txBody>
      </p:sp>
      <p:sp>
        <p:nvSpPr>
          <p:cNvPr id="8" name="Text 5"/>
          <p:cNvSpPr/>
          <p:nvPr/>
        </p:nvSpPr>
        <p:spPr>
          <a:xfrm>
            <a:off x="777240" y="2999232"/>
            <a:ext cx="2240280" cy="640080"/>
          </a:xfrm>
          <a:prstGeom prst="rect">
            <a:avLst/>
          </a:prstGeom>
          <a:noFill/>
        </p:spPr>
        <p:txBody>
          <a:bodyPr wrap="square" rtlCol="0" anchor="ctr"/>
          <a:lstStyle/>
          <a:p>
            <a:pPr marL="0" indent="0">
              <a:lnSpc>
                <a:spcPct val="110000"/>
              </a:lnSpc>
              <a:buNone/>
            </a:pPr>
            <a:r>
              <a:rPr lang="en-US" sz="1000" dirty="0">
                <a:solidFill>
                  <a:srgbClr val="45536B"/>
                </a:solidFill>
                <a:latin typeface="Calibri" panose="020F0502020204030204" pitchFamily="34" charset="0"/>
                <a:ea typeface="Calibri" panose="020F0502020204030204" pitchFamily="34" charset="-122"/>
                <a:cs typeface="Calibri" panose="020F0502020204030204" pitchFamily="34" charset="-120"/>
              </a:rPr>
              <a:t>Focus first on Accounting and the highest-attrition manager teams.</a:t>
            </a:r>
            <a:endParaRPr lang="en-US" sz="1000" dirty="0"/>
          </a:p>
        </p:txBody>
      </p:sp>
      <p:sp>
        <p:nvSpPr>
          <p:cNvPr id="9" name="Shape 6"/>
          <p:cNvSpPr/>
          <p:nvPr/>
        </p:nvSpPr>
        <p:spPr>
          <a:xfrm>
            <a:off x="3383280" y="1737360"/>
            <a:ext cx="2606040" cy="1965960"/>
          </a:xfrm>
          <a:prstGeom prst="roundRect">
            <a:avLst>
              <a:gd name="adj" fmla="val 4651"/>
            </a:avLst>
          </a:prstGeom>
          <a:solidFill>
            <a:srgbClr val="FFFFFF"/>
          </a:solidFill>
          <a:effectLst>
            <a:outerShdw blurRad="101600" dist="38100" dir="5400000" algn="bl" rotWithShape="0">
              <a:srgbClr val="0A1F3D">
                <a:alpha val="16000"/>
              </a:srgbClr>
            </a:outerShdw>
          </a:effectLst>
        </p:spPr>
      </p:sp>
      <p:sp>
        <p:nvSpPr>
          <p:cNvPr id="10" name="Shape 7"/>
          <p:cNvSpPr/>
          <p:nvPr/>
        </p:nvSpPr>
        <p:spPr>
          <a:xfrm>
            <a:off x="3584448" y="1938528"/>
            <a:ext cx="502920" cy="502920"/>
          </a:xfrm>
          <a:prstGeom prst="ellipse">
            <a:avLst/>
          </a:prstGeom>
          <a:solidFill>
            <a:srgbClr val="22D3EE"/>
          </a:solidFill>
        </p:spPr>
      </p:sp>
      <p:pic>
        <p:nvPicPr>
          <p:cNvPr id="11" name="Image 1" descr="/home/claude/pptx_build/icons/handshake_navy.png"/>
          <p:cNvPicPr>
            <a:picLocks noChangeAspect="1"/>
          </p:cNvPicPr>
          <p:nvPr/>
        </p:nvPicPr>
        <p:blipFill>
          <a:blip r:embed="rId4"/>
          <a:stretch>
            <a:fillRect/>
          </a:stretch>
        </p:blipFill>
        <p:spPr>
          <a:xfrm>
            <a:off x="3692144" y="2036064"/>
            <a:ext cx="274320" cy="274320"/>
          </a:xfrm>
          <a:prstGeom prst="rect">
            <a:avLst/>
          </a:prstGeom>
        </p:spPr>
      </p:pic>
      <p:sp>
        <p:nvSpPr>
          <p:cNvPr id="12" name="Text 8"/>
          <p:cNvSpPr/>
          <p:nvPr/>
        </p:nvSpPr>
        <p:spPr>
          <a:xfrm>
            <a:off x="3566160" y="2514600"/>
            <a:ext cx="2240280" cy="502920"/>
          </a:xfrm>
          <a:prstGeom prst="rect">
            <a:avLst/>
          </a:prstGeom>
          <a:noFill/>
        </p:spPr>
        <p:txBody>
          <a:bodyPr wrap="square" rtlCol="0" anchor="ctr"/>
          <a:lstStyle/>
          <a:p>
            <a:pPr marL="0" indent="0">
              <a:lnSpc>
                <a:spcPct val="105000"/>
              </a:lnSpc>
              <a:buNone/>
            </a:pPr>
            <a:r>
              <a:rPr lang="en-US" sz="1250" b="1" dirty="0">
                <a:solidFill>
                  <a:srgbClr val="0A1F3D"/>
                </a:solidFill>
                <a:latin typeface="Calibri" panose="020F0502020204030204" pitchFamily="34" charset="0"/>
                <a:ea typeface="Calibri" panose="020F0502020204030204" pitchFamily="34" charset="-122"/>
                <a:cs typeface="Calibri" panose="020F0502020204030204" pitchFamily="34" charset="-120"/>
              </a:rPr>
              <a:t>Employee Engagement</a:t>
            </a:r>
            <a:endParaRPr lang="en-US" sz="1250" dirty="0"/>
          </a:p>
        </p:txBody>
      </p:sp>
      <p:sp>
        <p:nvSpPr>
          <p:cNvPr id="13" name="Text 9"/>
          <p:cNvSpPr/>
          <p:nvPr/>
        </p:nvSpPr>
        <p:spPr>
          <a:xfrm>
            <a:off x="3566160" y="2999232"/>
            <a:ext cx="2240280" cy="640080"/>
          </a:xfrm>
          <a:prstGeom prst="rect">
            <a:avLst/>
          </a:prstGeom>
          <a:noFill/>
        </p:spPr>
        <p:txBody>
          <a:bodyPr wrap="square" rtlCol="0" anchor="ctr"/>
          <a:lstStyle/>
          <a:p>
            <a:pPr marL="0" indent="0">
              <a:lnSpc>
                <a:spcPct val="110000"/>
              </a:lnSpc>
              <a:buNone/>
            </a:pPr>
            <a:r>
              <a:rPr lang="en-US" sz="1000" dirty="0">
                <a:solidFill>
                  <a:srgbClr val="45536B"/>
                </a:solidFill>
                <a:latin typeface="Calibri" panose="020F0502020204030204" pitchFamily="34" charset="0"/>
                <a:ea typeface="Calibri" panose="020F0502020204030204" pitchFamily="34" charset="-122"/>
                <a:cs typeface="Calibri" panose="020F0502020204030204" pitchFamily="34" charset="-120"/>
              </a:rPr>
              <a:t>Pulse surveys to catch disengagement before resignation.</a:t>
            </a:r>
            <a:endParaRPr lang="en-US" sz="1000" dirty="0"/>
          </a:p>
        </p:txBody>
      </p:sp>
      <p:sp>
        <p:nvSpPr>
          <p:cNvPr id="14" name="Shape 10"/>
          <p:cNvSpPr/>
          <p:nvPr/>
        </p:nvSpPr>
        <p:spPr>
          <a:xfrm>
            <a:off x="6172200" y="1737360"/>
            <a:ext cx="2606040" cy="1965960"/>
          </a:xfrm>
          <a:prstGeom prst="roundRect">
            <a:avLst>
              <a:gd name="adj" fmla="val 4651"/>
            </a:avLst>
          </a:prstGeom>
          <a:solidFill>
            <a:srgbClr val="FFFFFF"/>
          </a:solidFill>
          <a:effectLst>
            <a:outerShdw blurRad="101600" dist="38100" dir="5400000" algn="bl" rotWithShape="0">
              <a:srgbClr val="0A1F3D">
                <a:alpha val="16000"/>
              </a:srgbClr>
            </a:outerShdw>
          </a:effectLst>
        </p:spPr>
      </p:sp>
      <p:sp>
        <p:nvSpPr>
          <p:cNvPr id="15" name="Shape 11"/>
          <p:cNvSpPr/>
          <p:nvPr/>
        </p:nvSpPr>
        <p:spPr>
          <a:xfrm>
            <a:off x="6373368" y="1938528"/>
            <a:ext cx="502920" cy="502920"/>
          </a:xfrm>
          <a:prstGeom prst="ellipse">
            <a:avLst/>
          </a:prstGeom>
          <a:solidFill>
            <a:srgbClr val="22D3EE"/>
          </a:solidFill>
        </p:spPr>
      </p:sp>
      <p:pic>
        <p:nvPicPr>
          <p:cNvPr id="16" name="Image 2" descr="/home/claude/pptx_build/icons/graduationCap_navy.png"/>
          <p:cNvPicPr>
            <a:picLocks noChangeAspect="1"/>
          </p:cNvPicPr>
          <p:nvPr/>
        </p:nvPicPr>
        <p:blipFill>
          <a:blip r:embed="rId5"/>
          <a:stretch>
            <a:fillRect/>
          </a:stretch>
        </p:blipFill>
        <p:spPr>
          <a:xfrm>
            <a:off x="6481064" y="2036064"/>
            <a:ext cx="274320" cy="274320"/>
          </a:xfrm>
          <a:prstGeom prst="rect">
            <a:avLst/>
          </a:prstGeom>
        </p:spPr>
      </p:pic>
      <p:sp>
        <p:nvSpPr>
          <p:cNvPr id="17" name="Text 12"/>
          <p:cNvSpPr/>
          <p:nvPr/>
        </p:nvSpPr>
        <p:spPr>
          <a:xfrm>
            <a:off x="6355080" y="2514600"/>
            <a:ext cx="2240280" cy="502920"/>
          </a:xfrm>
          <a:prstGeom prst="rect">
            <a:avLst/>
          </a:prstGeom>
          <a:noFill/>
        </p:spPr>
        <p:txBody>
          <a:bodyPr wrap="square" rtlCol="0" anchor="ctr"/>
          <a:lstStyle/>
          <a:p>
            <a:pPr marL="0" indent="0">
              <a:lnSpc>
                <a:spcPct val="105000"/>
              </a:lnSpc>
              <a:buNone/>
            </a:pPr>
            <a:r>
              <a:rPr lang="en-US" sz="1250" b="1" dirty="0">
                <a:solidFill>
                  <a:srgbClr val="0A1F3D"/>
                </a:solidFill>
                <a:latin typeface="Calibri" panose="020F0502020204030204" pitchFamily="34" charset="0"/>
                <a:ea typeface="Calibri" panose="020F0502020204030204" pitchFamily="34" charset="-122"/>
                <a:cs typeface="Calibri" panose="020F0502020204030204" pitchFamily="34" charset="-120"/>
              </a:rPr>
              <a:t>Career Development &amp; Training</a:t>
            </a:r>
            <a:endParaRPr lang="en-US" sz="1250" dirty="0"/>
          </a:p>
        </p:txBody>
      </p:sp>
      <p:sp>
        <p:nvSpPr>
          <p:cNvPr id="18" name="Text 13"/>
          <p:cNvSpPr/>
          <p:nvPr/>
        </p:nvSpPr>
        <p:spPr>
          <a:xfrm>
            <a:off x="6355080" y="2999232"/>
            <a:ext cx="2240280" cy="640080"/>
          </a:xfrm>
          <a:prstGeom prst="rect">
            <a:avLst/>
          </a:prstGeom>
          <a:noFill/>
        </p:spPr>
        <p:txBody>
          <a:bodyPr wrap="square" rtlCol="0" anchor="ctr"/>
          <a:lstStyle/>
          <a:p>
            <a:pPr marL="0" indent="0">
              <a:lnSpc>
                <a:spcPct val="110000"/>
              </a:lnSpc>
              <a:buNone/>
            </a:pPr>
            <a:r>
              <a:rPr lang="en-US" sz="1000" dirty="0">
                <a:solidFill>
                  <a:srgbClr val="45536B"/>
                </a:solidFill>
                <a:latin typeface="Calibri" panose="020F0502020204030204" pitchFamily="34" charset="0"/>
                <a:ea typeface="Calibri" panose="020F0502020204030204" pitchFamily="34" charset="-122"/>
                <a:cs typeface="Calibri" panose="020F0502020204030204" pitchFamily="34" charset="-120"/>
              </a:rPr>
              <a:t>Build a defined Trainee → Professional promotion path.</a:t>
            </a:r>
            <a:endParaRPr lang="en-US" sz="1000" dirty="0"/>
          </a:p>
        </p:txBody>
      </p:sp>
      <p:sp>
        <p:nvSpPr>
          <p:cNvPr id="19" name="Shape 14"/>
          <p:cNvSpPr/>
          <p:nvPr/>
        </p:nvSpPr>
        <p:spPr>
          <a:xfrm>
            <a:off x="8961120" y="1737360"/>
            <a:ext cx="2606040" cy="1965960"/>
          </a:xfrm>
          <a:prstGeom prst="roundRect">
            <a:avLst>
              <a:gd name="adj" fmla="val 4651"/>
            </a:avLst>
          </a:prstGeom>
          <a:solidFill>
            <a:srgbClr val="FFFFFF"/>
          </a:solidFill>
          <a:effectLst>
            <a:outerShdw blurRad="101600" dist="38100" dir="5400000" algn="bl" rotWithShape="0">
              <a:srgbClr val="0A1F3D">
                <a:alpha val="16000"/>
              </a:srgbClr>
            </a:outerShdw>
          </a:effectLst>
        </p:spPr>
      </p:sp>
      <p:sp>
        <p:nvSpPr>
          <p:cNvPr id="20" name="Shape 15"/>
          <p:cNvSpPr/>
          <p:nvPr/>
        </p:nvSpPr>
        <p:spPr>
          <a:xfrm>
            <a:off x="9162288" y="1938528"/>
            <a:ext cx="502920" cy="502920"/>
          </a:xfrm>
          <a:prstGeom prst="ellipse">
            <a:avLst/>
          </a:prstGeom>
          <a:solidFill>
            <a:srgbClr val="22D3EE"/>
          </a:solidFill>
        </p:spPr>
      </p:sp>
      <p:pic>
        <p:nvPicPr>
          <p:cNvPr id="21" name="Image 3" descr="/home/claude/pptx_build/icons/compass_navy.png"/>
          <p:cNvPicPr>
            <a:picLocks noChangeAspect="1"/>
          </p:cNvPicPr>
          <p:nvPr/>
        </p:nvPicPr>
        <p:blipFill>
          <a:blip r:embed="rId6"/>
          <a:stretch>
            <a:fillRect/>
          </a:stretch>
        </p:blipFill>
        <p:spPr>
          <a:xfrm>
            <a:off x="9276969" y="2053209"/>
            <a:ext cx="274320" cy="274320"/>
          </a:xfrm>
          <a:prstGeom prst="rect">
            <a:avLst/>
          </a:prstGeom>
        </p:spPr>
      </p:pic>
      <p:sp>
        <p:nvSpPr>
          <p:cNvPr id="22" name="Text 16"/>
          <p:cNvSpPr/>
          <p:nvPr/>
        </p:nvSpPr>
        <p:spPr>
          <a:xfrm>
            <a:off x="9144000" y="2514600"/>
            <a:ext cx="2240280" cy="502920"/>
          </a:xfrm>
          <a:prstGeom prst="rect">
            <a:avLst/>
          </a:prstGeom>
          <a:noFill/>
        </p:spPr>
        <p:txBody>
          <a:bodyPr wrap="square" rtlCol="0" anchor="ctr"/>
          <a:lstStyle/>
          <a:p>
            <a:pPr marL="0" indent="0">
              <a:lnSpc>
                <a:spcPct val="105000"/>
              </a:lnSpc>
              <a:buNone/>
            </a:pPr>
            <a:r>
              <a:rPr lang="en-US" sz="1250" b="1" dirty="0">
                <a:solidFill>
                  <a:srgbClr val="0A1F3D"/>
                </a:solidFill>
                <a:latin typeface="Calibri" panose="020F0502020204030204" pitchFamily="34" charset="0"/>
                <a:ea typeface="Calibri" panose="020F0502020204030204" pitchFamily="34" charset="-122"/>
                <a:cs typeface="Calibri" panose="020F0502020204030204" pitchFamily="34" charset="-120"/>
              </a:rPr>
              <a:t>Leadership Pipeline</a:t>
            </a:r>
            <a:endParaRPr lang="en-US" sz="1250" dirty="0"/>
          </a:p>
        </p:txBody>
      </p:sp>
      <p:sp>
        <p:nvSpPr>
          <p:cNvPr id="23" name="Text 17"/>
          <p:cNvSpPr/>
          <p:nvPr/>
        </p:nvSpPr>
        <p:spPr>
          <a:xfrm>
            <a:off x="9144000" y="2999232"/>
            <a:ext cx="2240280" cy="640080"/>
          </a:xfrm>
          <a:prstGeom prst="rect">
            <a:avLst/>
          </a:prstGeom>
          <a:noFill/>
        </p:spPr>
        <p:txBody>
          <a:bodyPr wrap="square" rtlCol="0" anchor="ctr"/>
          <a:lstStyle/>
          <a:p>
            <a:pPr marL="0" indent="0">
              <a:lnSpc>
                <a:spcPct val="110000"/>
              </a:lnSpc>
              <a:buNone/>
            </a:pPr>
            <a:r>
              <a:rPr lang="en-US" sz="1000" dirty="0">
                <a:solidFill>
                  <a:srgbClr val="45536B"/>
                </a:solidFill>
                <a:latin typeface="Calibri" panose="020F0502020204030204" pitchFamily="34" charset="0"/>
                <a:ea typeface="Calibri" panose="020F0502020204030204" pitchFamily="34" charset="-122"/>
                <a:cs typeface="Calibri" panose="020F0502020204030204" pitchFamily="34" charset="-120"/>
              </a:rPr>
              <a:t>Grow a management layer under the widest-span managers.</a:t>
            </a:r>
            <a:endParaRPr lang="en-US" sz="1000" dirty="0"/>
          </a:p>
        </p:txBody>
      </p:sp>
      <p:sp>
        <p:nvSpPr>
          <p:cNvPr id="24" name="Shape 18"/>
          <p:cNvSpPr/>
          <p:nvPr/>
        </p:nvSpPr>
        <p:spPr>
          <a:xfrm>
            <a:off x="594360" y="3931920"/>
            <a:ext cx="2606040" cy="1965960"/>
          </a:xfrm>
          <a:prstGeom prst="roundRect">
            <a:avLst>
              <a:gd name="adj" fmla="val 4651"/>
            </a:avLst>
          </a:prstGeom>
          <a:solidFill>
            <a:srgbClr val="FFFFFF"/>
          </a:solidFill>
          <a:effectLst>
            <a:outerShdw blurRad="101600" dist="38100" dir="5400000" algn="bl" rotWithShape="0">
              <a:srgbClr val="0A1F3D">
                <a:alpha val="16000"/>
              </a:srgbClr>
            </a:outerShdw>
          </a:effectLst>
        </p:spPr>
      </p:sp>
      <p:sp>
        <p:nvSpPr>
          <p:cNvPr id="25" name="Shape 19"/>
          <p:cNvSpPr/>
          <p:nvPr/>
        </p:nvSpPr>
        <p:spPr>
          <a:xfrm>
            <a:off x="795528" y="4133088"/>
            <a:ext cx="502920" cy="502920"/>
          </a:xfrm>
          <a:prstGeom prst="ellipse">
            <a:avLst/>
          </a:prstGeom>
          <a:solidFill>
            <a:srgbClr val="22D3EE"/>
          </a:solidFill>
        </p:spPr>
      </p:sp>
      <p:pic>
        <p:nvPicPr>
          <p:cNvPr id="26" name="Image 4" descr="/home/claude/pptx_build/icons/arrowRight_navy.png"/>
          <p:cNvPicPr>
            <a:picLocks noChangeAspect="1"/>
          </p:cNvPicPr>
          <p:nvPr/>
        </p:nvPicPr>
        <p:blipFill>
          <a:blip r:embed="rId7"/>
          <a:stretch>
            <a:fillRect/>
          </a:stretch>
        </p:blipFill>
        <p:spPr>
          <a:xfrm>
            <a:off x="940689" y="4247769"/>
            <a:ext cx="274320" cy="274320"/>
          </a:xfrm>
          <a:prstGeom prst="rect">
            <a:avLst/>
          </a:prstGeom>
        </p:spPr>
      </p:pic>
      <p:sp>
        <p:nvSpPr>
          <p:cNvPr id="27" name="Text 20"/>
          <p:cNvSpPr/>
          <p:nvPr/>
        </p:nvSpPr>
        <p:spPr>
          <a:xfrm>
            <a:off x="777240" y="4709160"/>
            <a:ext cx="2240280" cy="502920"/>
          </a:xfrm>
          <a:prstGeom prst="rect">
            <a:avLst/>
          </a:prstGeom>
          <a:noFill/>
        </p:spPr>
        <p:txBody>
          <a:bodyPr wrap="square" rtlCol="0" anchor="ctr"/>
          <a:lstStyle/>
          <a:p>
            <a:pPr marL="0" indent="0">
              <a:lnSpc>
                <a:spcPct val="105000"/>
              </a:lnSpc>
              <a:buNone/>
            </a:pPr>
            <a:r>
              <a:rPr lang="en-US" sz="1250" b="1" dirty="0">
                <a:solidFill>
                  <a:srgbClr val="0A1F3D"/>
                </a:solidFill>
                <a:latin typeface="Calibri" panose="020F0502020204030204" pitchFamily="34" charset="0"/>
                <a:ea typeface="Calibri" panose="020F0502020204030204" pitchFamily="34" charset="-122"/>
                <a:cs typeface="Calibri" panose="020F0502020204030204" pitchFamily="34" charset="-120"/>
              </a:rPr>
              <a:t>Internal Promotions &amp; Mobility</a:t>
            </a:r>
            <a:endParaRPr lang="en-US" sz="1250" dirty="0"/>
          </a:p>
        </p:txBody>
      </p:sp>
      <p:sp>
        <p:nvSpPr>
          <p:cNvPr id="28" name="Text 21"/>
          <p:cNvSpPr/>
          <p:nvPr/>
        </p:nvSpPr>
        <p:spPr>
          <a:xfrm>
            <a:off x="777240" y="5193792"/>
            <a:ext cx="2240280" cy="640080"/>
          </a:xfrm>
          <a:prstGeom prst="rect">
            <a:avLst/>
          </a:prstGeom>
          <a:noFill/>
        </p:spPr>
        <p:txBody>
          <a:bodyPr wrap="square" rtlCol="0" anchor="ctr"/>
          <a:lstStyle/>
          <a:p>
            <a:pPr marL="0" indent="0">
              <a:lnSpc>
                <a:spcPct val="110000"/>
              </a:lnSpc>
              <a:buNone/>
            </a:pPr>
            <a:r>
              <a:rPr lang="en-US" sz="1000" dirty="0">
                <a:solidFill>
                  <a:srgbClr val="45536B"/>
                </a:solidFill>
                <a:latin typeface="Calibri" panose="020F0502020204030204" pitchFamily="34" charset="0"/>
                <a:ea typeface="Calibri" panose="020F0502020204030204" pitchFamily="34" charset="-122"/>
                <a:cs typeface="Calibri" panose="020F0502020204030204" pitchFamily="34" charset="-120"/>
              </a:rPr>
              <a:t>A formal internal job board to raise the transfer-to-exit ratio.</a:t>
            </a:r>
            <a:endParaRPr lang="en-US" sz="1000" dirty="0"/>
          </a:p>
        </p:txBody>
      </p:sp>
      <p:sp>
        <p:nvSpPr>
          <p:cNvPr id="29" name="Shape 22"/>
          <p:cNvSpPr/>
          <p:nvPr/>
        </p:nvSpPr>
        <p:spPr>
          <a:xfrm>
            <a:off x="3383280" y="3931920"/>
            <a:ext cx="2606040" cy="1965960"/>
          </a:xfrm>
          <a:prstGeom prst="roundRect">
            <a:avLst>
              <a:gd name="adj" fmla="val 4651"/>
            </a:avLst>
          </a:prstGeom>
          <a:solidFill>
            <a:srgbClr val="FFFFFF"/>
          </a:solidFill>
          <a:effectLst>
            <a:outerShdw blurRad="101600" dist="38100" dir="5400000" algn="bl" rotWithShape="0">
              <a:srgbClr val="0A1F3D">
                <a:alpha val="16000"/>
              </a:srgbClr>
            </a:outerShdw>
          </a:effectLst>
        </p:spPr>
      </p:sp>
      <p:sp>
        <p:nvSpPr>
          <p:cNvPr id="30" name="Shape 23"/>
          <p:cNvSpPr/>
          <p:nvPr/>
        </p:nvSpPr>
        <p:spPr>
          <a:xfrm>
            <a:off x="3584448" y="4133088"/>
            <a:ext cx="502920" cy="502920"/>
          </a:xfrm>
          <a:prstGeom prst="ellipse">
            <a:avLst/>
          </a:prstGeom>
          <a:solidFill>
            <a:srgbClr val="22D3EE"/>
          </a:solidFill>
        </p:spPr>
      </p:sp>
      <p:pic>
        <p:nvPicPr>
          <p:cNvPr id="31" name="Image 5" descr="/home/claude/pptx_build/icons/binoculars_navy.png"/>
          <p:cNvPicPr>
            <a:picLocks noChangeAspect="1"/>
          </p:cNvPicPr>
          <p:nvPr/>
        </p:nvPicPr>
        <p:blipFill>
          <a:blip r:embed="rId8"/>
          <a:stretch>
            <a:fillRect/>
          </a:stretch>
        </p:blipFill>
        <p:spPr>
          <a:xfrm>
            <a:off x="3692144" y="4247769"/>
            <a:ext cx="274320" cy="274320"/>
          </a:xfrm>
          <a:prstGeom prst="rect">
            <a:avLst/>
          </a:prstGeom>
        </p:spPr>
      </p:pic>
      <p:sp>
        <p:nvSpPr>
          <p:cNvPr id="32" name="Text 24"/>
          <p:cNvSpPr/>
          <p:nvPr/>
        </p:nvSpPr>
        <p:spPr>
          <a:xfrm>
            <a:off x="3566160" y="4709160"/>
            <a:ext cx="2240280" cy="502920"/>
          </a:xfrm>
          <a:prstGeom prst="rect">
            <a:avLst/>
          </a:prstGeom>
          <a:noFill/>
        </p:spPr>
        <p:txBody>
          <a:bodyPr wrap="square" rtlCol="0" anchor="ctr"/>
          <a:lstStyle/>
          <a:p>
            <a:pPr marL="0" indent="0">
              <a:lnSpc>
                <a:spcPct val="105000"/>
              </a:lnSpc>
              <a:buNone/>
            </a:pPr>
            <a:r>
              <a:rPr lang="en-US" sz="1250" b="1" dirty="0">
                <a:solidFill>
                  <a:srgbClr val="0A1F3D"/>
                </a:solidFill>
                <a:latin typeface="Calibri" panose="020F0502020204030204" pitchFamily="34" charset="0"/>
                <a:ea typeface="Calibri" panose="020F0502020204030204" pitchFamily="34" charset="-122"/>
                <a:cs typeface="Calibri" panose="020F0502020204030204" pitchFamily="34" charset="-120"/>
              </a:rPr>
              <a:t>Exit Interview Analysis</a:t>
            </a:r>
            <a:endParaRPr lang="en-US" sz="1250" dirty="0"/>
          </a:p>
        </p:txBody>
      </p:sp>
      <p:sp>
        <p:nvSpPr>
          <p:cNvPr id="33" name="Text 25"/>
          <p:cNvSpPr/>
          <p:nvPr/>
        </p:nvSpPr>
        <p:spPr>
          <a:xfrm>
            <a:off x="3566160" y="5193792"/>
            <a:ext cx="2240280" cy="640080"/>
          </a:xfrm>
          <a:prstGeom prst="rect">
            <a:avLst/>
          </a:prstGeom>
          <a:noFill/>
        </p:spPr>
        <p:txBody>
          <a:bodyPr wrap="square" rtlCol="0" anchor="ctr"/>
          <a:lstStyle/>
          <a:p>
            <a:pPr marL="0" indent="0">
              <a:lnSpc>
                <a:spcPct val="110000"/>
              </a:lnSpc>
              <a:buNone/>
            </a:pPr>
            <a:r>
              <a:rPr lang="en-US" sz="1000" dirty="0">
                <a:solidFill>
                  <a:srgbClr val="45536B"/>
                </a:solidFill>
                <a:latin typeface="Calibri" panose="020F0502020204030204" pitchFamily="34" charset="0"/>
                <a:ea typeface="Calibri" panose="020F0502020204030204" pitchFamily="34" charset="-122"/>
                <a:cs typeface="Calibri" panose="020F0502020204030204" pitchFamily="34" charset="-120"/>
              </a:rPr>
              <a:t>Systematic exit data to convert hypotheses into evidence.</a:t>
            </a:r>
            <a:endParaRPr lang="en-US" sz="1000" dirty="0"/>
          </a:p>
        </p:txBody>
      </p:sp>
      <p:sp>
        <p:nvSpPr>
          <p:cNvPr id="34" name="Shape 26"/>
          <p:cNvSpPr/>
          <p:nvPr/>
        </p:nvSpPr>
        <p:spPr>
          <a:xfrm>
            <a:off x="6172200" y="3931920"/>
            <a:ext cx="2606040" cy="1965960"/>
          </a:xfrm>
          <a:prstGeom prst="roundRect">
            <a:avLst>
              <a:gd name="adj" fmla="val 4651"/>
            </a:avLst>
          </a:prstGeom>
          <a:solidFill>
            <a:srgbClr val="FFFFFF"/>
          </a:solidFill>
          <a:effectLst>
            <a:outerShdw blurRad="101600" dist="38100" dir="5400000" algn="bl" rotWithShape="0">
              <a:srgbClr val="0A1F3D">
                <a:alpha val="16000"/>
              </a:srgbClr>
            </a:outerShdw>
          </a:effectLst>
        </p:spPr>
      </p:sp>
      <p:sp>
        <p:nvSpPr>
          <p:cNvPr id="35" name="Shape 27"/>
          <p:cNvSpPr/>
          <p:nvPr/>
        </p:nvSpPr>
        <p:spPr>
          <a:xfrm>
            <a:off x="6373368" y="4133088"/>
            <a:ext cx="502920" cy="502920"/>
          </a:xfrm>
          <a:prstGeom prst="ellipse">
            <a:avLst/>
          </a:prstGeom>
          <a:solidFill>
            <a:srgbClr val="22D3EE"/>
          </a:solidFill>
        </p:spPr>
      </p:sp>
      <p:pic>
        <p:nvPicPr>
          <p:cNvPr id="36" name="Image 6" descr="/home/claude/pptx_build/icons/bullhorn_navy.png"/>
          <p:cNvPicPr>
            <a:picLocks noChangeAspect="1"/>
          </p:cNvPicPr>
          <p:nvPr/>
        </p:nvPicPr>
        <p:blipFill>
          <a:blip r:embed="rId9"/>
          <a:stretch>
            <a:fillRect/>
          </a:stretch>
        </p:blipFill>
        <p:spPr>
          <a:xfrm>
            <a:off x="6501384" y="4247769"/>
            <a:ext cx="274320" cy="274320"/>
          </a:xfrm>
          <a:prstGeom prst="rect">
            <a:avLst/>
          </a:prstGeom>
        </p:spPr>
      </p:pic>
      <p:sp>
        <p:nvSpPr>
          <p:cNvPr id="37" name="Text 28"/>
          <p:cNvSpPr/>
          <p:nvPr/>
        </p:nvSpPr>
        <p:spPr>
          <a:xfrm>
            <a:off x="6355080" y="4709160"/>
            <a:ext cx="2240280" cy="502920"/>
          </a:xfrm>
          <a:prstGeom prst="rect">
            <a:avLst/>
          </a:prstGeom>
          <a:noFill/>
        </p:spPr>
        <p:txBody>
          <a:bodyPr wrap="square" rtlCol="0" anchor="ctr"/>
          <a:lstStyle/>
          <a:p>
            <a:pPr marL="0" indent="0">
              <a:lnSpc>
                <a:spcPct val="105000"/>
              </a:lnSpc>
              <a:buNone/>
            </a:pPr>
            <a:r>
              <a:rPr lang="en-US" sz="1250" b="1" dirty="0">
                <a:solidFill>
                  <a:srgbClr val="0A1F3D"/>
                </a:solidFill>
                <a:latin typeface="Calibri" panose="020F0502020204030204" pitchFamily="34" charset="0"/>
                <a:ea typeface="Calibri" panose="020F0502020204030204" pitchFamily="34" charset="-122"/>
                <a:cs typeface="Calibri" panose="020F0502020204030204" pitchFamily="34" charset="-120"/>
              </a:rPr>
              <a:t>Diversity Hiring</a:t>
            </a:r>
            <a:endParaRPr lang="en-US" sz="1250" dirty="0"/>
          </a:p>
        </p:txBody>
      </p:sp>
      <p:sp>
        <p:nvSpPr>
          <p:cNvPr id="38" name="Text 29"/>
          <p:cNvSpPr/>
          <p:nvPr/>
        </p:nvSpPr>
        <p:spPr>
          <a:xfrm>
            <a:off x="6355080" y="5193792"/>
            <a:ext cx="2240280" cy="640080"/>
          </a:xfrm>
          <a:prstGeom prst="rect">
            <a:avLst/>
          </a:prstGeom>
          <a:noFill/>
        </p:spPr>
        <p:txBody>
          <a:bodyPr wrap="square" rtlCol="0" anchor="ctr"/>
          <a:lstStyle/>
          <a:p>
            <a:pPr marL="0" indent="0">
              <a:lnSpc>
                <a:spcPct val="110000"/>
              </a:lnSpc>
              <a:buNone/>
            </a:pPr>
            <a:r>
              <a:rPr lang="en-US" sz="1000" dirty="0">
                <a:solidFill>
                  <a:srgbClr val="45536B"/>
                </a:solidFill>
                <a:latin typeface="Calibri" panose="020F0502020204030204" pitchFamily="34" charset="0"/>
                <a:ea typeface="Calibri" panose="020F0502020204030204" pitchFamily="34" charset="-122"/>
                <a:cs typeface="Calibri" panose="020F0502020204030204" pitchFamily="34" charset="-120"/>
              </a:rPr>
              <a:t>Audit sourcing channels to narrow the 62/38 gender split.</a:t>
            </a:r>
            <a:endParaRPr lang="en-US" sz="1000" dirty="0"/>
          </a:p>
        </p:txBody>
      </p:sp>
      <p:sp>
        <p:nvSpPr>
          <p:cNvPr id="39" name="Shape 30"/>
          <p:cNvSpPr/>
          <p:nvPr/>
        </p:nvSpPr>
        <p:spPr>
          <a:xfrm>
            <a:off x="8961120" y="3931920"/>
            <a:ext cx="2606040" cy="1965960"/>
          </a:xfrm>
          <a:prstGeom prst="roundRect">
            <a:avLst>
              <a:gd name="adj" fmla="val 4651"/>
            </a:avLst>
          </a:prstGeom>
          <a:solidFill>
            <a:srgbClr val="FFFFFF"/>
          </a:solidFill>
          <a:effectLst>
            <a:outerShdw blurRad="101600" dist="38100" dir="5400000" algn="bl" rotWithShape="0">
              <a:srgbClr val="0A1F3D">
                <a:alpha val="16000"/>
              </a:srgbClr>
            </a:outerShdw>
          </a:effectLst>
        </p:spPr>
      </p:sp>
      <p:sp>
        <p:nvSpPr>
          <p:cNvPr id="40" name="Shape 31"/>
          <p:cNvSpPr/>
          <p:nvPr/>
        </p:nvSpPr>
        <p:spPr>
          <a:xfrm>
            <a:off x="9162288" y="4133088"/>
            <a:ext cx="502920" cy="502920"/>
          </a:xfrm>
          <a:prstGeom prst="ellipse">
            <a:avLst/>
          </a:prstGeom>
          <a:solidFill>
            <a:srgbClr val="22D3EE"/>
          </a:solidFill>
        </p:spPr>
      </p:sp>
      <p:pic>
        <p:nvPicPr>
          <p:cNvPr id="41" name="Image 7" descr="/home/claude/pptx_build/icons/clipboardCheck_navy.png"/>
          <p:cNvPicPr>
            <a:picLocks noChangeAspect="1"/>
          </p:cNvPicPr>
          <p:nvPr/>
        </p:nvPicPr>
        <p:blipFill>
          <a:blip r:embed="rId10"/>
          <a:stretch>
            <a:fillRect/>
          </a:stretch>
        </p:blipFill>
        <p:spPr>
          <a:xfrm>
            <a:off x="9307449" y="4227449"/>
            <a:ext cx="274320" cy="274320"/>
          </a:xfrm>
          <a:prstGeom prst="rect">
            <a:avLst/>
          </a:prstGeom>
        </p:spPr>
      </p:pic>
      <p:sp>
        <p:nvSpPr>
          <p:cNvPr id="42" name="Text 32"/>
          <p:cNvSpPr/>
          <p:nvPr/>
        </p:nvSpPr>
        <p:spPr>
          <a:xfrm>
            <a:off x="9144000" y="4709160"/>
            <a:ext cx="2240280" cy="502920"/>
          </a:xfrm>
          <a:prstGeom prst="rect">
            <a:avLst/>
          </a:prstGeom>
          <a:noFill/>
        </p:spPr>
        <p:txBody>
          <a:bodyPr wrap="square" rtlCol="0" anchor="ctr"/>
          <a:lstStyle/>
          <a:p>
            <a:pPr marL="0" indent="0">
              <a:lnSpc>
                <a:spcPct val="105000"/>
              </a:lnSpc>
              <a:buNone/>
            </a:pPr>
            <a:r>
              <a:rPr lang="en-US" sz="1250" b="1" dirty="0">
                <a:solidFill>
                  <a:srgbClr val="0A1F3D"/>
                </a:solidFill>
                <a:latin typeface="Calibri" panose="020F0502020204030204" pitchFamily="34" charset="0"/>
                <a:ea typeface="Calibri" panose="020F0502020204030204" pitchFamily="34" charset="-122"/>
                <a:cs typeface="Calibri" panose="020F0502020204030204" pitchFamily="34" charset="-120"/>
              </a:rPr>
              <a:t>Succession &amp; Performance Monitoring</a:t>
            </a:r>
            <a:endParaRPr lang="en-US" sz="1250" dirty="0"/>
          </a:p>
        </p:txBody>
      </p:sp>
      <p:sp>
        <p:nvSpPr>
          <p:cNvPr id="43" name="Text 33"/>
          <p:cNvSpPr/>
          <p:nvPr/>
        </p:nvSpPr>
        <p:spPr>
          <a:xfrm>
            <a:off x="9144000" y="5193792"/>
            <a:ext cx="2240280" cy="640080"/>
          </a:xfrm>
          <a:prstGeom prst="rect">
            <a:avLst/>
          </a:prstGeom>
          <a:noFill/>
        </p:spPr>
        <p:txBody>
          <a:bodyPr wrap="square" rtlCol="0" anchor="ctr"/>
          <a:lstStyle/>
          <a:p>
            <a:pPr marL="0" indent="0">
              <a:lnSpc>
                <a:spcPct val="110000"/>
              </a:lnSpc>
              <a:buNone/>
            </a:pPr>
            <a:r>
              <a:rPr lang="en-US" sz="1000" dirty="0">
                <a:solidFill>
                  <a:srgbClr val="45536B"/>
                </a:solidFill>
                <a:latin typeface="Calibri" panose="020F0502020204030204" pitchFamily="34" charset="0"/>
                <a:ea typeface="Calibri" panose="020F0502020204030204" pitchFamily="34" charset="-122"/>
                <a:cs typeface="Calibri" panose="020F0502020204030204" pitchFamily="34" charset="-120"/>
              </a:rPr>
              <a:t>Track manager-level attrition as a standing KPI.</a:t>
            </a:r>
            <a:endParaRPr lang="en-US" sz="1000" dirty="0"/>
          </a:p>
        </p:txBody>
      </p:sp>
      <p:sp>
        <p:nvSpPr>
          <p:cNvPr id="44" name="Text 34"/>
          <p:cNvSpPr/>
          <p:nvPr/>
        </p:nvSpPr>
        <p:spPr>
          <a:xfrm>
            <a:off x="548640" y="6519672"/>
            <a:ext cx="6400800" cy="274320"/>
          </a:xfrm>
          <a:prstGeom prst="rect">
            <a:avLst/>
          </a:prstGeom>
          <a:noFill/>
        </p:spPr>
        <p:txBody>
          <a:bodyPr wrap="square" rtlCol="0" anchor="ctr"/>
          <a:lstStyle/>
          <a:p>
            <a:pPr marL="0" indent="0" algn="l">
              <a:buNone/>
            </a:pPr>
            <a:r>
              <a:rPr lang="en-US" sz="1000" dirty="0">
                <a:solidFill>
                  <a:srgbClr val="8CA0B8"/>
                </a:solidFill>
                <a:latin typeface="Calibri" panose="020F0502020204030204" pitchFamily="34" charset="0"/>
                <a:ea typeface="Calibri" panose="020F0502020204030204" pitchFamily="34" charset="-122"/>
                <a:cs typeface="Calibri" panose="020F0502020204030204" pitchFamily="34" charset="-120"/>
              </a:rPr>
              <a:t>HR Analytics Performance Dashboard</a:t>
            </a:r>
            <a:endParaRPr lang="en-US" sz="1000" dirty="0"/>
          </a:p>
        </p:txBody>
      </p:sp>
      <p:sp>
        <p:nvSpPr>
          <p:cNvPr id="45" name="Text 35"/>
          <p:cNvSpPr/>
          <p:nvPr/>
        </p:nvSpPr>
        <p:spPr>
          <a:xfrm>
            <a:off x="10881360" y="6519672"/>
            <a:ext cx="777240" cy="274320"/>
          </a:xfrm>
          <a:prstGeom prst="rect">
            <a:avLst/>
          </a:prstGeom>
          <a:noFill/>
        </p:spPr>
        <p:txBody>
          <a:bodyPr wrap="square" rtlCol="0" anchor="ctr"/>
          <a:lstStyle/>
          <a:p>
            <a:pPr marL="0" indent="0" algn="r">
              <a:buNone/>
            </a:pPr>
            <a:r>
              <a:rPr lang="en-US" sz="1000" dirty="0">
                <a:solidFill>
                  <a:srgbClr val="8CA0B8"/>
                </a:solidFill>
                <a:latin typeface="Calibri" panose="020F0502020204030204" pitchFamily="34" charset="0"/>
                <a:ea typeface="Calibri" panose="020F0502020204030204" pitchFamily="34" charset="-122"/>
                <a:cs typeface="Calibri" panose="020F0502020204030204" pitchFamily="34" charset="-120"/>
              </a:rPr>
              <a:t>08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F3D"/>
        </a:solidFill>
        <a:effectLst/>
      </p:bgPr>
    </p:bg>
    <p:spTree>
      <p:nvGrpSpPr>
        <p:cNvPr id="1" name=""/>
        <p:cNvGrpSpPr/>
        <p:nvPr/>
      </p:nvGrpSpPr>
      <p:grpSpPr>
        <a:xfrm>
          <a:off x="0" y="0"/>
          <a:ext cx="0" cy="0"/>
          <a:chOff x="0" y="0"/>
          <a:chExt cx="0" cy="0"/>
        </a:xfrm>
      </p:grpSpPr>
      <p:sp>
        <p:nvSpPr>
          <p:cNvPr id="2" name="Text 0"/>
          <p:cNvSpPr/>
          <p:nvPr/>
        </p:nvSpPr>
        <p:spPr>
          <a:xfrm>
            <a:off x="640080" y="438912"/>
            <a:ext cx="8229600" cy="320040"/>
          </a:xfrm>
          <a:prstGeom prst="rect">
            <a:avLst/>
          </a:prstGeom>
          <a:noFill/>
        </p:spPr>
        <p:txBody>
          <a:bodyPr wrap="square" rtlCol="0" anchor="ctr"/>
          <a:lstStyle/>
          <a:p>
            <a:pPr marL="0" indent="0">
              <a:buNone/>
            </a:pPr>
            <a:r>
              <a:rPr lang="en-US" sz="1300" b="1" kern="0" spc="200" dirty="0">
                <a:solidFill>
                  <a:srgbClr val="22D3EE"/>
                </a:solidFill>
                <a:latin typeface="Calibri" panose="020F0502020204030204" pitchFamily="34" charset="0"/>
                <a:ea typeface="Calibri" panose="020F0502020204030204" pitchFamily="34" charset="-122"/>
                <a:cs typeface="Calibri" panose="020F0502020204030204" pitchFamily="34" charset="-120"/>
              </a:rPr>
              <a:t>TECHNICAL CHALLENGES</a:t>
            </a:r>
            <a:endParaRPr lang="en-US" sz="1300" dirty="0"/>
          </a:p>
        </p:txBody>
      </p:sp>
      <p:sp>
        <p:nvSpPr>
          <p:cNvPr id="3" name="Text 1"/>
          <p:cNvSpPr/>
          <p:nvPr/>
        </p:nvSpPr>
        <p:spPr>
          <a:xfrm>
            <a:off x="640080" y="749808"/>
            <a:ext cx="10515600" cy="777240"/>
          </a:xfrm>
          <a:prstGeom prst="rect">
            <a:avLst/>
          </a:prstGeom>
          <a:noFill/>
        </p:spPr>
        <p:txBody>
          <a:bodyPr wrap="square"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Built Manually. Solved Deliberately.</a:t>
            </a:r>
            <a:endParaRPr lang="en-US" sz="3200" dirty="0"/>
          </a:p>
        </p:txBody>
      </p:sp>
      <p:sp>
        <p:nvSpPr>
          <p:cNvPr id="4" name="Shape 2"/>
          <p:cNvSpPr/>
          <p:nvPr/>
        </p:nvSpPr>
        <p:spPr>
          <a:xfrm>
            <a:off x="594360" y="1691640"/>
            <a:ext cx="5212080" cy="1051560"/>
          </a:xfrm>
          <a:prstGeom prst="roundRect">
            <a:avLst>
              <a:gd name="adj" fmla="val 8696"/>
            </a:avLst>
          </a:prstGeom>
          <a:solidFill>
            <a:srgbClr val="0F2A52"/>
          </a:solidFill>
          <a:ln w="12700">
            <a:solidFill>
              <a:srgbClr val="1B3A63"/>
            </a:solidFill>
            <a:prstDash val="solid"/>
          </a:ln>
        </p:spPr>
      </p:sp>
      <p:sp>
        <p:nvSpPr>
          <p:cNvPr id="5" name="Shape 3"/>
          <p:cNvSpPr/>
          <p:nvPr/>
        </p:nvSpPr>
        <p:spPr>
          <a:xfrm>
            <a:off x="758952" y="1865376"/>
            <a:ext cx="438912" cy="438912"/>
          </a:xfrm>
          <a:prstGeom prst="ellipse">
            <a:avLst/>
          </a:prstGeom>
          <a:solidFill>
            <a:srgbClr val="22D3EE"/>
          </a:solidFill>
        </p:spPr>
      </p:sp>
      <p:pic>
        <p:nvPicPr>
          <p:cNvPr id="6" name="Image 0" descr="/home/claude/pptx_build/icons/broom_navy.png"/>
          <p:cNvPicPr>
            <a:picLocks noChangeAspect="1"/>
          </p:cNvPicPr>
          <p:nvPr/>
        </p:nvPicPr>
        <p:blipFill>
          <a:blip r:embed="rId3"/>
          <a:stretch>
            <a:fillRect/>
          </a:stretch>
        </p:blipFill>
        <p:spPr>
          <a:xfrm>
            <a:off x="772160" y="1861185"/>
            <a:ext cx="365760" cy="365760"/>
          </a:xfrm>
          <a:prstGeom prst="rect">
            <a:avLst/>
          </a:prstGeom>
        </p:spPr>
      </p:pic>
      <p:sp>
        <p:nvSpPr>
          <p:cNvPr id="7" name="Text 4"/>
          <p:cNvSpPr/>
          <p:nvPr/>
        </p:nvSpPr>
        <p:spPr>
          <a:xfrm>
            <a:off x="1371600" y="1764792"/>
            <a:ext cx="4251960" cy="329184"/>
          </a:xfrm>
          <a:prstGeom prst="rect">
            <a:avLst/>
          </a:prstGeom>
          <a:noFill/>
        </p:spPr>
        <p:txBody>
          <a:bodyPr wrap="square"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Cleaning Inconsistent Data</a:t>
            </a:r>
            <a:endParaRPr lang="en-US" sz="1250" dirty="0"/>
          </a:p>
        </p:txBody>
      </p:sp>
      <p:sp>
        <p:nvSpPr>
          <p:cNvPr id="8" name="Text 5"/>
          <p:cNvSpPr/>
          <p:nvPr/>
        </p:nvSpPr>
        <p:spPr>
          <a:xfrm>
            <a:off x="1371600" y="2112264"/>
            <a:ext cx="4251960" cy="566928"/>
          </a:xfrm>
          <a:prstGeom prst="rect">
            <a:avLst/>
          </a:prstGeom>
          <a:noFill/>
        </p:spPr>
        <p:txBody>
          <a:bodyPr wrap="square" rtlCol="0" anchor="ctr"/>
          <a:lstStyle/>
          <a:p>
            <a:pPr marL="0" indent="0">
              <a:lnSpc>
                <a:spcPct val="105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Standardized status labels and date fields into one clean master table.</a:t>
            </a:r>
            <a:endParaRPr lang="en-US" sz="1000" dirty="0"/>
          </a:p>
        </p:txBody>
      </p:sp>
      <p:sp>
        <p:nvSpPr>
          <p:cNvPr id="9" name="Shape 6"/>
          <p:cNvSpPr/>
          <p:nvPr/>
        </p:nvSpPr>
        <p:spPr>
          <a:xfrm>
            <a:off x="6126480" y="1691640"/>
            <a:ext cx="5212080" cy="1051560"/>
          </a:xfrm>
          <a:prstGeom prst="roundRect">
            <a:avLst>
              <a:gd name="adj" fmla="val 8696"/>
            </a:avLst>
          </a:prstGeom>
          <a:solidFill>
            <a:srgbClr val="0F2A52"/>
          </a:solidFill>
          <a:ln w="12700">
            <a:solidFill>
              <a:srgbClr val="1B3A63"/>
            </a:solidFill>
            <a:prstDash val="solid"/>
          </a:ln>
        </p:spPr>
      </p:sp>
      <p:sp>
        <p:nvSpPr>
          <p:cNvPr id="10" name="Shape 7"/>
          <p:cNvSpPr/>
          <p:nvPr/>
        </p:nvSpPr>
        <p:spPr>
          <a:xfrm>
            <a:off x="6291072" y="1865376"/>
            <a:ext cx="438912" cy="438912"/>
          </a:xfrm>
          <a:prstGeom prst="ellipse">
            <a:avLst/>
          </a:prstGeom>
          <a:solidFill>
            <a:srgbClr val="22D3EE"/>
          </a:solidFill>
        </p:spPr>
      </p:sp>
      <p:pic>
        <p:nvPicPr>
          <p:cNvPr id="11" name="Image 1" descr="/home/claude/pptx_build/icons/database_navy.png"/>
          <p:cNvPicPr>
            <a:picLocks noChangeAspect="1"/>
          </p:cNvPicPr>
          <p:nvPr/>
        </p:nvPicPr>
        <p:blipFill>
          <a:blip r:embed="rId4"/>
          <a:stretch>
            <a:fillRect/>
          </a:stretch>
        </p:blipFill>
        <p:spPr>
          <a:xfrm>
            <a:off x="6363843" y="1908302"/>
            <a:ext cx="365760" cy="365760"/>
          </a:xfrm>
          <a:prstGeom prst="rect">
            <a:avLst/>
          </a:prstGeom>
        </p:spPr>
      </p:pic>
      <p:sp>
        <p:nvSpPr>
          <p:cNvPr id="12" name="Text 8"/>
          <p:cNvSpPr/>
          <p:nvPr/>
        </p:nvSpPr>
        <p:spPr>
          <a:xfrm>
            <a:off x="6903720" y="1764792"/>
            <a:ext cx="4251960" cy="329184"/>
          </a:xfrm>
          <a:prstGeom prst="rect">
            <a:avLst/>
          </a:prstGeom>
          <a:noFill/>
        </p:spPr>
        <p:txBody>
          <a:bodyPr wrap="square"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Building 8 Linked Pivot Tables</a:t>
            </a:r>
            <a:endParaRPr lang="en-US" sz="1250" dirty="0"/>
          </a:p>
        </p:txBody>
      </p:sp>
      <p:sp>
        <p:nvSpPr>
          <p:cNvPr id="13" name="Text 9"/>
          <p:cNvSpPr/>
          <p:nvPr/>
        </p:nvSpPr>
        <p:spPr>
          <a:xfrm>
            <a:off x="6903720" y="2112264"/>
            <a:ext cx="4251960" cy="566928"/>
          </a:xfrm>
          <a:prstGeom prst="rect">
            <a:avLst/>
          </a:prstGeom>
          <a:noFill/>
        </p:spPr>
        <p:txBody>
          <a:bodyPr wrap="square" rtlCol="0" anchor="ctr"/>
          <a:lstStyle/>
          <a:p>
            <a:pPr marL="0" indent="0">
              <a:lnSpc>
                <a:spcPct val="105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Structured each pivot to filter correctly — active-only vs. full history.</a:t>
            </a:r>
            <a:endParaRPr lang="en-US" sz="1000" dirty="0"/>
          </a:p>
        </p:txBody>
      </p:sp>
      <p:sp>
        <p:nvSpPr>
          <p:cNvPr id="14" name="Shape 10"/>
          <p:cNvSpPr/>
          <p:nvPr/>
        </p:nvSpPr>
        <p:spPr>
          <a:xfrm>
            <a:off x="594360" y="2880360"/>
            <a:ext cx="5212080" cy="1051560"/>
          </a:xfrm>
          <a:prstGeom prst="roundRect">
            <a:avLst>
              <a:gd name="adj" fmla="val 8696"/>
            </a:avLst>
          </a:prstGeom>
          <a:solidFill>
            <a:srgbClr val="0F2A52"/>
          </a:solidFill>
          <a:ln w="12700">
            <a:solidFill>
              <a:srgbClr val="1B3A63"/>
            </a:solidFill>
            <a:prstDash val="solid"/>
          </a:ln>
        </p:spPr>
      </p:sp>
      <p:sp>
        <p:nvSpPr>
          <p:cNvPr id="15" name="Shape 11"/>
          <p:cNvSpPr/>
          <p:nvPr/>
        </p:nvSpPr>
        <p:spPr>
          <a:xfrm>
            <a:off x="758952" y="3054096"/>
            <a:ext cx="438912" cy="438912"/>
          </a:xfrm>
          <a:prstGeom prst="ellipse">
            <a:avLst/>
          </a:prstGeom>
          <a:solidFill>
            <a:srgbClr val="22D3EE"/>
          </a:solidFill>
        </p:spPr>
      </p:sp>
      <p:pic>
        <p:nvPicPr>
          <p:cNvPr id="16" name="Image 2" descr="/home/claude/pptx_build/icons/filter_navy.png"/>
          <p:cNvPicPr>
            <a:picLocks noChangeAspect="1"/>
          </p:cNvPicPr>
          <p:nvPr/>
        </p:nvPicPr>
        <p:blipFill>
          <a:blip r:embed="rId5"/>
          <a:stretch>
            <a:fillRect/>
          </a:stretch>
        </p:blipFill>
        <p:spPr>
          <a:xfrm>
            <a:off x="772033" y="3127502"/>
            <a:ext cx="365760" cy="365760"/>
          </a:xfrm>
          <a:prstGeom prst="rect">
            <a:avLst/>
          </a:prstGeom>
        </p:spPr>
      </p:pic>
      <p:sp>
        <p:nvSpPr>
          <p:cNvPr id="17" name="Text 12"/>
          <p:cNvSpPr/>
          <p:nvPr/>
        </p:nvSpPr>
        <p:spPr>
          <a:xfrm>
            <a:off x="1371600" y="2953512"/>
            <a:ext cx="4251960" cy="329184"/>
          </a:xfrm>
          <a:prstGeom prst="rect">
            <a:avLst/>
          </a:prstGeom>
          <a:noFill/>
        </p:spPr>
        <p:txBody>
          <a:bodyPr wrap="square"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Interactive Slicers</a:t>
            </a:r>
            <a:endParaRPr lang="en-US" sz="1250" dirty="0"/>
          </a:p>
        </p:txBody>
      </p:sp>
      <p:sp>
        <p:nvSpPr>
          <p:cNvPr id="18" name="Text 13"/>
          <p:cNvSpPr/>
          <p:nvPr/>
        </p:nvSpPr>
        <p:spPr>
          <a:xfrm>
            <a:off x="1371600" y="3300984"/>
            <a:ext cx="4251960" cy="566928"/>
          </a:xfrm>
          <a:prstGeom prst="rect">
            <a:avLst/>
          </a:prstGeom>
          <a:noFill/>
        </p:spPr>
        <p:txBody>
          <a:bodyPr wrap="square" rtlCol="0" anchor="ctr"/>
          <a:lstStyle/>
          <a:p>
            <a:pPr marL="0" indent="0">
              <a:lnSpc>
                <a:spcPct val="105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Connected every slicer to all pivots via Report Connections for unified filtering.</a:t>
            </a:r>
            <a:endParaRPr lang="en-US" sz="1000" dirty="0"/>
          </a:p>
        </p:txBody>
      </p:sp>
      <p:sp>
        <p:nvSpPr>
          <p:cNvPr id="19" name="Shape 14"/>
          <p:cNvSpPr/>
          <p:nvPr/>
        </p:nvSpPr>
        <p:spPr>
          <a:xfrm>
            <a:off x="6126480" y="2880360"/>
            <a:ext cx="5212080" cy="1051560"/>
          </a:xfrm>
          <a:prstGeom prst="roundRect">
            <a:avLst>
              <a:gd name="adj" fmla="val 8696"/>
            </a:avLst>
          </a:prstGeom>
          <a:solidFill>
            <a:srgbClr val="0F2A52"/>
          </a:solidFill>
          <a:ln w="12700">
            <a:solidFill>
              <a:srgbClr val="1B3A63"/>
            </a:solidFill>
            <a:prstDash val="solid"/>
          </a:ln>
        </p:spPr>
      </p:sp>
      <p:sp>
        <p:nvSpPr>
          <p:cNvPr id="20" name="Shape 15"/>
          <p:cNvSpPr/>
          <p:nvPr/>
        </p:nvSpPr>
        <p:spPr>
          <a:xfrm>
            <a:off x="6291072" y="3054096"/>
            <a:ext cx="438912" cy="438912"/>
          </a:xfrm>
          <a:prstGeom prst="ellipse">
            <a:avLst/>
          </a:prstGeom>
          <a:solidFill>
            <a:srgbClr val="22D3EE"/>
          </a:solidFill>
        </p:spPr>
      </p:sp>
      <p:pic>
        <p:nvPicPr>
          <p:cNvPr id="21" name="Image 3" descr="/home/claude/pptx_build/icons/sitemap_navy.png"/>
          <p:cNvPicPr>
            <a:picLocks noChangeAspect="1"/>
          </p:cNvPicPr>
          <p:nvPr/>
        </p:nvPicPr>
        <p:blipFill>
          <a:blip r:embed="rId6"/>
          <a:stretch>
            <a:fillRect/>
          </a:stretch>
        </p:blipFill>
        <p:spPr>
          <a:xfrm>
            <a:off x="6333363" y="3054477"/>
            <a:ext cx="365760" cy="365760"/>
          </a:xfrm>
          <a:prstGeom prst="rect">
            <a:avLst/>
          </a:prstGeom>
        </p:spPr>
      </p:pic>
      <p:sp>
        <p:nvSpPr>
          <p:cNvPr id="22" name="Text 16"/>
          <p:cNvSpPr/>
          <p:nvPr/>
        </p:nvSpPr>
        <p:spPr>
          <a:xfrm>
            <a:off x="6903720" y="2953512"/>
            <a:ext cx="4251960" cy="329184"/>
          </a:xfrm>
          <a:prstGeom prst="rect">
            <a:avLst/>
          </a:prstGeom>
          <a:noFill/>
        </p:spPr>
        <p:txBody>
          <a:bodyPr wrap="square"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Dashboard Layout &amp; KPI Cards</a:t>
            </a:r>
            <a:endParaRPr lang="en-US" sz="1250" dirty="0"/>
          </a:p>
        </p:txBody>
      </p:sp>
      <p:sp>
        <p:nvSpPr>
          <p:cNvPr id="23" name="Text 17"/>
          <p:cNvSpPr/>
          <p:nvPr/>
        </p:nvSpPr>
        <p:spPr>
          <a:xfrm>
            <a:off x="6903720" y="3300984"/>
            <a:ext cx="4251960" cy="566928"/>
          </a:xfrm>
          <a:prstGeom prst="rect">
            <a:avLst/>
          </a:prstGeom>
          <a:noFill/>
        </p:spPr>
        <p:txBody>
          <a:bodyPr wrap="square" rtlCol="0" anchor="ctr"/>
          <a:lstStyle/>
          <a:p>
            <a:pPr marL="0" indent="0">
              <a:lnSpc>
                <a:spcPct val="105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Iterated layout until the whole story read in under 30 seconds.</a:t>
            </a:r>
            <a:endParaRPr lang="en-US" sz="1000" dirty="0"/>
          </a:p>
        </p:txBody>
      </p:sp>
      <p:sp>
        <p:nvSpPr>
          <p:cNvPr id="24" name="Shape 18"/>
          <p:cNvSpPr/>
          <p:nvPr/>
        </p:nvSpPr>
        <p:spPr>
          <a:xfrm>
            <a:off x="594360" y="4069080"/>
            <a:ext cx="5212080" cy="1051560"/>
          </a:xfrm>
          <a:prstGeom prst="roundRect">
            <a:avLst>
              <a:gd name="adj" fmla="val 8696"/>
            </a:avLst>
          </a:prstGeom>
          <a:solidFill>
            <a:srgbClr val="0F2A52"/>
          </a:solidFill>
          <a:ln w="12700">
            <a:solidFill>
              <a:srgbClr val="1B3A63"/>
            </a:solidFill>
            <a:prstDash val="solid"/>
          </a:ln>
        </p:spPr>
      </p:sp>
      <p:sp>
        <p:nvSpPr>
          <p:cNvPr id="25" name="Shape 19"/>
          <p:cNvSpPr/>
          <p:nvPr/>
        </p:nvSpPr>
        <p:spPr>
          <a:xfrm>
            <a:off x="758952" y="4242816"/>
            <a:ext cx="438912" cy="438912"/>
          </a:xfrm>
          <a:prstGeom prst="ellipse">
            <a:avLst/>
          </a:prstGeom>
          <a:solidFill>
            <a:srgbClr val="22D3EE"/>
          </a:solidFill>
        </p:spPr>
      </p:sp>
      <p:pic>
        <p:nvPicPr>
          <p:cNvPr id="26" name="Image 4" descr="/home/claude/pptx_build/icons/code_navy.png"/>
          <p:cNvPicPr>
            <a:picLocks noChangeAspect="1"/>
          </p:cNvPicPr>
          <p:nvPr/>
        </p:nvPicPr>
        <p:blipFill>
          <a:blip r:embed="rId7"/>
          <a:stretch>
            <a:fillRect/>
          </a:stretch>
        </p:blipFill>
        <p:spPr>
          <a:xfrm>
            <a:off x="751840" y="4296410"/>
            <a:ext cx="475615" cy="365125"/>
          </a:xfrm>
          <a:prstGeom prst="rect">
            <a:avLst/>
          </a:prstGeom>
        </p:spPr>
      </p:pic>
      <p:sp>
        <p:nvSpPr>
          <p:cNvPr id="27" name="Text 20"/>
          <p:cNvSpPr/>
          <p:nvPr/>
        </p:nvSpPr>
        <p:spPr>
          <a:xfrm>
            <a:off x="1371600" y="4142232"/>
            <a:ext cx="4251960" cy="329184"/>
          </a:xfrm>
          <a:prstGeom prst="rect">
            <a:avLst/>
          </a:prstGeom>
          <a:noFill/>
        </p:spPr>
        <p:txBody>
          <a:bodyPr wrap="square"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VBA Automation</a:t>
            </a:r>
            <a:endParaRPr lang="en-US" sz="1250" dirty="0"/>
          </a:p>
        </p:txBody>
      </p:sp>
      <p:sp>
        <p:nvSpPr>
          <p:cNvPr id="28" name="Text 21"/>
          <p:cNvSpPr/>
          <p:nvPr/>
        </p:nvSpPr>
        <p:spPr>
          <a:xfrm>
            <a:off x="1371600" y="4489704"/>
            <a:ext cx="4251960" cy="566928"/>
          </a:xfrm>
          <a:prstGeom prst="rect">
            <a:avLst/>
          </a:prstGeom>
          <a:noFill/>
        </p:spPr>
        <p:txBody>
          <a:bodyPr wrap="square" rtlCol="0" anchor="ctr"/>
          <a:lstStyle/>
          <a:p>
            <a:pPr marL="0" indent="0">
              <a:lnSpc>
                <a:spcPct val="105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Wrote a macro to refresh all 8 pivots and charts in a single click.</a:t>
            </a:r>
            <a:endParaRPr lang="en-US" sz="1000" dirty="0"/>
          </a:p>
        </p:txBody>
      </p:sp>
      <p:sp>
        <p:nvSpPr>
          <p:cNvPr id="29" name="Shape 22"/>
          <p:cNvSpPr/>
          <p:nvPr/>
        </p:nvSpPr>
        <p:spPr>
          <a:xfrm>
            <a:off x="6126480" y="4069080"/>
            <a:ext cx="5212080" cy="1051560"/>
          </a:xfrm>
          <a:prstGeom prst="roundRect">
            <a:avLst>
              <a:gd name="adj" fmla="val 8696"/>
            </a:avLst>
          </a:prstGeom>
          <a:solidFill>
            <a:srgbClr val="0F2A52"/>
          </a:solidFill>
          <a:ln w="12700">
            <a:solidFill>
              <a:srgbClr val="1B3A63"/>
            </a:solidFill>
            <a:prstDash val="solid"/>
          </a:ln>
        </p:spPr>
      </p:sp>
      <p:sp>
        <p:nvSpPr>
          <p:cNvPr id="30" name="Shape 23"/>
          <p:cNvSpPr/>
          <p:nvPr/>
        </p:nvSpPr>
        <p:spPr>
          <a:xfrm>
            <a:off x="6291072" y="4242816"/>
            <a:ext cx="438912" cy="438912"/>
          </a:xfrm>
          <a:prstGeom prst="ellipse">
            <a:avLst/>
          </a:prstGeom>
          <a:solidFill>
            <a:srgbClr val="22D3EE"/>
          </a:solidFill>
        </p:spPr>
      </p:sp>
      <p:pic>
        <p:nvPicPr>
          <p:cNvPr id="31" name="Image 5" descr="/home/claude/pptx_build/icons/expand_navy.png"/>
          <p:cNvPicPr>
            <a:picLocks noChangeAspect="1"/>
          </p:cNvPicPr>
          <p:nvPr/>
        </p:nvPicPr>
        <p:blipFill>
          <a:blip r:embed="rId8"/>
          <a:stretch>
            <a:fillRect/>
          </a:stretch>
        </p:blipFill>
        <p:spPr>
          <a:xfrm>
            <a:off x="6363843" y="4295902"/>
            <a:ext cx="365760" cy="365760"/>
          </a:xfrm>
          <a:prstGeom prst="rect">
            <a:avLst/>
          </a:prstGeom>
        </p:spPr>
      </p:pic>
      <p:sp>
        <p:nvSpPr>
          <p:cNvPr id="32" name="Text 24"/>
          <p:cNvSpPr/>
          <p:nvPr/>
        </p:nvSpPr>
        <p:spPr>
          <a:xfrm>
            <a:off x="6903720" y="4142232"/>
            <a:ext cx="4251960" cy="329184"/>
          </a:xfrm>
          <a:prstGeom prst="rect">
            <a:avLst/>
          </a:prstGeom>
          <a:noFill/>
        </p:spPr>
        <p:txBody>
          <a:bodyPr wrap="square"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Full-Screen Presentation Mode</a:t>
            </a:r>
            <a:endParaRPr lang="en-US" sz="1250" dirty="0"/>
          </a:p>
        </p:txBody>
      </p:sp>
      <p:sp>
        <p:nvSpPr>
          <p:cNvPr id="33" name="Text 25"/>
          <p:cNvSpPr/>
          <p:nvPr/>
        </p:nvSpPr>
        <p:spPr>
          <a:xfrm>
            <a:off x="6903720" y="4489704"/>
            <a:ext cx="4251960" cy="566928"/>
          </a:xfrm>
          <a:prstGeom prst="rect">
            <a:avLst/>
          </a:prstGeom>
          <a:noFill/>
        </p:spPr>
        <p:txBody>
          <a:bodyPr wrap="square" rtlCol="0" anchor="ctr"/>
          <a:lstStyle/>
          <a:p>
            <a:pPr marL="0" indent="0">
              <a:lnSpc>
                <a:spcPct val="105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Built a separate stakeholder view hiding working cells and formulas.</a:t>
            </a:r>
            <a:endParaRPr lang="en-US" sz="1000" dirty="0"/>
          </a:p>
        </p:txBody>
      </p:sp>
      <p:sp>
        <p:nvSpPr>
          <p:cNvPr id="34" name="Shape 26"/>
          <p:cNvSpPr/>
          <p:nvPr/>
        </p:nvSpPr>
        <p:spPr>
          <a:xfrm>
            <a:off x="594360" y="5257800"/>
            <a:ext cx="5212080" cy="1051560"/>
          </a:xfrm>
          <a:prstGeom prst="roundRect">
            <a:avLst>
              <a:gd name="adj" fmla="val 8696"/>
            </a:avLst>
          </a:prstGeom>
          <a:solidFill>
            <a:srgbClr val="0F2A52"/>
          </a:solidFill>
          <a:ln w="12700">
            <a:solidFill>
              <a:srgbClr val="1B3A63"/>
            </a:solidFill>
            <a:prstDash val="solid"/>
          </a:ln>
        </p:spPr>
      </p:sp>
      <p:sp>
        <p:nvSpPr>
          <p:cNvPr id="35" name="Shape 27"/>
          <p:cNvSpPr/>
          <p:nvPr/>
        </p:nvSpPr>
        <p:spPr>
          <a:xfrm>
            <a:off x="758952" y="5431536"/>
            <a:ext cx="438912" cy="438912"/>
          </a:xfrm>
          <a:prstGeom prst="ellipse">
            <a:avLst/>
          </a:prstGeom>
          <a:solidFill>
            <a:srgbClr val="22D3EE"/>
          </a:solidFill>
        </p:spPr>
      </p:sp>
      <p:pic>
        <p:nvPicPr>
          <p:cNvPr id="36" name="Image 6" descr="/home/claude/pptx_build/icons/paintBrush_navy.png"/>
          <p:cNvPicPr>
            <a:picLocks noChangeAspect="1"/>
          </p:cNvPicPr>
          <p:nvPr/>
        </p:nvPicPr>
        <p:blipFill>
          <a:blip r:embed="rId9"/>
          <a:stretch>
            <a:fillRect/>
          </a:stretch>
        </p:blipFill>
        <p:spPr>
          <a:xfrm>
            <a:off x="811530" y="5480685"/>
            <a:ext cx="327025" cy="327025"/>
          </a:xfrm>
          <a:prstGeom prst="rect">
            <a:avLst/>
          </a:prstGeom>
        </p:spPr>
      </p:pic>
      <p:sp>
        <p:nvSpPr>
          <p:cNvPr id="37" name="Text 28"/>
          <p:cNvSpPr/>
          <p:nvPr/>
        </p:nvSpPr>
        <p:spPr>
          <a:xfrm>
            <a:off x="1371600" y="5330952"/>
            <a:ext cx="4251960" cy="329184"/>
          </a:xfrm>
          <a:prstGeom prst="rect">
            <a:avLst/>
          </a:prstGeom>
          <a:noFill/>
        </p:spPr>
        <p:txBody>
          <a:bodyPr wrap="square"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Professional UI Design</a:t>
            </a:r>
            <a:endParaRPr lang="en-US" sz="1250" dirty="0"/>
          </a:p>
        </p:txBody>
      </p:sp>
      <p:sp>
        <p:nvSpPr>
          <p:cNvPr id="38" name="Text 29"/>
          <p:cNvSpPr/>
          <p:nvPr/>
        </p:nvSpPr>
        <p:spPr>
          <a:xfrm>
            <a:off x="1371600" y="5678424"/>
            <a:ext cx="4251960" cy="566928"/>
          </a:xfrm>
          <a:prstGeom prst="rect">
            <a:avLst/>
          </a:prstGeom>
          <a:noFill/>
        </p:spPr>
        <p:txBody>
          <a:bodyPr wrap="square" rtlCol="0" anchor="ctr"/>
          <a:lstStyle/>
          <a:p>
            <a:pPr marL="0" indent="0">
              <a:lnSpc>
                <a:spcPct val="105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Applied consistent color coding and conditional formatting throughout.</a:t>
            </a:r>
            <a:endParaRPr lang="en-US" sz="1000" dirty="0"/>
          </a:p>
        </p:txBody>
      </p:sp>
      <p:sp>
        <p:nvSpPr>
          <p:cNvPr id="39" name="Shape 30"/>
          <p:cNvSpPr/>
          <p:nvPr/>
        </p:nvSpPr>
        <p:spPr>
          <a:xfrm>
            <a:off x="6126480" y="5257800"/>
            <a:ext cx="5212080" cy="1051560"/>
          </a:xfrm>
          <a:prstGeom prst="roundRect">
            <a:avLst>
              <a:gd name="adj" fmla="val 8696"/>
            </a:avLst>
          </a:prstGeom>
          <a:solidFill>
            <a:srgbClr val="0F2A52"/>
          </a:solidFill>
          <a:ln w="12700">
            <a:solidFill>
              <a:srgbClr val="1B3A63"/>
            </a:solidFill>
            <a:prstDash val="solid"/>
          </a:ln>
        </p:spPr>
      </p:sp>
      <p:sp>
        <p:nvSpPr>
          <p:cNvPr id="40" name="Shape 31"/>
          <p:cNvSpPr/>
          <p:nvPr/>
        </p:nvSpPr>
        <p:spPr>
          <a:xfrm>
            <a:off x="6291072" y="5431536"/>
            <a:ext cx="438912" cy="438912"/>
          </a:xfrm>
          <a:prstGeom prst="ellipse">
            <a:avLst/>
          </a:prstGeom>
          <a:solidFill>
            <a:srgbClr val="22D3EE"/>
          </a:solidFill>
        </p:spPr>
      </p:sp>
      <p:pic>
        <p:nvPicPr>
          <p:cNvPr id="41" name="Image 7" descr="/home/claude/pptx_build/icons/tachometer_navy.png"/>
          <p:cNvPicPr>
            <a:picLocks noChangeAspect="1"/>
          </p:cNvPicPr>
          <p:nvPr/>
        </p:nvPicPr>
        <p:blipFill>
          <a:blip r:embed="rId10"/>
          <a:stretch>
            <a:fillRect/>
          </a:stretch>
        </p:blipFill>
        <p:spPr>
          <a:xfrm>
            <a:off x="6333363" y="5442077"/>
            <a:ext cx="365760" cy="365760"/>
          </a:xfrm>
          <a:prstGeom prst="rect">
            <a:avLst/>
          </a:prstGeom>
        </p:spPr>
      </p:pic>
      <p:sp>
        <p:nvSpPr>
          <p:cNvPr id="42" name="Text 32"/>
          <p:cNvSpPr/>
          <p:nvPr/>
        </p:nvSpPr>
        <p:spPr>
          <a:xfrm>
            <a:off x="6903720" y="5330952"/>
            <a:ext cx="4251960" cy="329184"/>
          </a:xfrm>
          <a:prstGeom prst="rect">
            <a:avLst/>
          </a:prstGeom>
          <a:noFill/>
        </p:spPr>
        <p:txBody>
          <a:bodyPr wrap="square"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Performance Optimization</a:t>
            </a:r>
            <a:endParaRPr lang="en-US" sz="1250" dirty="0"/>
          </a:p>
        </p:txBody>
      </p:sp>
      <p:sp>
        <p:nvSpPr>
          <p:cNvPr id="43" name="Text 33"/>
          <p:cNvSpPr/>
          <p:nvPr/>
        </p:nvSpPr>
        <p:spPr>
          <a:xfrm>
            <a:off x="6903720" y="5678424"/>
            <a:ext cx="4251960" cy="566928"/>
          </a:xfrm>
          <a:prstGeom prst="rect">
            <a:avLst/>
          </a:prstGeom>
          <a:noFill/>
        </p:spPr>
        <p:txBody>
          <a:bodyPr wrap="square" rtlCol="0" anchor="ctr"/>
          <a:lstStyle/>
          <a:p>
            <a:pPr marL="0" indent="0">
              <a:lnSpc>
                <a:spcPct val="105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Removed duplicate pivot caches that were slowing the file down.</a:t>
            </a:r>
            <a:endParaRPr lang="en-US" sz="1000" dirty="0"/>
          </a:p>
        </p:txBody>
      </p:sp>
      <p:sp>
        <p:nvSpPr>
          <p:cNvPr id="44" name="Text 34"/>
          <p:cNvSpPr/>
          <p:nvPr/>
        </p:nvSpPr>
        <p:spPr>
          <a:xfrm>
            <a:off x="548640" y="6519672"/>
            <a:ext cx="6400800" cy="274320"/>
          </a:xfrm>
          <a:prstGeom prst="rect">
            <a:avLst/>
          </a:prstGeom>
          <a:noFill/>
        </p:spPr>
        <p:txBody>
          <a:bodyPr wrap="square" rtlCol="0" anchor="ctr"/>
          <a:lstStyle/>
          <a:p>
            <a:pPr marL="0" indent="0" algn="l">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HR Analytics Performance Dashboard</a:t>
            </a:r>
            <a:endParaRPr lang="en-US" sz="1000" dirty="0"/>
          </a:p>
        </p:txBody>
      </p:sp>
      <p:sp>
        <p:nvSpPr>
          <p:cNvPr id="45" name="Text 35"/>
          <p:cNvSpPr/>
          <p:nvPr/>
        </p:nvSpPr>
        <p:spPr>
          <a:xfrm>
            <a:off x="10881360" y="6519672"/>
            <a:ext cx="777240" cy="274320"/>
          </a:xfrm>
          <a:prstGeom prst="rect">
            <a:avLst/>
          </a:prstGeom>
          <a:noFill/>
        </p:spPr>
        <p:txBody>
          <a:bodyPr wrap="square" rtlCol="0" anchor="ctr"/>
          <a:lstStyle/>
          <a:p>
            <a:pPr marL="0" indent="0" algn="r">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09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640080" y="438912"/>
            <a:ext cx="8229600" cy="320040"/>
          </a:xfrm>
          <a:prstGeom prst="rect">
            <a:avLst/>
          </a:prstGeom>
          <a:noFill/>
        </p:spPr>
        <p:txBody>
          <a:bodyPr wrap="square" rtlCol="0" anchor="ctr"/>
          <a:lstStyle/>
          <a:p>
            <a:pPr marL="0" indent="0">
              <a:buNone/>
            </a:pPr>
            <a:r>
              <a:rPr lang="en-US" sz="1300" b="1" kern="0" spc="200" dirty="0">
                <a:solidFill>
                  <a:srgbClr val="0E7490"/>
                </a:solidFill>
                <a:latin typeface="Calibri" panose="020F0502020204030204" pitchFamily="34" charset="0"/>
                <a:ea typeface="Calibri" panose="020F0502020204030204" pitchFamily="34" charset="-122"/>
                <a:cs typeface="Calibri" panose="020F0502020204030204" pitchFamily="34" charset="-120"/>
              </a:rPr>
              <a:t>FUTURE IMPROVEMENTS</a:t>
            </a:r>
            <a:endParaRPr lang="en-US" sz="1300" dirty="0"/>
          </a:p>
        </p:txBody>
      </p:sp>
      <p:sp>
        <p:nvSpPr>
          <p:cNvPr id="3" name="Text 1"/>
          <p:cNvSpPr/>
          <p:nvPr/>
        </p:nvSpPr>
        <p:spPr>
          <a:xfrm>
            <a:off x="640080" y="749808"/>
            <a:ext cx="10515600" cy="777240"/>
          </a:xfrm>
          <a:prstGeom prst="rect">
            <a:avLst/>
          </a:prstGeom>
          <a:noFill/>
        </p:spPr>
        <p:txBody>
          <a:bodyPr wrap="square" rtlCol="0" anchor="ctr"/>
          <a:lstStyle/>
          <a:p>
            <a:pPr marL="0" indent="0">
              <a:buNone/>
            </a:pPr>
            <a:r>
              <a:rPr lang="en-US" sz="3200" b="1" dirty="0">
                <a:solidFill>
                  <a:srgbClr val="0A1F3D"/>
                </a:solidFill>
                <a:latin typeface="Cambria" panose="02040503050406030204" pitchFamily="34" charset="0"/>
                <a:ea typeface="Cambria" panose="02040503050406030204" pitchFamily="34" charset="-122"/>
                <a:cs typeface="Cambria" panose="02040503050406030204" pitchFamily="34" charset="-120"/>
              </a:rPr>
              <a:t>Where This Project Goes Next</a:t>
            </a:r>
            <a:endParaRPr lang="en-US" sz="3200" dirty="0"/>
          </a:p>
        </p:txBody>
      </p:sp>
      <p:sp>
        <p:nvSpPr>
          <p:cNvPr id="4" name="Shape 2"/>
          <p:cNvSpPr/>
          <p:nvPr/>
        </p:nvSpPr>
        <p:spPr>
          <a:xfrm>
            <a:off x="594360" y="1737360"/>
            <a:ext cx="2606040" cy="1965960"/>
          </a:xfrm>
          <a:prstGeom prst="roundRect">
            <a:avLst>
              <a:gd name="adj" fmla="val 4651"/>
            </a:avLst>
          </a:prstGeom>
          <a:solidFill>
            <a:srgbClr val="0A1F3D"/>
          </a:solidFill>
          <a:effectLst>
            <a:outerShdw blurRad="101600" dist="38100" dir="5400000" algn="bl" rotWithShape="0">
              <a:srgbClr val="0A1F3D">
                <a:alpha val="16000"/>
              </a:srgbClr>
            </a:outerShdw>
          </a:effectLst>
        </p:spPr>
      </p:sp>
      <p:sp>
        <p:nvSpPr>
          <p:cNvPr id="5" name="Shape 3"/>
          <p:cNvSpPr/>
          <p:nvPr/>
        </p:nvSpPr>
        <p:spPr>
          <a:xfrm>
            <a:off x="795528" y="1938528"/>
            <a:ext cx="502920" cy="502920"/>
          </a:xfrm>
          <a:prstGeom prst="ellipse">
            <a:avLst/>
          </a:prstGeom>
          <a:solidFill>
            <a:srgbClr val="22D3EE"/>
          </a:solidFill>
        </p:spPr>
      </p:sp>
      <p:pic>
        <p:nvPicPr>
          <p:cNvPr id="6" name="Image 0" descr="/home/claude/pptx_build/icons/chartPie_navy.png"/>
          <p:cNvPicPr>
            <a:picLocks noChangeAspect="1"/>
          </p:cNvPicPr>
          <p:nvPr/>
        </p:nvPicPr>
        <p:blipFill>
          <a:blip r:embed="rId3"/>
          <a:stretch>
            <a:fillRect/>
          </a:stretch>
        </p:blipFill>
        <p:spPr>
          <a:xfrm>
            <a:off x="910209" y="2053209"/>
            <a:ext cx="274320" cy="274320"/>
          </a:xfrm>
          <a:prstGeom prst="rect">
            <a:avLst/>
          </a:prstGeom>
        </p:spPr>
      </p:pic>
      <p:sp>
        <p:nvSpPr>
          <p:cNvPr id="7" name="Text 4"/>
          <p:cNvSpPr/>
          <p:nvPr/>
        </p:nvSpPr>
        <p:spPr>
          <a:xfrm>
            <a:off x="777240" y="2514600"/>
            <a:ext cx="2240280" cy="502920"/>
          </a:xfrm>
          <a:prstGeom prst="rect">
            <a:avLst/>
          </a:prstGeom>
          <a:noFill/>
        </p:spPr>
        <p:txBody>
          <a:bodyPr wrap="square" rtlCol="0" anchor="ctr"/>
          <a:lstStyle/>
          <a:p>
            <a:pPr marL="0" indent="0">
              <a:lnSpc>
                <a:spcPct val="105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Power BI Migration</a:t>
            </a:r>
            <a:endParaRPr lang="en-US" sz="1250" dirty="0"/>
          </a:p>
        </p:txBody>
      </p:sp>
      <p:sp>
        <p:nvSpPr>
          <p:cNvPr id="8" name="Text 5"/>
          <p:cNvSpPr/>
          <p:nvPr/>
        </p:nvSpPr>
        <p:spPr>
          <a:xfrm>
            <a:off x="777240" y="2999232"/>
            <a:ext cx="2240280" cy="640080"/>
          </a:xfrm>
          <a:prstGeom prst="rect">
            <a:avLst/>
          </a:prstGeom>
          <a:noFill/>
        </p:spPr>
        <p:txBody>
          <a:bodyPr wrap="square" rtlCol="0" anchor="ctr"/>
          <a:lstStyle/>
          <a:p>
            <a:pPr marL="0" indent="0">
              <a:lnSpc>
                <a:spcPct val="110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A true star schema with DAX measures and drill-through pages.</a:t>
            </a:r>
            <a:endParaRPr lang="en-US" sz="1000" dirty="0"/>
          </a:p>
        </p:txBody>
      </p:sp>
      <p:sp>
        <p:nvSpPr>
          <p:cNvPr id="9" name="Shape 6"/>
          <p:cNvSpPr/>
          <p:nvPr/>
        </p:nvSpPr>
        <p:spPr>
          <a:xfrm>
            <a:off x="3383280" y="1737360"/>
            <a:ext cx="2606040" cy="1965960"/>
          </a:xfrm>
          <a:prstGeom prst="roundRect">
            <a:avLst>
              <a:gd name="adj" fmla="val 4651"/>
            </a:avLst>
          </a:prstGeom>
          <a:solidFill>
            <a:srgbClr val="0A1F3D"/>
          </a:solidFill>
          <a:effectLst>
            <a:outerShdw blurRad="101600" dist="38100" dir="5400000" algn="bl" rotWithShape="0">
              <a:srgbClr val="0A1F3D">
                <a:alpha val="16000"/>
              </a:srgbClr>
            </a:outerShdw>
          </a:effectLst>
        </p:spPr>
      </p:sp>
      <p:sp>
        <p:nvSpPr>
          <p:cNvPr id="10" name="Shape 7"/>
          <p:cNvSpPr/>
          <p:nvPr/>
        </p:nvSpPr>
        <p:spPr>
          <a:xfrm>
            <a:off x="3584448" y="1938528"/>
            <a:ext cx="502920" cy="502920"/>
          </a:xfrm>
          <a:prstGeom prst="ellipse">
            <a:avLst/>
          </a:prstGeom>
          <a:solidFill>
            <a:srgbClr val="22D3EE"/>
          </a:solidFill>
        </p:spPr>
      </p:sp>
      <p:pic>
        <p:nvPicPr>
          <p:cNvPr id="11" name="Image 1" descr="/home/claude/pptx_build/icons/server_navy.png"/>
          <p:cNvPicPr>
            <a:picLocks noChangeAspect="1"/>
          </p:cNvPicPr>
          <p:nvPr/>
        </p:nvPicPr>
        <p:blipFill>
          <a:blip r:embed="rId4"/>
          <a:stretch>
            <a:fillRect/>
          </a:stretch>
        </p:blipFill>
        <p:spPr>
          <a:xfrm>
            <a:off x="3699129" y="2053209"/>
            <a:ext cx="274320" cy="274320"/>
          </a:xfrm>
          <a:prstGeom prst="rect">
            <a:avLst/>
          </a:prstGeom>
        </p:spPr>
      </p:pic>
      <p:sp>
        <p:nvSpPr>
          <p:cNvPr id="12" name="Text 8"/>
          <p:cNvSpPr/>
          <p:nvPr/>
        </p:nvSpPr>
        <p:spPr>
          <a:xfrm>
            <a:off x="3566160" y="2514600"/>
            <a:ext cx="2240280" cy="502920"/>
          </a:xfrm>
          <a:prstGeom prst="rect">
            <a:avLst/>
          </a:prstGeom>
          <a:noFill/>
        </p:spPr>
        <p:txBody>
          <a:bodyPr wrap="square" rtlCol="0" anchor="ctr"/>
          <a:lstStyle/>
          <a:p>
            <a:pPr marL="0" indent="0">
              <a:lnSpc>
                <a:spcPct val="105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SQL Database Integration</a:t>
            </a:r>
            <a:endParaRPr lang="en-US" sz="1250" dirty="0"/>
          </a:p>
        </p:txBody>
      </p:sp>
      <p:sp>
        <p:nvSpPr>
          <p:cNvPr id="13" name="Text 9"/>
          <p:cNvSpPr/>
          <p:nvPr/>
        </p:nvSpPr>
        <p:spPr>
          <a:xfrm>
            <a:off x="3566160" y="2999232"/>
            <a:ext cx="2240280" cy="640080"/>
          </a:xfrm>
          <a:prstGeom prst="rect">
            <a:avLst/>
          </a:prstGeom>
          <a:noFill/>
        </p:spPr>
        <p:txBody>
          <a:bodyPr wrap="square" rtlCol="0" anchor="ctr"/>
          <a:lstStyle/>
          <a:p>
            <a:pPr marL="0" indent="0">
              <a:lnSpc>
                <a:spcPct val="110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Live connection to a governed backend instead of a static file.</a:t>
            </a:r>
            <a:endParaRPr lang="en-US" sz="1000" dirty="0"/>
          </a:p>
        </p:txBody>
      </p:sp>
      <p:sp>
        <p:nvSpPr>
          <p:cNvPr id="14" name="Shape 10"/>
          <p:cNvSpPr/>
          <p:nvPr/>
        </p:nvSpPr>
        <p:spPr>
          <a:xfrm>
            <a:off x="6172200" y="1737360"/>
            <a:ext cx="2606040" cy="1965960"/>
          </a:xfrm>
          <a:prstGeom prst="roundRect">
            <a:avLst>
              <a:gd name="adj" fmla="val 4651"/>
            </a:avLst>
          </a:prstGeom>
          <a:solidFill>
            <a:srgbClr val="0A1F3D"/>
          </a:solidFill>
          <a:effectLst>
            <a:outerShdw blurRad="101600" dist="38100" dir="5400000" algn="bl" rotWithShape="0">
              <a:srgbClr val="0A1F3D">
                <a:alpha val="16000"/>
              </a:srgbClr>
            </a:outerShdw>
          </a:effectLst>
        </p:spPr>
      </p:sp>
      <p:sp>
        <p:nvSpPr>
          <p:cNvPr id="15" name="Shape 11"/>
          <p:cNvSpPr/>
          <p:nvPr/>
        </p:nvSpPr>
        <p:spPr>
          <a:xfrm>
            <a:off x="6373368" y="1938528"/>
            <a:ext cx="502920" cy="502920"/>
          </a:xfrm>
          <a:prstGeom prst="ellipse">
            <a:avLst/>
          </a:prstGeom>
          <a:solidFill>
            <a:srgbClr val="22D3EE"/>
          </a:solidFill>
        </p:spPr>
      </p:sp>
      <p:pic>
        <p:nvPicPr>
          <p:cNvPr id="16" name="Image 2" descr="/home/claude/pptx_build/icons/code_navy.png"/>
          <p:cNvPicPr>
            <a:picLocks noChangeAspect="1"/>
          </p:cNvPicPr>
          <p:nvPr/>
        </p:nvPicPr>
        <p:blipFill>
          <a:blip r:embed="rId5"/>
          <a:stretch>
            <a:fillRect/>
          </a:stretch>
        </p:blipFill>
        <p:spPr>
          <a:xfrm>
            <a:off x="6488049" y="2053209"/>
            <a:ext cx="274320" cy="274320"/>
          </a:xfrm>
          <a:prstGeom prst="rect">
            <a:avLst/>
          </a:prstGeom>
        </p:spPr>
      </p:pic>
      <p:sp>
        <p:nvSpPr>
          <p:cNvPr id="17" name="Text 12"/>
          <p:cNvSpPr/>
          <p:nvPr/>
        </p:nvSpPr>
        <p:spPr>
          <a:xfrm>
            <a:off x="6355080" y="2514600"/>
            <a:ext cx="2240280" cy="502920"/>
          </a:xfrm>
          <a:prstGeom prst="rect">
            <a:avLst/>
          </a:prstGeom>
          <a:noFill/>
        </p:spPr>
        <p:txBody>
          <a:bodyPr wrap="square" rtlCol="0" anchor="ctr"/>
          <a:lstStyle/>
          <a:p>
            <a:pPr marL="0" indent="0">
              <a:lnSpc>
                <a:spcPct val="105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Python Automation</a:t>
            </a:r>
            <a:endParaRPr lang="en-US" sz="1250" dirty="0"/>
          </a:p>
        </p:txBody>
      </p:sp>
      <p:sp>
        <p:nvSpPr>
          <p:cNvPr id="18" name="Text 13"/>
          <p:cNvSpPr/>
          <p:nvPr/>
        </p:nvSpPr>
        <p:spPr>
          <a:xfrm>
            <a:off x="6355080" y="2999232"/>
            <a:ext cx="2240280" cy="640080"/>
          </a:xfrm>
          <a:prstGeom prst="rect">
            <a:avLst/>
          </a:prstGeom>
          <a:noFill/>
        </p:spPr>
        <p:txBody>
          <a:bodyPr wrap="square" rtlCol="0" anchor="ctr"/>
          <a:lstStyle/>
          <a:p>
            <a:pPr marL="0" indent="0">
              <a:lnSpc>
                <a:spcPct val="110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Pandas-based cleaning and validation for repeatable data prep.</a:t>
            </a:r>
            <a:endParaRPr lang="en-US" sz="1000" dirty="0"/>
          </a:p>
        </p:txBody>
      </p:sp>
      <p:sp>
        <p:nvSpPr>
          <p:cNvPr id="19" name="Shape 14"/>
          <p:cNvSpPr/>
          <p:nvPr/>
        </p:nvSpPr>
        <p:spPr>
          <a:xfrm>
            <a:off x="8961120" y="1737360"/>
            <a:ext cx="2606040" cy="1965960"/>
          </a:xfrm>
          <a:prstGeom prst="roundRect">
            <a:avLst>
              <a:gd name="adj" fmla="val 4651"/>
            </a:avLst>
          </a:prstGeom>
          <a:solidFill>
            <a:srgbClr val="0A1F3D"/>
          </a:solidFill>
          <a:effectLst>
            <a:outerShdw blurRad="101600" dist="38100" dir="5400000" algn="bl" rotWithShape="0">
              <a:srgbClr val="0A1F3D">
                <a:alpha val="16000"/>
              </a:srgbClr>
            </a:outerShdw>
          </a:effectLst>
        </p:spPr>
      </p:sp>
      <p:sp>
        <p:nvSpPr>
          <p:cNvPr id="20" name="Shape 15"/>
          <p:cNvSpPr/>
          <p:nvPr/>
        </p:nvSpPr>
        <p:spPr>
          <a:xfrm>
            <a:off x="9162288" y="1938528"/>
            <a:ext cx="502920" cy="502920"/>
          </a:xfrm>
          <a:prstGeom prst="ellipse">
            <a:avLst/>
          </a:prstGeom>
          <a:solidFill>
            <a:srgbClr val="22D3EE"/>
          </a:solidFill>
        </p:spPr>
      </p:sp>
      <p:pic>
        <p:nvPicPr>
          <p:cNvPr id="21" name="Image 3" descr="/home/claude/pptx_build/icons/brain_navy.png"/>
          <p:cNvPicPr>
            <a:picLocks noChangeAspect="1"/>
          </p:cNvPicPr>
          <p:nvPr/>
        </p:nvPicPr>
        <p:blipFill>
          <a:blip r:embed="rId6"/>
          <a:stretch>
            <a:fillRect/>
          </a:stretch>
        </p:blipFill>
        <p:spPr>
          <a:xfrm>
            <a:off x="9276969" y="2053209"/>
            <a:ext cx="274320" cy="274320"/>
          </a:xfrm>
          <a:prstGeom prst="rect">
            <a:avLst/>
          </a:prstGeom>
        </p:spPr>
      </p:pic>
      <p:sp>
        <p:nvSpPr>
          <p:cNvPr id="22" name="Text 16"/>
          <p:cNvSpPr/>
          <p:nvPr/>
        </p:nvSpPr>
        <p:spPr>
          <a:xfrm>
            <a:off x="9144000" y="2514600"/>
            <a:ext cx="2240280" cy="502920"/>
          </a:xfrm>
          <a:prstGeom prst="rect">
            <a:avLst/>
          </a:prstGeom>
          <a:noFill/>
        </p:spPr>
        <p:txBody>
          <a:bodyPr wrap="square" rtlCol="0" anchor="ctr"/>
          <a:lstStyle/>
          <a:p>
            <a:pPr marL="0" indent="0">
              <a:lnSpc>
                <a:spcPct val="105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Machine Learning &amp; Attrition Prediction</a:t>
            </a:r>
            <a:endParaRPr lang="en-US" sz="1250" dirty="0"/>
          </a:p>
        </p:txBody>
      </p:sp>
      <p:sp>
        <p:nvSpPr>
          <p:cNvPr id="23" name="Text 17"/>
          <p:cNvSpPr/>
          <p:nvPr/>
        </p:nvSpPr>
        <p:spPr>
          <a:xfrm>
            <a:off x="9144000" y="2999232"/>
            <a:ext cx="2240280" cy="640080"/>
          </a:xfrm>
          <a:prstGeom prst="rect">
            <a:avLst/>
          </a:prstGeom>
          <a:noFill/>
        </p:spPr>
        <p:txBody>
          <a:bodyPr wrap="square" rtlCol="0" anchor="ctr"/>
          <a:lstStyle/>
          <a:p>
            <a:pPr marL="0" indent="0">
              <a:lnSpc>
                <a:spcPct val="110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Score each employee's exit risk before they resign.</a:t>
            </a:r>
            <a:endParaRPr lang="en-US" sz="1000" dirty="0"/>
          </a:p>
        </p:txBody>
      </p:sp>
      <p:sp>
        <p:nvSpPr>
          <p:cNvPr id="24" name="Shape 18"/>
          <p:cNvSpPr/>
          <p:nvPr/>
        </p:nvSpPr>
        <p:spPr>
          <a:xfrm>
            <a:off x="594360" y="3931920"/>
            <a:ext cx="2606040" cy="1965960"/>
          </a:xfrm>
          <a:prstGeom prst="roundRect">
            <a:avLst>
              <a:gd name="adj" fmla="val 4651"/>
            </a:avLst>
          </a:prstGeom>
          <a:solidFill>
            <a:srgbClr val="0A1F3D"/>
          </a:solidFill>
          <a:effectLst>
            <a:outerShdw blurRad="101600" dist="38100" dir="5400000" algn="bl" rotWithShape="0">
              <a:srgbClr val="0A1F3D">
                <a:alpha val="16000"/>
              </a:srgbClr>
            </a:outerShdw>
          </a:effectLst>
        </p:spPr>
      </p:sp>
      <p:sp>
        <p:nvSpPr>
          <p:cNvPr id="25" name="Shape 19"/>
          <p:cNvSpPr/>
          <p:nvPr/>
        </p:nvSpPr>
        <p:spPr>
          <a:xfrm>
            <a:off x="795528" y="4133088"/>
            <a:ext cx="502920" cy="502920"/>
          </a:xfrm>
          <a:prstGeom prst="ellipse">
            <a:avLst/>
          </a:prstGeom>
          <a:solidFill>
            <a:srgbClr val="22D3EE"/>
          </a:solidFill>
        </p:spPr>
      </p:sp>
      <p:pic>
        <p:nvPicPr>
          <p:cNvPr id="26" name="Image 4" descr="/home/claude/pptx_build/icons/trendUp_navy.png"/>
          <p:cNvPicPr>
            <a:picLocks noChangeAspect="1"/>
          </p:cNvPicPr>
          <p:nvPr/>
        </p:nvPicPr>
        <p:blipFill>
          <a:blip r:embed="rId7"/>
          <a:stretch>
            <a:fillRect/>
          </a:stretch>
        </p:blipFill>
        <p:spPr>
          <a:xfrm>
            <a:off x="910209" y="4247769"/>
            <a:ext cx="274320" cy="274320"/>
          </a:xfrm>
          <a:prstGeom prst="rect">
            <a:avLst/>
          </a:prstGeom>
        </p:spPr>
      </p:pic>
      <p:sp>
        <p:nvSpPr>
          <p:cNvPr id="27" name="Text 20"/>
          <p:cNvSpPr/>
          <p:nvPr/>
        </p:nvSpPr>
        <p:spPr>
          <a:xfrm>
            <a:off x="777240" y="4709160"/>
            <a:ext cx="2240280" cy="502920"/>
          </a:xfrm>
          <a:prstGeom prst="rect">
            <a:avLst/>
          </a:prstGeom>
          <a:noFill/>
        </p:spPr>
        <p:txBody>
          <a:bodyPr wrap="square" rtlCol="0" anchor="ctr"/>
          <a:lstStyle/>
          <a:p>
            <a:pPr marL="0" indent="0">
              <a:lnSpc>
                <a:spcPct val="105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Performance Prediction</a:t>
            </a:r>
            <a:endParaRPr lang="en-US" sz="1250" dirty="0"/>
          </a:p>
        </p:txBody>
      </p:sp>
      <p:sp>
        <p:nvSpPr>
          <p:cNvPr id="28" name="Text 21"/>
          <p:cNvSpPr/>
          <p:nvPr/>
        </p:nvSpPr>
        <p:spPr>
          <a:xfrm>
            <a:off x="777240" y="5193792"/>
            <a:ext cx="2240280" cy="640080"/>
          </a:xfrm>
          <a:prstGeom prst="rect">
            <a:avLst/>
          </a:prstGeom>
          <a:noFill/>
        </p:spPr>
        <p:txBody>
          <a:bodyPr wrap="square" rtlCol="0" anchor="ctr"/>
          <a:lstStyle/>
          <a:p>
            <a:pPr marL="0" indent="0">
              <a:lnSpc>
                <a:spcPct val="110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Model performance trajectory to flag high-potential talent early.</a:t>
            </a:r>
            <a:endParaRPr lang="en-US" sz="1000" dirty="0"/>
          </a:p>
        </p:txBody>
      </p:sp>
      <p:sp>
        <p:nvSpPr>
          <p:cNvPr id="29" name="Shape 22"/>
          <p:cNvSpPr/>
          <p:nvPr/>
        </p:nvSpPr>
        <p:spPr>
          <a:xfrm>
            <a:off x="3383280" y="3931920"/>
            <a:ext cx="2606040" cy="1965960"/>
          </a:xfrm>
          <a:prstGeom prst="roundRect">
            <a:avLst>
              <a:gd name="adj" fmla="val 4651"/>
            </a:avLst>
          </a:prstGeom>
          <a:solidFill>
            <a:srgbClr val="0A1F3D"/>
          </a:solidFill>
          <a:effectLst>
            <a:outerShdw blurRad="101600" dist="38100" dir="5400000" algn="bl" rotWithShape="0">
              <a:srgbClr val="0A1F3D">
                <a:alpha val="16000"/>
              </a:srgbClr>
            </a:outerShdw>
          </a:effectLst>
        </p:spPr>
      </p:sp>
      <p:sp>
        <p:nvSpPr>
          <p:cNvPr id="30" name="Shape 23"/>
          <p:cNvSpPr/>
          <p:nvPr/>
        </p:nvSpPr>
        <p:spPr>
          <a:xfrm>
            <a:off x="3584448" y="4133088"/>
            <a:ext cx="502920" cy="502920"/>
          </a:xfrm>
          <a:prstGeom prst="ellipse">
            <a:avLst/>
          </a:prstGeom>
          <a:solidFill>
            <a:srgbClr val="22D3EE"/>
          </a:solidFill>
        </p:spPr>
      </p:sp>
      <p:pic>
        <p:nvPicPr>
          <p:cNvPr id="31" name="Image 5" descr="/home/claude/pptx_build/icons/bolt_navy.png"/>
          <p:cNvPicPr>
            <a:picLocks noChangeAspect="1"/>
          </p:cNvPicPr>
          <p:nvPr/>
        </p:nvPicPr>
        <p:blipFill>
          <a:blip r:embed="rId8"/>
          <a:stretch>
            <a:fillRect/>
          </a:stretch>
        </p:blipFill>
        <p:spPr>
          <a:xfrm>
            <a:off x="3749929" y="4247769"/>
            <a:ext cx="274320" cy="274320"/>
          </a:xfrm>
          <a:prstGeom prst="rect">
            <a:avLst/>
          </a:prstGeom>
        </p:spPr>
      </p:pic>
      <p:sp>
        <p:nvSpPr>
          <p:cNvPr id="32" name="Text 24"/>
          <p:cNvSpPr/>
          <p:nvPr/>
        </p:nvSpPr>
        <p:spPr>
          <a:xfrm>
            <a:off x="3566160" y="4709160"/>
            <a:ext cx="2240280" cy="502920"/>
          </a:xfrm>
          <a:prstGeom prst="rect">
            <a:avLst/>
          </a:prstGeom>
          <a:noFill/>
        </p:spPr>
        <p:txBody>
          <a:bodyPr wrap="square" rtlCol="0" anchor="ctr"/>
          <a:lstStyle/>
          <a:p>
            <a:pPr marL="0" indent="0">
              <a:lnSpc>
                <a:spcPct val="105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Real-Time Dashboard + Power Automate</a:t>
            </a:r>
            <a:endParaRPr lang="en-US" sz="1250" dirty="0"/>
          </a:p>
        </p:txBody>
      </p:sp>
      <p:sp>
        <p:nvSpPr>
          <p:cNvPr id="33" name="Text 25"/>
          <p:cNvSpPr/>
          <p:nvPr/>
        </p:nvSpPr>
        <p:spPr>
          <a:xfrm>
            <a:off x="3566160" y="5193792"/>
            <a:ext cx="2240280" cy="640080"/>
          </a:xfrm>
          <a:prstGeom prst="rect">
            <a:avLst/>
          </a:prstGeom>
          <a:noFill/>
        </p:spPr>
        <p:txBody>
          <a:bodyPr wrap="square" rtlCol="0" anchor="ctr"/>
          <a:lstStyle/>
          <a:p>
            <a:pPr marL="0" indent="0">
              <a:lnSpc>
                <a:spcPct val="110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Trigger refresh and alerts automatically as HR data changes.</a:t>
            </a:r>
            <a:endParaRPr lang="en-US" sz="1000" dirty="0"/>
          </a:p>
        </p:txBody>
      </p:sp>
      <p:sp>
        <p:nvSpPr>
          <p:cNvPr id="34" name="Shape 26"/>
          <p:cNvSpPr/>
          <p:nvPr/>
        </p:nvSpPr>
        <p:spPr>
          <a:xfrm>
            <a:off x="6172200" y="3931920"/>
            <a:ext cx="2606040" cy="1965960"/>
          </a:xfrm>
          <a:prstGeom prst="roundRect">
            <a:avLst>
              <a:gd name="adj" fmla="val 4651"/>
            </a:avLst>
          </a:prstGeom>
          <a:solidFill>
            <a:srgbClr val="0A1F3D"/>
          </a:solidFill>
          <a:effectLst>
            <a:outerShdw blurRad="101600" dist="38100" dir="5400000" algn="bl" rotWithShape="0">
              <a:srgbClr val="0A1F3D">
                <a:alpha val="16000"/>
              </a:srgbClr>
            </a:outerShdw>
          </a:effectLst>
        </p:spPr>
      </p:sp>
      <p:sp>
        <p:nvSpPr>
          <p:cNvPr id="35" name="Shape 27"/>
          <p:cNvSpPr/>
          <p:nvPr/>
        </p:nvSpPr>
        <p:spPr>
          <a:xfrm>
            <a:off x="6373368" y="4133088"/>
            <a:ext cx="502920" cy="502920"/>
          </a:xfrm>
          <a:prstGeom prst="ellipse">
            <a:avLst/>
          </a:prstGeom>
          <a:solidFill>
            <a:srgbClr val="22D3EE"/>
          </a:solidFill>
        </p:spPr>
      </p:sp>
      <p:pic>
        <p:nvPicPr>
          <p:cNvPr id="36" name="Image 6" descr="/home/claude/pptx_build/icons/cloud_navy.png"/>
          <p:cNvPicPr>
            <a:picLocks noChangeAspect="1"/>
          </p:cNvPicPr>
          <p:nvPr/>
        </p:nvPicPr>
        <p:blipFill>
          <a:blip r:embed="rId9"/>
          <a:stretch>
            <a:fillRect/>
          </a:stretch>
        </p:blipFill>
        <p:spPr>
          <a:xfrm>
            <a:off x="6488049" y="4247769"/>
            <a:ext cx="274320" cy="274320"/>
          </a:xfrm>
          <a:prstGeom prst="rect">
            <a:avLst/>
          </a:prstGeom>
        </p:spPr>
      </p:pic>
      <p:sp>
        <p:nvSpPr>
          <p:cNvPr id="37" name="Text 28"/>
          <p:cNvSpPr/>
          <p:nvPr/>
        </p:nvSpPr>
        <p:spPr>
          <a:xfrm>
            <a:off x="6355080" y="4709160"/>
            <a:ext cx="2240280" cy="502920"/>
          </a:xfrm>
          <a:prstGeom prst="rect">
            <a:avLst/>
          </a:prstGeom>
          <a:noFill/>
        </p:spPr>
        <p:txBody>
          <a:bodyPr wrap="square" rtlCol="0" anchor="ctr"/>
          <a:lstStyle/>
          <a:p>
            <a:pPr marL="0" indent="0">
              <a:lnSpc>
                <a:spcPct val="105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Cloud Integration</a:t>
            </a:r>
            <a:endParaRPr lang="en-US" sz="1250" dirty="0"/>
          </a:p>
        </p:txBody>
      </p:sp>
      <p:sp>
        <p:nvSpPr>
          <p:cNvPr id="38" name="Text 29"/>
          <p:cNvSpPr/>
          <p:nvPr/>
        </p:nvSpPr>
        <p:spPr>
          <a:xfrm>
            <a:off x="6355080" y="5193792"/>
            <a:ext cx="2240280" cy="640080"/>
          </a:xfrm>
          <a:prstGeom prst="rect">
            <a:avLst/>
          </a:prstGeom>
          <a:noFill/>
        </p:spPr>
        <p:txBody>
          <a:bodyPr wrap="square" rtlCol="0" anchor="ctr"/>
          <a:lstStyle/>
          <a:p>
            <a:pPr marL="0" indent="0">
              <a:lnSpc>
                <a:spcPct val="110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Host data centrally for secure, multi-user, anywhere access.</a:t>
            </a:r>
            <a:endParaRPr lang="en-US" sz="1000" dirty="0"/>
          </a:p>
        </p:txBody>
      </p:sp>
      <p:sp>
        <p:nvSpPr>
          <p:cNvPr id="39" name="Shape 30"/>
          <p:cNvSpPr/>
          <p:nvPr/>
        </p:nvSpPr>
        <p:spPr>
          <a:xfrm>
            <a:off x="8961120" y="3931920"/>
            <a:ext cx="2606040" cy="1965960"/>
          </a:xfrm>
          <a:prstGeom prst="roundRect">
            <a:avLst>
              <a:gd name="adj" fmla="val 4651"/>
            </a:avLst>
          </a:prstGeom>
          <a:solidFill>
            <a:srgbClr val="0A1F3D"/>
          </a:solidFill>
          <a:effectLst>
            <a:outerShdw blurRad="101600" dist="38100" dir="5400000" algn="bl" rotWithShape="0">
              <a:srgbClr val="0A1F3D">
                <a:alpha val="16000"/>
              </a:srgbClr>
            </a:outerShdw>
          </a:effectLst>
        </p:spPr>
      </p:sp>
      <p:sp>
        <p:nvSpPr>
          <p:cNvPr id="40" name="Shape 31"/>
          <p:cNvSpPr/>
          <p:nvPr/>
        </p:nvSpPr>
        <p:spPr>
          <a:xfrm>
            <a:off x="9162288" y="4133088"/>
            <a:ext cx="502920" cy="502920"/>
          </a:xfrm>
          <a:prstGeom prst="ellipse">
            <a:avLst/>
          </a:prstGeom>
          <a:solidFill>
            <a:srgbClr val="22D3EE"/>
          </a:solidFill>
        </p:spPr>
      </p:sp>
      <p:pic>
        <p:nvPicPr>
          <p:cNvPr id="41" name="Image 7" descr="/home/claude/pptx_build/icons/mobile_navy.png"/>
          <p:cNvPicPr>
            <a:picLocks noChangeAspect="1"/>
          </p:cNvPicPr>
          <p:nvPr/>
        </p:nvPicPr>
        <p:blipFill>
          <a:blip r:embed="rId10"/>
          <a:stretch>
            <a:fillRect/>
          </a:stretch>
        </p:blipFill>
        <p:spPr>
          <a:xfrm>
            <a:off x="9317609" y="4247769"/>
            <a:ext cx="274320" cy="274320"/>
          </a:xfrm>
          <a:prstGeom prst="rect">
            <a:avLst/>
          </a:prstGeom>
        </p:spPr>
      </p:pic>
      <p:sp>
        <p:nvSpPr>
          <p:cNvPr id="42" name="Text 32"/>
          <p:cNvSpPr/>
          <p:nvPr/>
        </p:nvSpPr>
        <p:spPr>
          <a:xfrm>
            <a:off x="9144000" y="4709160"/>
            <a:ext cx="2240280" cy="502920"/>
          </a:xfrm>
          <a:prstGeom prst="rect">
            <a:avLst/>
          </a:prstGeom>
          <a:noFill/>
        </p:spPr>
        <p:txBody>
          <a:bodyPr wrap="square" rtlCol="0" anchor="ctr"/>
          <a:lstStyle/>
          <a:p>
            <a:pPr marL="0" indent="0">
              <a:lnSpc>
                <a:spcPct val="105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Mobile &amp; Executive Reporting</a:t>
            </a:r>
            <a:endParaRPr lang="en-US" sz="1250" dirty="0"/>
          </a:p>
        </p:txBody>
      </p:sp>
      <p:sp>
        <p:nvSpPr>
          <p:cNvPr id="43" name="Text 33"/>
          <p:cNvSpPr/>
          <p:nvPr/>
        </p:nvSpPr>
        <p:spPr>
          <a:xfrm>
            <a:off x="9144000" y="5193792"/>
            <a:ext cx="2240280" cy="640080"/>
          </a:xfrm>
          <a:prstGeom prst="rect">
            <a:avLst/>
          </a:prstGeom>
          <a:noFill/>
        </p:spPr>
        <p:txBody>
          <a:bodyPr wrap="square" rtlCol="0" anchor="ctr"/>
          <a:lstStyle/>
          <a:p>
            <a:pPr marL="0" indent="0">
              <a:lnSpc>
                <a:spcPct val="110000"/>
              </a:lnSpc>
              <a:buNone/>
            </a:pPr>
            <a:r>
              <a:rPr lang="en-US" sz="1000" dirty="0">
                <a:solidFill>
                  <a:srgbClr val="B9CBE3"/>
                </a:solidFill>
                <a:latin typeface="Calibri" panose="020F0502020204030204" pitchFamily="34" charset="0"/>
                <a:ea typeface="Calibri" panose="020F0502020204030204" pitchFamily="34" charset="-122"/>
                <a:cs typeface="Calibri" panose="020F0502020204030204" pitchFamily="34" charset="-120"/>
              </a:rPr>
              <a:t>A lightweight mobile view and auto-generated leadership summary.</a:t>
            </a:r>
            <a:endParaRPr lang="en-US" sz="1000" dirty="0"/>
          </a:p>
        </p:txBody>
      </p:sp>
      <p:sp>
        <p:nvSpPr>
          <p:cNvPr id="44" name="Text 34"/>
          <p:cNvSpPr/>
          <p:nvPr/>
        </p:nvSpPr>
        <p:spPr>
          <a:xfrm>
            <a:off x="548640" y="6519672"/>
            <a:ext cx="6400800" cy="274320"/>
          </a:xfrm>
          <a:prstGeom prst="rect">
            <a:avLst/>
          </a:prstGeom>
          <a:noFill/>
        </p:spPr>
        <p:txBody>
          <a:bodyPr wrap="square" rtlCol="0" anchor="ctr"/>
          <a:lstStyle/>
          <a:p>
            <a:pPr marL="0" indent="0" algn="l">
              <a:buNone/>
            </a:pPr>
            <a:r>
              <a:rPr lang="en-US" sz="1000" dirty="0">
                <a:solidFill>
                  <a:srgbClr val="8CA0B8"/>
                </a:solidFill>
                <a:latin typeface="Calibri" panose="020F0502020204030204" pitchFamily="34" charset="0"/>
                <a:ea typeface="Calibri" panose="020F0502020204030204" pitchFamily="34" charset="-122"/>
                <a:cs typeface="Calibri" panose="020F0502020204030204" pitchFamily="34" charset="-120"/>
              </a:rPr>
              <a:t>HR Analytics Performance Dashboard</a:t>
            </a:r>
            <a:endParaRPr lang="en-US" sz="1000" dirty="0"/>
          </a:p>
        </p:txBody>
      </p:sp>
      <p:sp>
        <p:nvSpPr>
          <p:cNvPr id="45" name="Text 35"/>
          <p:cNvSpPr/>
          <p:nvPr/>
        </p:nvSpPr>
        <p:spPr>
          <a:xfrm>
            <a:off x="10881360" y="6519672"/>
            <a:ext cx="777240" cy="274320"/>
          </a:xfrm>
          <a:prstGeom prst="rect">
            <a:avLst/>
          </a:prstGeom>
          <a:noFill/>
        </p:spPr>
        <p:txBody>
          <a:bodyPr wrap="square" rtlCol="0" anchor="ctr"/>
          <a:lstStyle/>
          <a:p>
            <a:pPr marL="0" indent="0" algn="r">
              <a:buNone/>
            </a:pPr>
            <a:r>
              <a:rPr lang="en-US" sz="1000" dirty="0">
                <a:solidFill>
                  <a:srgbClr val="8CA0B8"/>
                </a:solidFill>
                <a:latin typeface="Calibri" panose="020F0502020204030204" pitchFamily="34" charset="0"/>
                <a:ea typeface="Calibri" panose="020F0502020204030204" pitchFamily="34" charset="-122"/>
                <a:cs typeface="Calibri" panose="020F0502020204030204" pitchFamily="34" charset="-120"/>
              </a:rPr>
              <a:t>10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F3D"/>
        </a:solidFill>
        <a:effectLst/>
      </p:bgPr>
    </p:bg>
    <p:spTree>
      <p:nvGrpSpPr>
        <p:cNvPr id="1" name=""/>
        <p:cNvGrpSpPr/>
        <p:nvPr/>
      </p:nvGrpSpPr>
      <p:grpSpPr>
        <a:xfrm>
          <a:off x="0" y="0"/>
          <a:ext cx="0" cy="0"/>
          <a:chOff x="0" y="0"/>
          <a:chExt cx="0" cy="0"/>
        </a:xfrm>
      </p:grpSpPr>
      <p:sp>
        <p:nvSpPr>
          <p:cNvPr id="2" name="Text 0"/>
          <p:cNvSpPr/>
          <p:nvPr/>
        </p:nvSpPr>
        <p:spPr>
          <a:xfrm>
            <a:off x="640080" y="438912"/>
            <a:ext cx="8229600" cy="320040"/>
          </a:xfrm>
          <a:prstGeom prst="rect">
            <a:avLst/>
          </a:prstGeom>
          <a:noFill/>
        </p:spPr>
        <p:txBody>
          <a:bodyPr wrap="square" rtlCol="0" anchor="ctr"/>
          <a:lstStyle/>
          <a:p>
            <a:pPr marL="0" indent="0">
              <a:buNone/>
            </a:pPr>
            <a:r>
              <a:rPr lang="en-US" sz="1300" b="1" kern="0" spc="200" dirty="0">
                <a:solidFill>
                  <a:srgbClr val="22D3EE"/>
                </a:solidFill>
                <a:latin typeface="Calibri" panose="020F0502020204030204" pitchFamily="34" charset="0"/>
                <a:ea typeface="Calibri" panose="020F0502020204030204" pitchFamily="34" charset="-122"/>
                <a:cs typeface="Calibri" panose="020F0502020204030204" pitchFamily="34" charset="-120"/>
              </a:rPr>
              <a:t>SKILLS DEMONSTRATED</a:t>
            </a:r>
            <a:endParaRPr lang="en-US" sz="1300" dirty="0"/>
          </a:p>
        </p:txBody>
      </p:sp>
      <p:sp>
        <p:nvSpPr>
          <p:cNvPr id="3" name="Text 1"/>
          <p:cNvSpPr/>
          <p:nvPr/>
        </p:nvSpPr>
        <p:spPr>
          <a:xfrm>
            <a:off x="640080" y="749808"/>
            <a:ext cx="10515600" cy="777240"/>
          </a:xfrm>
          <a:prstGeom prst="rect">
            <a:avLst/>
          </a:prstGeom>
          <a:noFill/>
        </p:spPr>
        <p:txBody>
          <a:bodyPr wrap="square"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Technical Craft Meets Business Fluency</a:t>
            </a:r>
            <a:endParaRPr lang="en-US" sz="3200" dirty="0"/>
          </a:p>
        </p:txBody>
      </p:sp>
      <p:sp>
        <p:nvSpPr>
          <p:cNvPr id="4" name="Text 2"/>
          <p:cNvSpPr/>
          <p:nvPr/>
        </p:nvSpPr>
        <p:spPr>
          <a:xfrm>
            <a:off x="640080" y="1691640"/>
            <a:ext cx="5120640" cy="411480"/>
          </a:xfrm>
          <a:prstGeom prst="rect">
            <a:avLst/>
          </a:prstGeom>
          <a:noFill/>
        </p:spPr>
        <p:txBody>
          <a:bodyPr wrap="square" rtlCol="0" anchor="ctr"/>
          <a:lstStyle/>
          <a:p>
            <a:pPr marL="0" indent="0">
              <a:buNone/>
            </a:pPr>
            <a:r>
              <a:rPr lang="en-US" sz="1700" b="1" dirty="0">
                <a:solidFill>
                  <a:srgbClr val="22D3EE"/>
                </a:solidFill>
                <a:latin typeface="Calibri" panose="020F0502020204030204" pitchFamily="34" charset="0"/>
                <a:ea typeface="Calibri" panose="020F0502020204030204" pitchFamily="34" charset="-122"/>
                <a:cs typeface="Calibri" panose="020F0502020204030204" pitchFamily="34" charset="-120"/>
              </a:rPr>
              <a:t>Technical Skills</a:t>
            </a:r>
            <a:endParaRPr lang="en-US" sz="1700" dirty="0"/>
          </a:p>
        </p:txBody>
      </p:sp>
      <p:sp>
        <p:nvSpPr>
          <p:cNvPr id="5" name="Shape 3"/>
          <p:cNvSpPr/>
          <p:nvPr/>
        </p:nvSpPr>
        <p:spPr>
          <a:xfrm>
            <a:off x="640080" y="2194560"/>
            <a:ext cx="457200" cy="457200"/>
          </a:xfrm>
          <a:prstGeom prst="ellipse">
            <a:avLst/>
          </a:prstGeom>
          <a:solidFill>
            <a:srgbClr val="22D3EE"/>
          </a:solidFill>
        </p:spPr>
      </p:sp>
      <p:pic>
        <p:nvPicPr>
          <p:cNvPr id="6" name="Image 0" descr="/home/claude/pptx_build/icons/database_navy.png"/>
          <p:cNvPicPr>
            <a:picLocks noChangeAspect="1"/>
          </p:cNvPicPr>
          <p:nvPr/>
        </p:nvPicPr>
        <p:blipFill>
          <a:blip r:embed="rId3"/>
          <a:stretch>
            <a:fillRect/>
          </a:stretch>
        </p:blipFill>
        <p:spPr>
          <a:xfrm>
            <a:off x="757936" y="2281936"/>
            <a:ext cx="274320" cy="274320"/>
          </a:xfrm>
          <a:prstGeom prst="rect">
            <a:avLst/>
          </a:prstGeom>
        </p:spPr>
      </p:pic>
      <p:sp>
        <p:nvSpPr>
          <p:cNvPr id="7" name="Text 4"/>
          <p:cNvSpPr/>
          <p:nvPr/>
        </p:nvSpPr>
        <p:spPr>
          <a:xfrm>
            <a:off x="1234440" y="2221992"/>
            <a:ext cx="4572000" cy="457200"/>
          </a:xfrm>
          <a:prstGeom prst="rect">
            <a:avLst/>
          </a:prstGeom>
          <a:noFill/>
        </p:spPr>
        <p:txBody>
          <a:bodyPr wrap="square"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Advanced Excel &amp; Pivot Tables</a:t>
            </a:r>
            <a:endParaRPr lang="en-US" sz="1350" dirty="0"/>
          </a:p>
        </p:txBody>
      </p:sp>
      <p:sp>
        <p:nvSpPr>
          <p:cNvPr id="8" name="Shape 5"/>
          <p:cNvSpPr/>
          <p:nvPr/>
        </p:nvSpPr>
        <p:spPr>
          <a:xfrm>
            <a:off x="640080" y="2852928"/>
            <a:ext cx="457200" cy="457200"/>
          </a:xfrm>
          <a:prstGeom prst="ellipse">
            <a:avLst/>
          </a:prstGeom>
          <a:solidFill>
            <a:srgbClr val="22D3EE"/>
          </a:solidFill>
        </p:spPr>
      </p:sp>
      <p:pic>
        <p:nvPicPr>
          <p:cNvPr id="9" name="Image 1" descr="/home/claude/pptx_build/icons/sitemap_navy.png"/>
          <p:cNvPicPr>
            <a:picLocks noChangeAspect="1"/>
          </p:cNvPicPr>
          <p:nvPr/>
        </p:nvPicPr>
        <p:blipFill>
          <a:blip r:embed="rId4"/>
          <a:stretch>
            <a:fillRect/>
          </a:stretch>
        </p:blipFill>
        <p:spPr>
          <a:xfrm>
            <a:off x="757936" y="2940304"/>
            <a:ext cx="274320" cy="274320"/>
          </a:xfrm>
          <a:prstGeom prst="rect">
            <a:avLst/>
          </a:prstGeom>
        </p:spPr>
      </p:pic>
      <p:sp>
        <p:nvSpPr>
          <p:cNvPr id="10" name="Text 6"/>
          <p:cNvSpPr/>
          <p:nvPr/>
        </p:nvSpPr>
        <p:spPr>
          <a:xfrm>
            <a:off x="1234440" y="2880360"/>
            <a:ext cx="4572000" cy="457200"/>
          </a:xfrm>
          <a:prstGeom prst="rect">
            <a:avLst/>
          </a:prstGeom>
          <a:noFill/>
        </p:spPr>
        <p:txBody>
          <a:bodyPr wrap="square"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Dashboard &amp; KPI Design</a:t>
            </a:r>
            <a:endParaRPr lang="en-US" sz="1350" dirty="0"/>
          </a:p>
        </p:txBody>
      </p:sp>
      <p:sp>
        <p:nvSpPr>
          <p:cNvPr id="11" name="Shape 7"/>
          <p:cNvSpPr/>
          <p:nvPr/>
        </p:nvSpPr>
        <p:spPr>
          <a:xfrm>
            <a:off x="640080" y="3511296"/>
            <a:ext cx="457200" cy="457200"/>
          </a:xfrm>
          <a:prstGeom prst="ellipse">
            <a:avLst/>
          </a:prstGeom>
          <a:solidFill>
            <a:srgbClr val="22D3EE"/>
          </a:solidFill>
        </p:spPr>
      </p:sp>
      <p:pic>
        <p:nvPicPr>
          <p:cNvPr id="12" name="Image 2" descr="/home/claude/pptx_build/icons/code_navy.png"/>
          <p:cNvPicPr>
            <a:picLocks noChangeAspect="1"/>
          </p:cNvPicPr>
          <p:nvPr/>
        </p:nvPicPr>
        <p:blipFill>
          <a:blip r:embed="rId5"/>
          <a:stretch>
            <a:fillRect/>
          </a:stretch>
        </p:blipFill>
        <p:spPr>
          <a:xfrm>
            <a:off x="757936" y="3598672"/>
            <a:ext cx="274320" cy="274320"/>
          </a:xfrm>
          <a:prstGeom prst="rect">
            <a:avLst/>
          </a:prstGeom>
        </p:spPr>
      </p:pic>
      <p:sp>
        <p:nvSpPr>
          <p:cNvPr id="13" name="Text 8"/>
          <p:cNvSpPr/>
          <p:nvPr/>
        </p:nvSpPr>
        <p:spPr>
          <a:xfrm>
            <a:off x="1234440" y="3538728"/>
            <a:ext cx="4572000" cy="457200"/>
          </a:xfrm>
          <a:prstGeom prst="rect">
            <a:avLst/>
          </a:prstGeom>
          <a:noFill/>
        </p:spPr>
        <p:txBody>
          <a:bodyPr wrap="square"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VBA Automation</a:t>
            </a:r>
            <a:endParaRPr lang="en-US" sz="1350" dirty="0"/>
          </a:p>
        </p:txBody>
      </p:sp>
      <p:sp>
        <p:nvSpPr>
          <p:cNvPr id="14" name="Shape 9"/>
          <p:cNvSpPr/>
          <p:nvPr/>
        </p:nvSpPr>
        <p:spPr>
          <a:xfrm>
            <a:off x="640080" y="4169664"/>
            <a:ext cx="457200" cy="457200"/>
          </a:xfrm>
          <a:prstGeom prst="ellipse">
            <a:avLst/>
          </a:prstGeom>
          <a:solidFill>
            <a:srgbClr val="22D3EE"/>
          </a:solidFill>
        </p:spPr>
      </p:sp>
      <p:pic>
        <p:nvPicPr>
          <p:cNvPr id="15" name="Image 3" descr="/home/claude/pptx_build/icons/broom_navy.png"/>
          <p:cNvPicPr>
            <a:picLocks noChangeAspect="1"/>
          </p:cNvPicPr>
          <p:nvPr/>
        </p:nvPicPr>
        <p:blipFill>
          <a:blip r:embed="rId6"/>
          <a:stretch>
            <a:fillRect/>
          </a:stretch>
        </p:blipFill>
        <p:spPr>
          <a:xfrm>
            <a:off x="757936" y="4257040"/>
            <a:ext cx="274320" cy="274320"/>
          </a:xfrm>
          <a:prstGeom prst="rect">
            <a:avLst/>
          </a:prstGeom>
        </p:spPr>
      </p:pic>
      <p:sp>
        <p:nvSpPr>
          <p:cNvPr id="16" name="Text 10"/>
          <p:cNvSpPr/>
          <p:nvPr/>
        </p:nvSpPr>
        <p:spPr>
          <a:xfrm>
            <a:off x="1234440" y="4197096"/>
            <a:ext cx="4572000" cy="457200"/>
          </a:xfrm>
          <a:prstGeom prst="rect">
            <a:avLst/>
          </a:prstGeom>
          <a:noFill/>
        </p:spPr>
        <p:txBody>
          <a:bodyPr wrap="square"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Cleaning &amp; Preparation</a:t>
            </a:r>
            <a:endParaRPr lang="en-US" sz="1350" dirty="0"/>
          </a:p>
        </p:txBody>
      </p:sp>
      <p:sp>
        <p:nvSpPr>
          <p:cNvPr id="17" name="Shape 11"/>
          <p:cNvSpPr/>
          <p:nvPr/>
        </p:nvSpPr>
        <p:spPr>
          <a:xfrm>
            <a:off x="640080" y="4828032"/>
            <a:ext cx="457200" cy="457200"/>
          </a:xfrm>
          <a:prstGeom prst="ellipse">
            <a:avLst/>
          </a:prstGeom>
          <a:solidFill>
            <a:srgbClr val="22D3EE"/>
          </a:solidFill>
        </p:spPr>
      </p:sp>
      <p:pic>
        <p:nvPicPr>
          <p:cNvPr id="18" name="Image 4" descr="/home/claude/pptx_build/icons/filter_navy.png"/>
          <p:cNvPicPr>
            <a:picLocks noChangeAspect="1"/>
          </p:cNvPicPr>
          <p:nvPr/>
        </p:nvPicPr>
        <p:blipFill>
          <a:blip r:embed="rId7"/>
          <a:stretch>
            <a:fillRect/>
          </a:stretch>
        </p:blipFill>
        <p:spPr>
          <a:xfrm>
            <a:off x="757936" y="4915408"/>
            <a:ext cx="274320" cy="274320"/>
          </a:xfrm>
          <a:prstGeom prst="rect">
            <a:avLst/>
          </a:prstGeom>
        </p:spPr>
      </p:pic>
      <p:sp>
        <p:nvSpPr>
          <p:cNvPr id="19" name="Text 12"/>
          <p:cNvSpPr/>
          <p:nvPr/>
        </p:nvSpPr>
        <p:spPr>
          <a:xfrm>
            <a:off x="1234440" y="4855464"/>
            <a:ext cx="4572000" cy="457200"/>
          </a:xfrm>
          <a:prstGeom prst="rect">
            <a:avLst/>
          </a:prstGeom>
          <a:noFill/>
        </p:spPr>
        <p:txBody>
          <a:bodyPr wrap="square"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Interactive Report Design</a:t>
            </a:r>
            <a:endParaRPr lang="en-US" sz="1350" dirty="0"/>
          </a:p>
        </p:txBody>
      </p:sp>
      <p:sp>
        <p:nvSpPr>
          <p:cNvPr id="20" name="Text 13"/>
          <p:cNvSpPr/>
          <p:nvPr/>
        </p:nvSpPr>
        <p:spPr>
          <a:xfrm>
            <a:off x="6309360" y="1691640"/>
            <a:ext cx="5120640" cy="411480"/>
          </a:xfrm>
          <a:prstGeom prst="rect">
            <a:avLst/>
          </a:prstGeom>
          <a:noFill/>
        </p:spPr>
        <p:txBody>
          <a:bodyPr wrap="square" rtlCol="0" anchor="ctr"/>
          <a:lstStyle/>
          <a:p>
            <a:pPr marL="0" indent="0">
              <a:buNone/>
            </a:pPr>
            <a:r>
              <a:rPr lang="en-US" sz="1700" b="1" dirty="0">
                <a:solidFill>
                  <a:srgbClr val="22D3EE"/>
                </a:solidFill>
                <a:latin typeface="Calibri" panose="020F0502020204030204" pitchFamily="34" charset="0"/>
                <a:ea typeface="Calibri" panose="020F0502020204030204" pitchFamily="34" charset="-122"/>
                <a:cs typeface="Calibri" panose="020F0502020204030204" pitchFamily="34" charset="-120"/>
              </a:rPr>
              <a:t>Analytical &amp; Business Skills</a:t>
            </a:r>
            <a:endParaRPr lang="en-US" sz="1700" dirty="0"/>
          </a:p>
        </p:txBody>
      </p:sp>
      <p:sp>
        <p:nvSpPr>
          <p:cNvPr id="21" name="Shape 14"/>
          <p:cNvSpPr/>
          <p:nvPr/>
        </p:nvSpPr>
        <p:spPr>
          <a:xfrm>
            <a:off x="6309360" y="2194560"/>
            <a:ext cx="457200" cy="457200"/>
          </a:xfrm>
          <a:prstGeom prst="ellipse">
            <a:avLst/>
          </a:prstGeom>
          <a:solidFill>
            <a:srgbClr val="22D3EE"/>
          </a:solidFill>
        </p:spPr>
      </p:sp>
      <p:pic>
        <p:nvPicPr>
          <p:cNvPr id="22" name="Image 5" descr="/home/claude/pptx_build/icons/chartPie_navy.png"/>
          <p:cNvPicPr>
            <a:picLocks noChangeAspect="1"/>
          </p:cNvPicPr>
          <p:nvPr/>
        </p:nvPicPr>
        <p:blipFill>
          <a:blip r:embed="rId8"/>
          <a:stretch>
            <a:fillRect/>
          </a:stretch>
        </p:blipFill>
        <p:spPr>
          <a:xfrm>
            <a:off x="6427216" y="2281936"/>
            <a:ext cx="274320" cy="274320"/>
          </a:xfrm>
          <a:prstGeom prst="rect">
            <a:avLst/>
          </a:prstGeom>
        </p:spPr>
      </p:pic>
      <p:sp>
        <p:nvSpPr>
          <p:cNvPr id="23" name="Text 15"/>
          <p:cNvSpPr/>
          <p:nvPr/>
        </p:nvSpPr>
        <p:spPr>
          <a:xfrm>
            <a:off x="6903720" y="2221992"/>
            <a:ext cx="4846320" cy="457200"/>
          </a:xfrm>
          <a:prstGeom prst="rect">
            <a:avLst/>
          </a:prstGeom>
          <a:noFill/>
        </p:spPr>
        <p:txBody>
          <a:bodyPr wrap="square"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Business Intelligence &amp; Data Visualization</a:t>
            </a:r>
            <a:endParaRPr lang="en-US" sz="1350" dirty="0"/>
          </a:p>
        </p:txBody>
      </p:sp>
      <p:sp>
        <p:nvSpPr>
          <p:cNvPr id="24" name="Shape 16"/>
          <p:cNvSpPr/>
          <p:nvPr/>
        </p:nvSpPr>
        <p:spPr>
          <a:xfrm>
            <a:off x="6309360" y="2852928"/>
            <a:ext cx="457200" cy="457200"/>
          </a:xfrm>
          <a:prstGeom prst="ellipse">
            <a:avLst/>
          </a:prstGeom>
          <a:solidFill>
            <a:srgbClr val="22D3EE"/>
          </a:solidFill>
        </p:spPr>
      </p:sp>
      <p:pic>
        <p:nvPicPr>
          <p:cNvPr id="25" name="Image 6" descr="/home/claude/pptx_build/icons/bulb_navy.png"/>
          <p:cNvPicPr>
            <a:picLocks noChangeAspect="1"/>
          </p:cNvPicPr>
          <p:nvPr/>
        </p:nvPicPr>
        <p:blipFill>
          <a:blip r:embed="rId9"/>
          <a:stretch>
            <a:fillRect/>
          </a:stretch>
        </p:blipFill>
        <p:spPr>
          <a:xfrm>
            <a:off x="6447536" y="2940304"/>
            <a:ext cx="274320" cy="274320"/>
          </a:xfrm>
          <a:prstGeom prst="rect">
            <a:avLst/>
          </a:prstGeom>
        </p:spPr>
      </p:pic>
      <p:sp>
        <p:nvSpPr>
          <p:cNvPr id="26" name="Text 17"/>
          <p:cNvSpPr/>
          <p:nvPr/>
        </p:nvSpPr>
        <p:spPr>
          <a:xfrm>
            <a:off x="6903720" y="2880360"/>
            <a:ext cx="4846320" cy="457200"/>
          </a:xfrm>
          <a:prstGeom prst="rect">
            <a:avLst/>
          </a:prstGeom>
          <a:noFill/>
        </p:spPr>
        <p:txBody>
          <a:bodyPr wrap="square"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Analytical &amp; Critical Thinking</a:t>
            </a:r>
            <a:endParaRPr lang="en-US" sz="1350" dirty="0"/>
          </a:p>
        </p:txBody>
      </p:sp>
      <p:sp>
        <p:nvSpPr>
          <p:cNvPr id="27" name="Shape 18"/>
          <p:cNvSpPr/>
          <p:nvPr/>
        </p:nvSpPr>
        <p:spPr>
          <a:xfrm>
            <a:off x="6309360" y="3511296"/>
            <a:ext cx="457200" cy="457200"/>
          </a:xfrm>
          <a:prstGeom prst="ellipse">
            <a:avLst/>
          </a:prstGeom>
          <a:solidFill>
            <a:srgbClr val="22D3EE"/>
          </a:solidFill>
        </p:spPr>
      </p:sp>
      <p:pic>
        <p:nvPicPr>
          <p:cNvPr id="28" name="Image 7" descr="/home/claude/pptx_build/icons/target_navy.png"/>
          <p:cNvPicPr>
            <a:picLocks noChangeAspect="1"/>
          </p:cNvPicPr>
          <p:nvPr/>
        </p:nvPicPr>
        <p:blipFill>
          <a:blip r:embed="rId10"/>
          <a:stretch>
            <a:fillRect/>
          </a:stretch>
        </p:blipFill>
        <p:spPr>
          <a:xfrm>
            <a:off x="6427216" y="3598672"/>
            <a:ext cx="274320" cy="274320"/>
          </a:xfrm>
          <a:prstGeom prst="rect">
            <a:avLst/>
          </a:prstGeom>
        </p:spPr>
      </p:pic>
      <p:sp>
        <p:nvSpPr>
          <p:cNvPr id="29" name="Text 19"/>
          <p:cNvSpPr/>
          <p:nvPr/>
        </p:nvSpPr>
        <p:spPr>
          <a:xfrm>
            <a:off x="6903720" y="3538728"/>
            <a:ext cx="4846320" cy="457200"/>
          </a:xfrm>
          <a:prstGeom prst="rect">
            <a:avLst/>
          </a:prstGeom>
          <a:noFill/>
        </p:spPr>
        <p:txBody>
          <a:bodyPr wrap="square"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Problem Solving</a:t>
            </a:r>
            <a:endParaRPr lang="en-US" sz="1350" dirty="0"/>
          </a:p>
        </p:txBody>
      </p:sp>
      <p:sp>
        <p:nvSpPr>
          <p:cNvPr id="30" name="Shape 20"/>
          <p:cNvSpPr/>
          <p:nvPr/>
        </p:nvSpPr>
        <p:spPr>
          <a:xfrm>
            <a:off x="6309360" y="4169664"/>
            <a:ext cx="457200" cy="457200"/>
          </a:xfrm>
          <a:prstGeom prst="ellipse">
            <a:avLst/>
          </a:prstGeom>
          <a:solidFill>
            <a:srgbClr val="22D3EE"/>
          </a:solidFill>
        </p:spPr>
      </p:sp>
      <p:pic>
        <p:nvPicPr>
          <p:cNvPr id="31" name="Image 8" descr="/home/claude/pptx_build/icons/bullhorn_navy.png"/>
          <p:cNvPicPr>
            <a:picLocks noChangeAspect="1"/>
          </p:cNvPicPr>
          <p:nvPr/>
        </p:nvPicPr>
        <p:blipFill>
          <a:blip r:embed="rId11"/>
          <a:stretch>
            <a:fillRect/>
          </a:stretch>
        </p:blipFill>
        <p:spPr>
          <a:xfrm>
            <a:off x="6427216" y="4257040"/>
            <a:ext cx="274320" cy="274320"/>
          </a:xfrm>
          <a:prstGeom prst="rect">
            <a:avLst/>
          </a:prstGeom>
        </p:spPr>
      </p:pic>
      <p:sp>
        <p:nvSpPr>
          <p:cNvPr id="32" name="Text 21"/>
          <p:cNvSpPr/>
          <p:nvPr/>
        </p:nvSpPr>
        <p:spPr>
          <a:xfrm>
            <a:off x="6903720" y="4197096"/>
            <a:ext cx="4846320" cy="457200"/>
          </a:xfrm>
          <a:prstGeom prst="rect">
            <a:avLst/>
          </a:prstGeom>
          <a:noFill/>
        </p:spPr>
        <p:txBody>
          <a:bodyPr wrap="square"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Business Storytelling</a:t>
            </a:r>
            <a:endParaRPr lang="en-US" sz="1350" dirty="0"/>
          </a:p>
        </p:txBody>
      </p:sp>
      <p:sp>
        <p:nvSpPr>
          <p:cNvPr id="33" name="Shape 22"/>
          <p:cNvSpPr/>
          <p:nvPr/>
        </p:nvSpPr>
        <p:spPr>
          <a:xfrm>
            <a:off x="6309360" y="4828032"/>
            <a:ext cx="457200" cy="457200"/>
          </a:xfrm>
          <a:prstGeom prst="ellipse">
            <a:avLst/>
          </a:prstGeom>
          <a:solidFill>
            <a:srgbClr val="22D3EE"/>
          </a:solidFill>
        </p:spPr>
      </p:sp>
      <p:pic>
        <p:nvPicPr>
          <p:cNvPr id="34" name="Image 9" descr="/home/claude/pptx_build/icons/users_navy.png"/>
          <p:cNvPicPr>
            <a:picLocks noChangeAspect="1"/>
          </p:cNvPicPr>
          <p:nvPr/>
        </p:nvPicPr>
        <p:blipFill>
          <a:blip r:embed="rId12"/>
          <a:stretch>
            <a:fillRect/>
          </a:stretch>
        </p:blipFill>
        <p:spPr>
          <a:xfrm>
            <a:off x="6427216" y="4915408"/>
            <a:ext cx="274320" cy="274320"/>
          </a:xfrm>
          <a:prstGeom prst="rect">
            <a:avLst/>
          </a:prstGeom>
        </p:spPr>
      </p:pic>
      <p:sp>
        <p:nvSpPr>
          <p:cNvPr id="35" name="Text 23"/>
          <p:cNvSpPr/>
          <p:nvPr/>
        </p:nvSpPr>
        <p:spPr>
          <a:xfrm>
            <a:off x="6903720" y="4855464"/>
            <a:ext cx="4846320" cy="457200"/>
          </a:xfrm>
          <a:prstGeom prst="rect">
            <a:avLst/>
          </a:prstGeom>
          <a:noFill/>
        </p:spPr>
        <p:txBody>
          <a:bodyPr wrap="square" rtlCol="0" anchor="ctr"/>
          <a:lstStyle/>
          <a:p>
            <a:pPr marL="0" indent="0">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HR Analytics Domain Knowledge</a:t>
            </a:r>
            <a:endParaRPr lang="en-US" sz="1350" dirty="0"/>
          </a:p>
        </p:txBody>
      </p:sp>
      <p:sp>
        <p:nvSpPr>
          <p:cNvPr id="36" name="Text 24"/>
          <p:cNvSpPr/>
          <p:nvPr/>
        </p:nvSpPr>
        <p:spPr>
          <a:xfrm>
            <a:off x="548640" y="6519672"/>
            <a:ext cx="6400800" cy="274320"/>
          </a:xfrm>
          <a:prstGeom prst="rect">
            <a:avLst/>
          </a:prstGeom>
          <a:noFill/>
        </p:spPr>
        <p:txBody>
          <a:bodyPr wrap="square" rtlCol="0" anchor="ctr"/>
          <a:lstStyle/>
          <a:p>
            <a:pPr marL="0" indent="0" algn="l">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HR Analytics Performance Dashboard</a:t>
            </a:r>
            <a:endParaRPr lang="en-US" sz="1000" dirty="0"/>
          </a:p>
        </p:txBody>
      </p:sp>
      <p:sp>
        <p:nvSpPr>
          <p:cNvPr id="37" name="Text 25"/>
          <p:cNvSpPr/>
          <p:nvPr/>
        </p:nvSpPr>
        <p:spPr>
          <a:xfrm>
            <a:off x="10881360" y="6519672"/>
            <a:ext cx="777240" cy="274320"/>
          </a:xfrm>
          <a:prstGeom prst="rect">
            <a:avLst/>
          </a:prstGeom>
          <a:noFill/>
        </p:spPr>
        <p:txBody>
          <a:bodyPr wrap="square" rtlCol="0" anchor="ctr"/>
          <a:lstStyle/>
          <a:p>
            <a:pPr marL="0" indent="0" algn="r">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11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F3D"/>
        </a:solidFill>
        <a:effectLst/>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1B3A63"/>
          </a:solidFill>
        </p:spPr>
      </p:sp>
      <p:sp>
        <p:nvSpPr>
          <p:cNvPr id="3" name="Shape 1"/>
          <p:cNvSpPr/>
          <p:nvPr/>
        </p:nvSpPr>
        <p:spPr>
          <a:xfrm>
            <a:off x="-1828800" y="5120640"/>
            <a:ext cx="4389120" cy="4389120"/>
          </a:xfrm>
          <a:prstGeom prst="ellipse">
            <a:avLst/>
          </a:prstGeom>
          <a:solidFill>
            <a:srgbClr val="0F2A52"/>
          </a:solidFill>
        </p:spPr>
      </p:sp>
      <p:sp>
        <p:nvSpPr>
          <p:cNvPr id="4" name="Text 2"/>
          <p:cNvSpPr/>
          <p:nvPr/>
        </p:nvSpPr>
        <p:spPr>
          <a:xfrm>
            <a:off x="640080" y="438912"/>
            <a:ext cx="8229600" cy="320040"/>
          </a:xfrm>
          <a:prstGeom prst="rect">
            <a:avLst/>
          </a:prstGeom>
          <a:noFill/>
        </p:spPr>
        <p:txBody>
          <a:bodyPr wrap="square" rtlCol="0" anchor="ctr"/>
          <a:lstStyle/>
          <a:p>
            <a:pPr marL="0" indent="0">
              <a:buNone/>
            </a:pPr>
            <a:r>
              <a:rPr lang="en-US" sz="1300" b="1" kern="0" spc="200" dirty="0">
                <a:solidFill>
                  <a:srgbClr val="22D3EE"/>
                </a:solidFill>
                <a:latin typeface="Calibri" panose="020F0502020204030204" pitchFamily="34" charset="0"/>
                <a:ea typeface="Calibri" panose="020F0502020204030204" pitchFamily="34" charset="-122"/>
                <a:cs typeface="Calibri" panose="020F0502020204030204" pitchFamily="34" charset="-120"/>
              </a:rPr>
              <a:t>CONCLUSION</a:t>
            </a:r>
            <a:endParaRPr lang="en-US" sz="1300" dirty="0"/>
          </a:p>
        </p:txBody>
      </p:sp>
      <p:sp>
        <p:nvSpPr>
          <p:cNvPr id="5" name="Text 3"/>
          <p:cNvSpPr/>
          <p:nvPr/>
        </p:nvSpPr>
        <p:spPr>
          <a:xfrm>
            <a:off x="640080" y="868680"/>
            <a:ext cx="10515600" cy="822960"/>
          </a:xfrm>
          <a:prstGeom prst="rect">
            <a:avLst/>
          </a:prstGeom>
          <a:noFill/>
        </p:spPr>
        <p:txBody>
          <a:bodyPr wrap="square"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From Raw Data to a Decision-Ready Dashboard</a:t>
            </a:r>
            <a:endParaRPr lang="en-US" sz="3200" dirty="0"/>
          </a:p>
        </p:txBody>
      </p:sp>
      <p:sp>
        <p:nvSpPr>
          <p:cNvPr id="6" name="Text 4"/>
          <p:cNvSpPr/>
          <p:nvPr/>
        </p:nvSpPr>
        <p:spPr>
          <a:xfrm>
            <a:off x="640080" y="1874520"/>
            <a:ext cx="6583680" cy="2194560"/>
          </a:xfrm>
          <a:prstGeom prst="rect">
            <a:avLst/>
          </a:prstGeom>
          <a:noFill/>
        </p:spPr>
        <p:txBody>
          <a:bodyPr wrap="square" rtlCol="0" anchor="ctr"/>
          <a:lstStyle/>
          <a:p>
            <a:pPr marL="0" indent="0">
              <a:lnSpc>
                <a:spcPct val="125000"/>
              </a:lnSpc>
              <a:buNone/>
            </a:pPr>
            <a:r>
              <a:rPr lang="en-US" sz="1400" dirty="0">
                <a:solidFill>
                  <a:srgbClr val="C7D6EA"/>
                </a:solidFill>
              </a:rPr>
              <a:t>This project took 171 raw employee records and turned them into a governed, interactive dashboard that surfaces a real, actionable finding: attrition is concentrated, not evenly spread, and specific, targeted interventions can meaningfully move the numbers where a blanket, company-wide program would not.
It reflects the full analytics lifecycle — cleaning, modeling, KPI design, automation, and business storytelling — and lays the foundation for the predictive HR analytics work I want to build next.</a:t>
            </a:r>
            <a:endParaRPr lang="en-US" sz="1400" dirty="0"/>
          </a:p>
        </p:txBody>
      </p:sp>
      <p:sp>
        <p:nvSpPr>
          <p:cNvPr id="7" name="Shape 5"/>
          <p:cNvSpPr/>
          <p:nvPr/>
        </p:nvSpPr>
        <p:spPr>
          <a:xfrm>
            <a:off x="640080" y="4160520"/>
            <a:ext cx="3154680" cy="384048"/>
          </a:xfrm>
          <a:prstGeom prst="roundRect">
            <a:avLst>
              <a:gd name="adj" fmla="val 50000"/>
            </a:avLst>
          </a:prstGeom>
          <a:solidFill>
            <a:srgbClr val="0F2A52"/>
          </a:solidFill>
          <a:ln w="12700">
            <a:solidFill>
              <a:srgbClr val="1B3A63"/>
            </a:solidFill>
            <a:prstDash val="solid"/>
          </a:ln>
        </p:spPr>
      </p:sp>
      <p:sp>
        <p:nvSpPr>
          <p:cNvPr id="8" name="Shape 6"/>
          <p:cNvSpPr/>
          <p:nvPr/>
        </p:nvSpPr>
        <p:spPr>
          <a:xfrm>
            <a:off x="685800" y="4206240"/>
            <a:ext cx="292608" cy="292608"/>
          </a:xfrm>
          <a:prstGeom prst="ellipse">
            <a:avLst/>
          </a:prstGeom>
          <a:solidFill>
            <a:srgbClr val="0F2A52"/>
          </a:solidFill>
        </p:spPr>
      </p:sp>
      <p:pic>
        <p:nvPicPr>
          <p:cNvPr id="9" name="Image 0" descr="/home/claude/pptx_build/icons/checkCircle_cyan.png"/>
          <p:cNvPicPr>
            <a:picLocks noChangeAspect="1"/>
          </p:cNvPicPr>
          <p:nvPr/>
        </p:nvPicPr>
        <p:blipFill>
          <a:blip r:embed="rId3"/>
          <a:stretch>
            <a:fillRect/>
          </a:stretch>
        </p:blipFill>
        <p:spPr>
          <a:xfrm>
            <a:off x="685800" y="4206240"/>
            <a:ext cx="292608" cy="292608"/>
          </a:xfrm>
          <a:prstGeom prst="rect">
            <a:avLst/>
          </a:prstGeom>
        </p:spPr>
      </p:pic>
      <p:sp>
        <p:nvSpPr>
          <p:cNvPr id="10" name="Text 7"/>
          <p:cNvSpPr/>
          <p:nvPr/>
        </p:nvSpPr>
        <p:spPr>
          <a:xfrm>
            <a:off x="1097280" y="4160520"/>
            <a:ext cx="2606040" cy="38404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Cleaning</a:t>
            </a:r>
            <a:endParaRPr lang="en-US" sz="1150" dirty="0"/>
          </a:p>
        </p:txBody>
      </p:sp>
      <p:sp>
        <p:nvSpPr>
          <p:cNvPr id="11" name="Shape 8"/>
          <p:cNvSpPr/>
          <p:nvPr/>
        </p:nvSpPr>
        <p:spPr>
          <a:xfrm>
            <a:off x="4023360" y="4160520"/>
            <a:ext cx="3154680" cy="384048"/>
          </a:xfrm>
          <a:prstGeom prst="roundRect">
            <a:avLst>
              <a:gd name="adj" fmla="val 50000"/>
            </a:avLst>
          </a:prstGeom>
          <a:solidFill>
            <a:srgbClr val="0F2A52"/>
          </a:solidFill>
          <a:ln w="12700">
            <a:solidFill>
              <a:srgbClr val="1B3A63"/>
            </a:solidFill>
            <a:prstDash val="solid"/>
          </a:ln>
        </p:spPr>
      </p:sp>
      <p:sp>
        <p:nvSpPr>
          <p:cNvPr id="12" name="Shape 9"/>
          <p:cNvSpPr/>
          <p:nvPr/>
        </p:nvSpPr>
        <p:spPr>
          <a:xfrm>
            <a:off x="4069080" y="4206240"/>
            <a:ext cx="292608" cy="292608"/>
          </a:xfrm>
          <a:prstGeom prst="ellipse">
            <a:avLst/>
          </a:prstGeom>
          <a:solidFill>
            <a:srgbClr val="0F2A52"/>
          </a:solidFill>
        </p:spPr>
      </p:sp>
      <p:pic>
        <p:nvPicPr>
          <p:cNvPr id="13" name="Image 1" descr="/home/claude/pptx_build/icons/checkCircle_cyan.png"/>
          <p:cNvPicPr>
            <a:picLocks noChangeAspect="1"/>
          </p:cNvPicPr>
          <p:nvPr/>
        </p:nvPicPr>
        <p:blipFill>
          <a:blip r:embed="rId3"/>
          <a:stretch>
            <a:fillRect/>
          </a:stretch>
        </p:blipFill>
        <p:spPr>
          <a:xfrm>
            <a:off x="4069080" y="4206240"/>
            <a:ext cx="292608" cy="292608"/>
          </a:xfrm>
          <a:prstGeom prst="rect">
            <a:avLst/>
          </a:prstGeom>
        </p:spPr>
      </p:pic>
      <p:sp>
        <p:nvSpPr>
          <p:cNvPr id="14" name="Text 10"/>
          <p:cNvSpPr/>
          <p:nvPr/>
        </p:nvSpPr>
        <p:spPr>
          <a:xfrm>
            <a:off x="4480560" y="4160520"/>
            <a:ext cx="2606040" cy="38404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Pivot Modeling</a:t>
            </a:r>
            <a:endParaRPr lang="en-US" sz="1150" dirty="0"/>
          </a:p>
        </p:txBody>
      </p:sp>
      <p:sp>
        <p:nvSpPr>
          <p:cNvPr id="15" name="Shape 11"/>
          <p:cNvSpPr/>
          <p:nvPr/>
        </p:nvSpPr>
        <p:spPr>
          <a:xfrm>
            <a:off x="640080" y="4663440"/>
            <a:ext cx="3154680" cy="384048"/>
          </a:xfrm>
          <a:prstGeom prst="roundRect">
            <a:avLst>
              <a:gd name="adj" fmla="val 50000"/>
            </a:avLst>
          </a:prstGeom>
          <a:solidFill>
            <a:srgbClr val="0F2A52"/>
          </a:solidFill>
          <a:ln w="12700">
            <a:solidFill>
              <a:srgbClr val="1B3A63"/>
            </a:solidFill>
            <a:prstDash val="solid"/>
          </a:ln>
        </p:spPr>
      </p:sp>
      <p:sp>
        <p:nvSpPr>
          <p:cNvPr id="16" name="Shape 12"/>
          <p:cNvSpPr/>
          <p:nvPr/>
        </p:nvSpPr>
        <p:spPr>
          <a:xfrm>
            <a:off x="685800" y="4709160"/>
            <a:ext cx="292608" cy="292608"/>
          </a:xfrm>
          <a:prstGeom prst="ellipse">
            <a:avLst/>
          </a:prstGeom>
          <a:solidFill>
            <a:srgbClr val="0F2A52"/>
          </a:solidFill>
        </p:spPr>
      </p:sp>
      <p:pic>
        <p:nvPicPr>
          <p:cNvPr id="17" name="Image 2" descr="/home/claude/pptx_build/icons/checkCircle_cyan.png"/>
          <p:cNvPicPr>
            <a:picLocks noChangeAspect="1"/>
          </p:cNvPicPr>
          <p:nvPr/>
        </p:nvPicPr>
        <p:blipFill>
          <a:blip r:embed="rId3"/>
          <a:stretch>
            <a:fillRect/>
          </a:stretch>
        </p:blipFill>
        <p:spPr>
          <a:xfrm>
            <a:off x="685800" y="4709160"/>
            <a:ext cx="292608" cy="292608"/>
          </a:xfrm>
          <a:prstGeom prst="rect">
            <a:avLst/>
          </a:prstGeom>
        </p:spPr>
      </p:pic>
      <p:sp>
        <p:nvSpPr>
          <p:cNvPr id="18" name="Text 13"/>
          <p:cNvSpPr/>
          <p:nvPr/>
        </p:nvSpPr>
        <p:spPr>
          <a:xfrm>
            <a:off x="1097280" y="4663440"/>
            <a:ext cx="2606040" cy="38404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VBA Automation</a:t>
            </a:r>
            <a:endParaRPr lang="en-US" sz="1150" dirty="0"/>
          </a:p>
        </p:txBody>
      </p:sp>
      <p:sp>
        <p:nvSpPr>
          <p:cNvPr id="19" name="Shape 14"/>
          <p:cNvSpPr/>
          <p:nvPr/>
        </p:nvSpPr>
        <p:spPr>
          <a:xfrm>
            <a:off x="4023360" y="4663440"/>
            <a:ext cx="3154680" cy="384048"/>
          </a:xfrm>
          <a:prstGeom prst="roundRect">
            <a:avLst>
              <a:gd name="adj" fmla="val 50000"/>
            </a:avLst>
          </a:prstGeom>
          <a:solidFill>
            <a:srgbClr val="0F2A52"/>
          </a:solidFill>
          <a:ln w="12700">
            <a:solidFill>
              <a:srgbClr val="1B3A63"/>
            </a:solidFill>
            <a:prstDash val="solid"/>
          </a:ln>
        </p:spPr>
      </p:sp>
      <p:sp>
        <p:nvSpPr>
          <p:cNvPr id="20" name="Shape 15"/>
          <p:cNvSpPr/>
          <p:nvPr/>
        </p:nvSpPr>
        <p:spPr>
          <a:xfrm>
            <a:off x="4069080" y="4709160"/>
            <a:ext cx="292608" cy="292608"/>
          </a:xfrm>
          <a:prstGeom prst="ellipse">
            <a:avLst/>
          </a:prstGeom>
          <a:solidFill>
            <a:srgbClr val="0F2A52"/>
          </a:solidFill>
        </p:spPr>
      </p:sp>
      <p:pic>
        <p:nvPicPr>
          <p:cNvPr id="21" name="Image 3" descr="/home/claude/pptx_build/icons/checkCircle_cyan.png"/>
          <p:cNvPicPr>
            <a:picLocks noChangeAspect="1"/>
          </p:cNvPicPr>
          <p:nvPr/>
        </p:nvPicPr>
        <p:blipFill>
          <a:blip r:embed="rId3"/>
          <a:stretch>
            <a:fillRect/>
          </a:stretch>
        </p:blipFill>
        <p:spPr>
          <a:xfrm>
            <a:off x="4069080" y="4709160"/>
            <a:ext cx="292608" cy="292608"/>
          </a:xfrm>
          <a:prstGeom prst="rect">
            <a:avLst/>
          </a:prstGeom>
        </p:spPr>
      </p:pic>
      <p:sp>
        <p:nvSpPr>
          <p:cNvPr id="22" name="Text 16"/>
          <p:cNvSpPr/>
          <p:nvPr/>
        </p:nvSpPr>
        <p:spPr>
          <a:xfrm>
            <a:off x="4480560" y="4663440"/>
            <a:ext cx="2606040" cy="384048"/>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Executive Design</a:t>
            </a:r>
            <a:endParaRPr lang="en-US" sz="1150" dirty="0"/>
          </a:p>
        </p:txBody>
      </p:sp>
      <p:sp>
        <p:nvSpPr>
          <p:cNvPr id="23" name="Shape 17"/>
          <p:cNvSpPr/>
          <p:nvPr/>
        </p:nvSpPr>
        <p:spPr>
          <a:xfrm>
            <a:off x="7635240" y="1920240"/>
            <a:ext cx="3886200" cy="3566160"/>
          </a:xfrm>
          <a:prstGeom prst="roundRect">
            <a:avLst>
              <a:gd name="adj" fmla="val 3590"/>
            </a:avLst>
          </a:prstGeom>
          <a:solidFill>
            <a:srgbClr val="0F2A52"/>
          </a:solidFill>
          <a:ln w="12700">
            <a:solidFill>
              <a:srgbClr val="1B3A63"/>
            </a:solidFill>
            <a:prstDash val="solid"/>
          </a:ln>
          <a:effectLst>
            <a:outerShdw blurRad="101600" dist="38100" dir="5400000" algn="bl" rotWithShape="0">
              <a:srgbClr val="0A1F3D">
                <a:alpha val="16000"/>
              </a:srgbClr>
            </a:outerShdw>
          </a:effectLst>
        </p:spPr>
      </p:sp>
      <p:sp>
        <p:nvSpPr>
          <p:cNvPr id="24" name="Shape 18"/>
          <p:cNvSpPr/>
          <p:nvPr/>
        </p:nvSpPr>
        <p:spPr>
          <a:xfrm>
            <a:off x="9144000" y="2331720"/>
            <a:ext cx="914400" cy="914400"/>
          </a:xfrm>
          <a:prstGeom prst="ellipse">
            <a:avLst/>
          </a:prstGeom>
          <a:solidFill>
            <a:srgbClr val="22D3EE"/>
          </a:solidFill>
        </p:spPr>
      </p:sp>
      <p:pic>
        <p:nvPicPr>
          <p:cNvPr id="25" name="Image 4" descr="/home/claude/pptx_build/icons/rocket_navy.png"/>
          <p:cNvPicPr>
            <a:picLocks noChangeAspect="1"/>
          </p:cNvPicPr>
          <p:nvPr/>
        </p:nvPicPr>
        <p:blipFill>
          <a:blip r:embed="rId4"/>
          <a:stretch>
            <a:fillRect/>
          </a:stretch>
        </p:blipFill>
        <p:spPr>
          <a:xfrm>
            <a:off x="9363456" y="2551176"/>
            <a:ext cx="475488" cy="475488"/>
          </a:xfrm>
          <a:prstGeom prst="rect">
            <a:avLst/>
          </a:prstGeom>
        </p:spPr>
      </p:pic>
      <p:sp>
        <p:nvSpPr>
          <p:cNvPr id="26" name="Text 19"/>
          <p:cNvSpPr/>
          <p:nvPr/>
        </p:nvSpPr>
        <p:spPr>
          <a:xfrm>
            <a:off x="7818120" y="3429000"/>
            <a:ext cx="3520440" cy="502920"/>
          </a:xfrm>
          <a:prstGeom prst="rect">
            <a:avLst/>
          </a:prstGeom>
          <a:noFill/>
        </p:spPr>
        <p:txBody>
          <a:bodyPr wrap="square" rtlCol="0" anchor="ctr"/>
          <a:lstStyle/>
          <a:p>
            <a:pPr marL="0" indent="0" algn="ctr">
              <a:buNone/>
            </a:pPr>
            <a:r>
              <a:rPr lang="en-US" sz="24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2400" dirty="0"/>
          </a:p>
        </p:txBody>
      </p:sp>
      <p:sp>
        <p:nvSpPr>
          <p:cNvPr id="27" name="Text 20"/>
          <p:cNvSpPr/>
          <p:nvPr/>
        </p:nvSpPr>
        <p:spPr>
          <a:xfrm>
            <a:off x="7818120" y="3977640"/>
            <a:ext cx="3520440" cy="685800"/>
          </a:xfrm>
          <a:prstGeom prst="rect">
            <a:avLst/>
          </a:prstGeom>
          <a:noFill/>
        </p:spPr>
        <p:txBody>
          <a:bodyPr wrap="square" rtlCol="0" anchor="ctr"/>
          <a:lstStyle/>
          <a:p>
            <a:pPr marL="0" indent="0" algn="ctr">
              <a:lnSpc>
                <a:spcPct val="120000"/>
              </a:lnSpc>
              <a:buNone/>
            </a:pPr>
            <a:r>
              <a:rPr lang="en-US" sz="1200" dirty="0">
                <a:solidFill>
                  <a:srgbClr val="C7D6EA"/>
                </a:solidFill>
                <a:latin typeface="Calibri" panose="020F0502020204030204" pitchFamily="34" charset="0"/>
                <a:ea typeface="Calibri" panose="020F0502020204030204" pitchFamily="34" charset="-122"/>
                <a:cs typeface="Calibri" panose="020F0502020204030204" pitchFamily="34" charset="-120"/>
              </a:rPr>
              <a:t>Let's talk about how this thinking applies</a:t>
            </a:r>
            <a:endParaRPr lang="en-US" sz="1200" dirty="0"/>
          </a:p>
          <a:p>
            <a:pPr marL="0" indent="0" algn="ctr">
              <a:lnSpc>
                <a:spcPct val="120000"/>
              </a:lnSpc>
              <a:buNone/>
            </a:pPr>
            <a:r>
              <a:rPr lang="en-US" sz="1200" dirty="0">
                <a:solidFill>
                  <a:srgbClr val="C7D6EA"/>
                </a:solidFill>
                <a:latin typeface="Calibri" panose="020F0502020204030204" pitchFamily="34" charset="0"/>
                <a:ea typeface="Calibri" panose="020F0502020204030204" pitchFamily="34" charset="-122"/>
                <a:cs typeface="Calibri" panose="020F0502020204030204" pitchFamily="34" charset="-120"/>
              </a:rPr>
              <a:t>to your workforce data.</a:t>
            </a:r>
            <a:endParaRPr lang="en-US" sz="1200" dirty="0"/>
          </a:p>
        </p:txBody>
      </p:sp>
      <p:sp>
        <p:nvSpPr>
          <p:cNvPr id="28" name="Shape 21"/>
          <p:cNvSpPr/>
          <p:nvPr/>
        </p:nvSpPr>
        <p:spPr>
          <a:xfrm>
            <a:off x="8092440" y="4754880"/>
            <a:ext cx="2971800" cy="0"/>
          </a:xfrm>
          <a:prstGeom prst="line">
            <a:avLst/>
          </a:prstGeom>
          <a:noFill/>
          <a:ln w="12700">
            <a:solidFill>
              <a:srgbClr val="1B3A63"/>
            </a:solidFill>
            <a:prstDash val="solid"/>
          </a:ln>
        </p:spPr>
      </p:sp>
      <p:sp>
        <p:nvSpPr>
          <p:cNvPr id="29" name="Text 22"/>
          <p:cNvSpPr/>
          <p:nvPr/>
        </p:nvSpPr>
        <p:spPr>
          <a:xfrm>
            <a:off x="7818120" y="4892040"/>
            <a:ext cx="3520440" cy="365760"/>
          </a:xfrm>
          <a:prstGeom prst="rect">
            <a:avLst/>
          </a:prstGeom>
          <a:noFill/>
        </p:spPr>
        <p:txBody>
          <a:bodyPr wrap="square" rtlCol="0" anchor="ctr"/>
          <a:lstStyle/>
          <a:p>
            <a:pPr marL="0" indent="0" algn="ctr">
              <a:buNone/>
            </a:pPr>
            <a:r>
              <a:rPr lang="en-US" sz="1100" dirty="0">
                <a:solidFill>
                  <a:srgbClr val="8CA0B8"/>
                </a:solidFill>
                <a:latin typeface="Calibri" panose="020F0502020204030204" pitchFamily="34" charset="0"/>
                <a:ea typeface="Calibri" panose="020F0502020204030204" pitchFamily="34" charset="-122"/>
                <a:cs typeface="Calibri" panose="020F0502020204030204" pitchFamily="34" charset="-120"/>
              </a:rPr>
              <a:t>[Yasser Salem Elnakeb] </a:t>
            </a:r>
          </a:p>
          <a:p>
            <a:pPr marL="0" indent="0" algn="ctr">
              <a:buNone/>
            </a:pPr>
            <a:r>
              <a:rPr lang="en-US" sz="1100" dirty="0">
                <a:solidFill>
                  <a:srgbClr val="8CA0B8"/>
                </a:solidFill>
                <a:latin typeface="Calibri" panose="020F0502020204030204" pitchFamily="34" charset="0"/>
                <a:ea typeface="Calibri" panose="020F0502020204030204" pitchFamily="34" charset="-122"/>
                <a:cs typeface="Calibri" panose="020F0502020204030204" pitchFamily="34" charset="-120"/>
              </a:rPr>
              <a:t>[yassersalemelnakeb123@gmail.com ]</a:t>
            </a:r>
            <a:endParaRPr lang="en-US" sz="1100" dirty="0"/>
          </a:p>
        </p:txBody>
      </p:sp>
      <p:sp>
        <p:nvSpPr>
          <p:cNvPr id="30" name="Text 23"/>
          <p:cNvSpPr/>
          <p:nvPr/>
        </p:nvSpPr>
        <p:spPr>
          <a:xfrm>
            <a:off x="548640" y="6519672"/>
            <a:ext cx="6400800" cy="274320"/>
          </a:xfrm>
          <a:prstGeom prst="rect">
            <a:avLst/>
          </a:prstGeom>
          <a:noFill/>
        </p:spPr>
        <p:txBody>
          <a:bodyPr wrap="square" rtlCol="0" anchor="ctr"/>
          <a:lstStyle/>
          <a:p>
            <a:pPr marL="0" indent="0" algn="l">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HR Analytics Performance Dashboard</a:t>
            </a:r>
            <a:endParaRPr lang="en-US" sz="1000" dirty="0"/>
          </a:p>
        </p:txBody>
      </p:sp>
      <p:sp>
        <p:nvSpPr>
          <p:cNvPr id="31" name="Text 24"/>
          <p:cNvSpPr/>
          <p:nvPr/>
        </p:nvSpPr>
        <p:spPr>
          <a:xfrm>
            <a:off x="10881360" y="6519672"/>
            <a:ext cx="777240" cy="274320"/>
          </a:xfrm>
          <a:prstGeom prst="rect">
            <a:avLst/>
          </a:prstGeom>
          <a:noFill/>
        </p:spPr>
        <p:txBody>
          <a:bodyPr wrap="square" rtlCol="0" anchor="ctr"/>
          <a:lstStyle/>
          <a:p>
            <a:pPr marL="0" indent="0" algn="r">
              <a:buNone/>
            </a:pPr>
            <a:r>
              <a:rPr lang="en-US" sz="1000" dirty="0">
                <a:solidFill>
                  <a:srgbClr val="5A7396"/>
                </a:solidFill>
                <a:latin typeface="Calibri" panose="020F0502020204030204" pitchFamily="34" charset="0"/>
                <a:ea typeface="Calibri" panose="020F0502020204030204" pitchFamily="34" charset="-122"/>
                <a:cs typeface="Calibri" panose="020F0502020204030204" pitchFamily="34" charset="-120"/>
              </a:rPr>
              <a:t>12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2162</Words>
  <Application>Microsoft Office PowerPoint</Application>
  <PresentationFormat>Widescreen</PresentationFormat>
  <Paragraphs>223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Yasser Salem Mohamed Ahmed</cp:lastModifiedBy>
  <cp:revision>4</cp:revision>
  <dcterms:created xsi:type="dcterms:W3CDTF">2026-07-24T19:40:00Z</dcterms:created>
  <dcterms:modified xsi:type="dcterms:W3CDTF">2026-09-09T08:46:53Z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94A7CA5547D148E091B0B5CF1EF51D2A_12</vt:lpwstr>
  </property>
</Properties>
</file>