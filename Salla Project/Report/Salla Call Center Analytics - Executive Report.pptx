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none"/>
        <c:varyColors val="0"/>
        <c:ser>
          <c:idx val="0"/>
          <c:order val="0"/>
          <c:tx>
            <c:strRef>
              <c:f>Sheet1!$B$1</c:f>
              <c:strCache>
                <c:ptCount val="1"/>
                <c:pt idx="0">
                  <c:v>Service Level %</c:v>
                </c:pt>
              </c:strCache>
            </c:strRef>
          </c:tx>
          <c:spPr>
            <a:ln w="38100" cap="flat" cmpd="sng" algn="ctr">
              <a:solidFill>
                <a:srgbClr val="2EC4B6"/>
              </a:solidFill>
              <a:prstDash val="solid"/>
              <a:round/>
            </a:ln>
            <a:effectLst/>
          </c:spPr>
          <c:marker>
            <c:symbol val="circle"/>
            <c:size val="7"/>
            <c:spPr>
              <a:solidFill>
                <a:srgbClr val="2EC4B6"/>
              </a:solidFill>
              <a:ln w="9525" cap="flat" cmpd="sng" algn="ctr">
                <a:solidFill>
                  <a:srgbClr val="2EC4B6"/>
                </a:solidFill>
                <a:prstDash val="solid"/>
                <a:round/>
              </a:ln>
              <a:effectLst/>
            </c:spPr>
          </c:marker>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24958"/>
                    </a:solidFill>
                    <a:latin typeface="Arial" panose="020B0604020202020204"/>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Feb</c:v>
                </c:pt>
                <c:pt idx="1">
                  <c:v>Mar</c:v>
                </c:pt>
                <c:pt idx="2">
                  <c:v>Apr</c:v>
                </c:pt>
              </c:strCache>
            </c:strRef>
          </c:cat>
          <c:val>
            <c:numRef>
              <c:f>Sheet1!$B$2:$B$4</c:f>
              <c:numCache>
                <c:formatCode>General</c:formatCode>
                <c:ptCount val="3"/>
                <c:pt idx="0">
                  <c:v>94.68</c:v>
                </c:pt>
                <c:pt idx="1">
                  <c:v>87.06</c:v>
                </c:pt>
                <c:pt idx="2">
                  <c:v>95.53</c:v>
                </c:pt>
              </c:numCache>
            </c:numRef>
          </c:val>
          <c:smooth val="0"/>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5B6E7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min val="80"/>
        </c:scaling>
        <c:delete val="0"/>
        <c:axPos val="l"/>
        <c:majorGridlines>
          <c:spPr>
            <a:ln w="12700" cap="flat" cmpd="sng" algn="ctr">
              <a:solidFill>
                <a:srgbClr val="DCE7E8"/>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E73"/>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38bbc5f0-9620-4b05-b20a-3186ed34a3b3}"/>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Calls Offered</c:v>
                </c:pt>
              </c:strCache>
            </c:strRef>
          </c:tx>
          <c:spPr>
            <a:solidFill>
              <a:srgbClr val="0B7285"/>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24958"/>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Feb</c:v>
                </c:pt>
                <c:pt idx="1">
                  <c:v>Mar</c:v>
                </c:pt>
                <c:pt idx="2">
                  <c:v>Apr</c:v>
                </c:pt>
              </c:strCache>
            </c:strRef>
          </c:cat>
          <c:val>
            <c:numRef>
              <c:f>Sheet1!$B$2:$B$4</c:f>
              <c:numCache>
                <c:formatCode>General</c:formatCode>
                <c:ptCount val="3"/>
                <c:pt idx="0">
                  <c:v>446217</c:v>
                </c:pt>
                <c:pt idx="1">
                  <c:v>876199</c:v>
                </c:pt>
                <c:pt idx="2">
                  <c:v>422469</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5B6E7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12700" cap="flat" cmpd="sng" algn="ctr">
              <a:solidFill>
                <a:srgbClr val="DCE7E8"/>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E73"/>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f9d510df-fcf2-4f4f-9c78-9c586b36282a}"/>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Score</c:v>
                </c:pt>
              </c:strCache>
            </c:strRef>
          </c:tx>
          <c:spPr>
            <a:solidFill>
              <a:srgbClr val="2EC4B6"/>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24958"/>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Project C</c:v>
                </c:pt>
                <c:pt idx="1">
                  <c:v>Project A</c:v>
                </c:pt>
                <c:pt idx="2">
                  <c:v>Project B</c:v>
                </c:pt>
              </c:strCache>
            </c:strRef>
          </c:cat>
          <c:val>
            <c:numRef>
              <c:f>Sheet1!$B$2:$B$4</c:f>
              <c:numCache>
                <c:formatCode>General</c:formatCode>
                <c:ptCount val="3"/>
                <c:pt idx="0">
                  <c:v>88</c:v>
                </c:pt>
                <c:pt idx="1">
                  <c:v>80</c:v>
                </c:pt>
                <c:pt idx="2">
                  <c:v>77</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024958"/>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scaling>
        <c:delete val="0"/>
        <c:axPos val="b"/>
        <c:majorGridlines>
          <c:spPr>
            <a:ln w="12700" cap="flat" cmpd="sng" algn="ctr">
              <a:solidFill>
                <a:srgbClr val="DCE7E8"/>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E73"/>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1bc61d4a-95ef-4bac-b18e-81aa0ffc587b}"/>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Service Level %</c:v>
                </c:pt>
              </c:strCache>
            </c:strRef>
          </c:tx>
          <c:spPr>
            <a:solidFill>
              <a:srgbClr val="2EC4B6"/>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950" b="0" i="0" u="none" strike="noStrike" kern="1200" baseline="0">
                    <a:solidFill>
                      <a:srgbClr val="024958"/>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Sheet1!$A$2:$A$12</c:f>
              <c:strCache>
                <c:ptCount val="11"/>
                <c:pt idx="0">
                  <c:v>Laila</c:v>
                </c:pt>
                <c:pt idx="1">
                  <c:v>Sara</c:v>
                </c:pt>
                <c:pt idx="2">
                  <c:v>Mona</c:v>
                </c:pt>
                <c:pt idx="3">
                  <c:v>Ali</c:v>
                </c:pt>
                <c:pt idx="4">
                  <c:v>Hassan</c:v>
                </c:pt>
                <c:pt idx="5">
                  <c:v>Samir</c:v>
                </c:pt>
                <c:pt idx="6">
                  <c:v>Fatma</c:v>
                </c:pt>
                <c:pt idx="7">
                  <c:v>Huda</c:v>
                </c:pt>
                <c:pt idx="8">
                  <c:v>Rania</c:v>
                </c:pt>
                <c:pt idx="9">
                  <c:v>Dina</c:v>
                </c:pt>
                <c:pt idx="10">
                  <c:v>Youssef</c:v>
                </c:pt>
              </c:strCache>
            </c:strRef>
          </c:cat>
          <c:val>
            <c:numRef>
              <c:f>Sheet1!$B$2:$B$12</c:f>
              <c:numCache>
                <c:formatCode>General</c:formatCode>
                <c:ptCount val="11"/>
                <c:pt idx="0">
                  <c:v>99.49</c:v>
                </c:pt>
                <c:pt idx="1">
                  <c:v>98.29</c:v>
                </c:pt>
                <c:pt idx="2">
                  <c:v>97.84</c:v>
                </c:pt>
                <c:pt idx="3">
                  <c:v>97.66</c:v>
                </c:pt>
                <c:pt idx="4">
                  <c:v>96.53</c:v>
                </c:pt>
                <c:pt idx="5">
                  <c:v>94.8</c:v>
                </c:pt>
                <c:pt idx="6">
                  <c:v>86.93</c:v>
                </c:pt>
                <c:pt idx="7">
                  <c:v>84.51</c:v>
                </c:pt>
                <c:pt idx="8">
                  <c:v>84.9</c:v>
                </c:pt>
                <c:pt idx="9">
                  <c:v>78.07</c:v>
                </c:pt>
                <c:pt idx="10">
                  <c:v>77.53</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024958"/>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5"/>
          <c:min val="0"/>
        </c:scaling>
        <c:delete val="0"/>
        <c:axPos val="b"/>
        <c:majorGridlines>
          <c:spPr>
            <a:ln w="12700" cap="flat" cmpd="sng" algn="ctr">
              <a:solidFill>
                <a:srgbClr val="DCE7E8"/>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E73"/>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48dff260-210f-4aef-b614-ef3947c4a9b4}"/>
      </c:ext>
    </c:extLst>
  </c:chart>
  <c:spPr>
    <a:no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Forecast vs Offered Gap</c:v>
                </c:pt>
              </c:strCache>
            </c:strRef>
          </c:tx>
          <c:spPr>
            <a:solidFill>
              <a:srgbClr val="B23A34"/>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24958"/>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February</c:v>
                </c:pt>
                <c:pt idx="1">
                  <c:v>March</c:v>
                </c:pt>
                <c:pt idx="2">
                  <c:v>April</c:v>
                </c:pt>
              </c:strCache>
            </c:strRef>
          </c:cat>
          <c:val>
            <c:numRef>
              <c:f>Sheet1!$B$2:$B$4</c:f>
              <c:numCache>
                <c:formatCode>General</c:formatCode>
                <c:ptCount val="3"/>
                <c:pt idx="0">
                  <c:v>-258273</c:v>
                </c:pt>
                <c:pt idx="1">
                  <c:v>-101882</c:v>
                </c:pt>
                <c:pt idx="2">
                  <c:v>-332031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5B6E7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12700" cap="flat" cmpd="sng" algn="ctr">
              <a:solidFill>
                <a:srgbClr val="DCE7E8"/>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E73"/>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46198264-6dab-4e5c-8b53-74b21ffa5fe0}"/>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chart" Target="../charts/char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313C"/>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024958"/>
          </a:solidFill>
        </p:spPr>
      </p:sp>
      <p:sp>
        <p:nvSpPr>
          <p:cNvPr id="3" name="Shape 1"/>
          <p:cNvSpPr/>
          <p:nvPr/>
        </p:nvSpPr>
        <p:spPr>
          <a:xfrm>
            <a:off x="9692640" y="-548640"/>
            <a:ext cx="3291840" cy="3291840"/>
          </a:xfrm>
          <a:prstGeom prst="ellipse">
            <a:avLst/>
          </a:prstGeom>
          <a:solidFill>
            <a:srgbClr val="0B7285"/>
          </a:solidFill>
        </p:spPr>
      </p:sp>
      <p:sp>
        <p:nvSpPr>
          <p:cNvPr id="4" name="Shape 2"/>
          <p:cNvSpPr/>
          <p:nvPr/>
        </p:nvSpPr>
        <p:spPr>
          <a:xfrm>
            <a:off x="-1463040" y="4937760"/>
            <a:ext cx="3840480" cy="3840480"/>
          </a:xfrm>
          <a:prstGeom prst="ellipse">
            <a:avLst/>
          </a:prstGeom>
          <a:solidFill>
            <a:srgbClr val="024958"/>
          </a:solidFill>
        </p:spPr>
      </p:sp>
      <p:pic>
        <p:nvPicPr>
          <p:cNvPr id="5" name="Image 0" descr="/mnt/user-data/uploads/OIP.png"/>
          <p:cNvPicPr>
            <a:picLocks noChangeAspect="1"/>
          </p:cNvPicPr>
          <p:nvPr/>
        </p:nvPicPr>
        <p:blipFill>
          <a:blip r:embed="rId1"/>
          <a:stretch>
            <a:fillRect/>
          </a:stretch>
        </p:blipFill>
        <p:spPr>
          <a:xfrm>
            <a:off x="640080" y="594360"/>
            <a:ext cx="1737360" cy="713232"/>
          </a:xfrm>
          <a:prstGeom prst="rect">
            <a:avLst/>
          </a:prstGeom>
        </p:spPr>
      </p:pic>
      <p:sp>
        <p:nvSpPr>
          <p:cNvPr id="6" name="Text 3"/>
          <p:cNvSpPr/>
          <p:nvPr/>
        </p:nvSpPr>
        <p:spPr>
          <a:xfrm>
            <a:off x="640080" y="2331720"/>
            <a:ext cx="9601200" cy="822960"/>
          </a:xfrm>
          <a:prstGeom prst="rect">
            <a:avLst/>
          </a:prstGeom>
          <a:noFill/>
        </p:spPr>
        <p:txBody>
          <a:bodyPr wrap="square" rtlCol="0" anchor="ctr"/>
          <a:lstStyle/>
          <a:p>
            <a:pPr marL="0" indent="0">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CALL CENTER OPERATIONS ANALYTICS</a:t>
            </a:r>
            <a:endParaRPr lang="en-US" sz="3800" dirty="0"/>
          </a:p>
        </p:txBody>
      </p:sp>
      <p:sp>
        <p:nvSpPr>
          <p:cNvPr id="7" name="Text 4"/>
          <p:cNvSpPr/>
          <p:nvPr/>
        </p:nvSpPr>
        <p:spPr>
          <a:xfrm>
            <a:off x="640080" y="3063240"/>
            <a:ext cx="8229600" cy="502920"/>
          </a:xfrm>
          <a:prstGeom prst="rect">
            <a:avLst/>
          </a:prstGeom>
          <a:noFill/>
        </p:spPr>
        <p:txBody>
          <a:bodyPr wrap="square" rtlCol="0" anchor="ctr"/>
          <a:lstStyle/>
          <a:p>
            <a:pPr marL="0" indent="0">
              <a:buNone/>
            </a:pPr>
            <a:r>
              <a:rPr lang="en-US" sz="1900" b="1" dirty="0">
                <a:solidFill>
                  <a:srgbClr val="2EC4B6"/>
                </a:solidFill>
                <a:latin typeface="Calibri" panose="020F0502020204030204" pitchFamily="34" charset="0"/>
                <a:ea typeface="Calibri" panose="020F0502020204030204" pitchFamily="34" charset="-122"/>
                <a:cs typeface="Calibri" panose="020F0502020204030204" pitchFamily="34" charset="-120"/>
              </a:rPr>
              <a:t>Executive Business Intelligence Report</a:t>
            </a:r>
            <a:endParaRPr lang="en-US" sz="1900" dirty="0"/>
          </a:p>
        </p:txBody>
      </p:sp>
      <p:sp>
        <p:nvSpPr>
          <p:cNvPr id="8" name="Text 5"/>
          <p:cNvSpPr/>
          <p:nvPr/>
        </p:nvSpPr>
        <p:spPr>
          <a:xfrm>
            <a:off x="640080" y="3520440"/>
            <a:ext cx="8229600" cy="365760"/>
          </a:xfrm>
          <a:prstGeom prst="rect">
            <a:avLst/>
          </a:prstGeom>
          <a:noFill/>
        </p:spPr>
        <p:txBody>
          <a:bodyPr wrap="square" rtlCol="0" anchor="ctr"/>
          <a:lstStyle/>
          <a:p>
            <a:pPr marL="0" indent="0">
              <a:buNone/>
            </a:pPr>
            <a:r>
              <a:rPr lang="en-US" sz="1400" dirty="0">
                <a:solidFill>
                  <a:srgbClr val="CFE3E3"/>
                </a:solidFill>
                <a:latin typeface="Calibri" panose="020F0502020204030204" pitchFamily="34" charset="0"/>
                <a:ea typeface="Calibri" panose="020F0502020204030204" pitchFamily="34" charset="-122"/>
                <a:cs typeface="Calibri" panose="020F0502020204030204" pitchFamily="34" charset="-120"/>
              </a:rPr>
              <a:t>Salla  |  February – April 2022</a:t>
            </a:r>
            <a:endParaRPr lang="en-US" sz="1400" dirty="0"/>
          </a:p>
        </p:txBody>
      </p:sp>
      <p:sp>
        <p:nvSpPr>
          <p:cNvPr id="9" name="Shape 6"/>
          <p:cNvSpPr/>
          <p:nvPr/>
        </p:nvSpPr>
        <p:spPr>
          <a:xfrm>
            <a:off x="640080" y="4343400"/>
            <a:ext cx="5120640" cy="1783080"/>
          </a:xfrm>
          <a:prstGeom prst="roundRect">
            <a:avLst>
              <a:gd name="adj" fmla="val 4615"/>
            </a:avLst>
          </a:prstGeom>
          <a:solidFill>
            <a:srgbClr val="05424F"/>
          </a:solidFill>
          <a:ln w="12700">
            <a:solidFill>
              <a:srgbClr val="DCE7E8"/>
            </a:solidFill>
            <a:prstDash val="solid"/>
          </a:ln>
        </p:spPr>
      </p:sp>
      <p:sp>
        <p:nvSpPr>
          <p:cNvPr id="10" name="Text 7"/>
          <p:cNvSpPr/>
          <p:nvPr/>
        </p:nvSpPr>
        <p:spPr>
          <a:xfrm>
            <a:off x="868680" y="4480560"/>
            <a:ext cx="1737360" cy="292608"/>
          </a:xfrm>
          <a:prstGeom prst="rect">
            <a:avLst/>
          </a:prstGeom>
          <a:noFill/>
        </p:spPr>
        <p:txBody>
          <a:bodyPr wrap="square" rtlCol="0" anchor="ctr"/>
          <a:lstStyle/>
          <a:p>
            <a:pPr marL="0" indent="0">
              <a:buNone/>
            </a:pPr>
            <a:r>
              <a:rPr lang="en-US" sz="1100" dirty="0">
                <a:solidFill>
                  <a:srgbClr val="9FC4C4"/>
                </a:solidFill>
                <a:latin typeface="Calibri" panose="020F0502020204030204" pitchFamily="34" charset="0"/>
                <a:ea typeface="Calibri" panose="020F0502020204030204" pitchFamily="34" charset="-122"/>
                <a:cs typeface="Calibri" panose="020F0502020204030204" pitchFamily="34" charset="-120"/>
              </a:rPr>
              <a:t>Company</a:t>
            </a:r>
            <a:endParaRPr lang="en-US" sz="1100" dirty="0"/>
          </a:p>
        </p:txBody>
      </p:sp>
      <p:sp>
        <p:nvSpPr>
          <p:cNvPr id="11" name="Text 8"/>
          <p:cNvSpPr/>
          <p:nvPr/>
        </p:nvSpPr>
        <p:spPr>
          <a:xfrm>
            <a:off x="2651760" y="4480560"/>
            <a:ext cx="2926080" cy="29260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Salla Call Center</a:t>
            </a:r>
            <a:endParaRPr lang="en-US" sz="1150" dirty="0"/>
          </a:p>
        </p:txBody>
      </p:sp>
      <p:sp>
        <p:nvSpPr>
          <p:cNvPr id="12" name="Text 9"/>
          <p:cNvSpPr/>
          <p:nvPr/>
        </p:nvSpPr>
        <p:spPr>
          <a:xfrm>
            <a:off x="868680" y="4791456"/>
            <a:ext cx="1737360" cy="292608"/>
          </a:xfrm>
          <a:prstGeom prst="rect">
            <a:avLst/>
          </a:prstGeom>
          <a:noFill/>
        </p:spPr>
        <p:txBody>
          <a:bodyPr wrap="square" rtlCol="0" anchor="ctr"/>
          <a:lstStyle/>
          <a:p>
            <a:pPr marL="0" indent="0">
              <a:buNone/>
            </a:pPr>
            <a:r>
              <a:rPr lang="en-US" sz="1100" dirty="0">
                <a:solidFill>
                  <a:srgbClr val="9FC4C4"/>
                </a:solidFill>
                <a:latin typeface="Calibri" panose="020F0502020204030204" pitchFamily="34" charset="0"/>
                <a:ea typeface="Calibri" panose="020F0502020204030204" pitchFamily="34" charset="-122"/>
                <a:cs typeface="Calibri" panose="020F0502020204030204" pitchFamily="34" charset="-120"/>
              </a:rPr>
              <a:t>Project Type</a:t>
            </a:r>
            <a:endParaRPr lang="en-US" sz="1100" dirty="0"/>
          </a:p>
        </p:txBody>
      </p:sp>
      <p:sp>
        <p:nvSpPr>
          <p:cNvPr id="13" name="Text 10"/>
          <p:cNvSpPr/>
          <p:nvPr/>
        </p:nvSpPr>
        <p:spPr>
          <a:xfrm>
            <a:off x="2651760" y="4791456"/>
            <a:ext cx="2926080" cy="29260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Contact Center Analytics</a:t>
            </a:r>
            <a:endParaRPr lang="en-US" sz="1150" dirty="0"/>
          </a:p>
        </p:txBody>
      </p:sp>
      <p:sp>
        <p:nvSpPr>
          <p:cNvPr id="14" name="Text 11"/>
          <p:cNvSpPr/>
          <p:nvPr/>
        </p:nvSpPr>
        <p:spPr>
          <a:xfrm>
            <a:off x="868680" y="5102352"/>
            <a:ext cx="1737360" cy="292608"/>
          </a:xfrm>
          <a:prstGeom prst="rect">
            <a:avLst/>
          </a:prstGeom>
          <a:noFill/>
        </p:spPr>
        <p:txBody>
          <a:bodyPr wrap="square" rtlCol="0" anchor="ctr"/>
          <a:lstStyle/>
          <a:p>
            <a:pPr marL="0" indent="0">
              <a:buNone/>
            </a:pPr>
            <a:r>
              <a:rPr lang="en-US" sz="1100" dirty="0">
                <a:solidFill>
                  <a:srgbClr val="9FC4C4"/>
                </a:solidFill>
                <a:latin typeface="Calibri" panose="020F0502020204030204" pitchFamily="34" charset="0"/>
                <a:ea typeface="Calibri" panose="020F0502020204030204" pitchFamily="34" charset="-122"/>
                <a:cs typeface="Calibri" panose="020F0502020204030204" pitchFamily="34" charset="-120"/>
              </a:rPr>
              <a:t>Tools</a:t>
            </a:r>
            <a:endParaRPr lang="en-US" sz="1100" dirty="0"/>
          </a:p>
        </p:txBody>
      </p:sp>
      <p:sp>
        <p:nvSpPr>
          <p:cNvPr id="15" name="Text 12"/>
          <p:cNvSpPr/>
          <p:nvPr/>
        </p:nvSpPr>
        <p:spPr>
          <a:xfrm>
            <a:off x="2651760" y="5102352"/>
            <a:ext cx="2926080" cy="29260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Excel · Power Query · Power BI · DAX</a:t>
            </a:r>
            <a:endParaRPr lang="en-US" sz="1150" dirty="0"/>
          </a:p>
        </p:txBody>
      </p:sp>
      <p:sp>
        <p:nvSpPr>
          <p:cNvPr id="16" name="Text 13"/>
          <p:cNvSpPr/>
          <p:nvPr/>
        </p:nvSpPr>
        <p:spPr>
          <a:xfrm>
            <a:off x="868680" y="5413248"/>
            <a:ext cx="1737360" cy="292608"/>
          </a:xfrm>
          <a:prstGeom prst="rect">
            <a:avLst/>
          </a:prstGeom>
          <a:noFill/>
        </p:spPr>
        <p:txBody>
          <a:bodyPr wrap="square" rtlCol="0" anchor="ctr"/>
          <a:lstStyle/>
          <a:p>
            <a:pPr marL="0" indent="0">
              <a:buNone/>
            </a:pPr>
            <a:r>
              <a:rPr lang="en-US" sz="1100" dirty="0">
                <a:solidFill>
                  <a:srgbClr val="9FC4C4"/>
                </a:solidFill>
                <a:latin typeface="Calibri" panose="020F0502020204030204" pitchFamily="34" charset="0"/>
                <a:ea typeface="Calibri" panose="020F0502020204030204" pitchFamily="34" charset="-122"/>
                <a:cs typeface="Calibri" panose="020F0502020204030204" pitchFamily="34" charset="-120"/>
              </a:rPr>
              <a:t>Period</a:t>
            </a:r>
            <a:endParaRPr lang="en-US" sz="1100" dirty="0"/>
          </a:p>
        </p:txBody>
      </p:sp>
      <p:sp>
        <p:nvSpPr>
          <p:cNvPr id="17" name="Text 14"/>
          <p:cNvSpPr/>
          <p:nvPr/>
        </p:nvSpPr>
        <p:spPr>
          <a:xfrm>
            <a:off x="2651760" y="5413248"/>
            <a:ext cx="2926080" cy="29260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February – April 2022</a:t>
            </a:r>
            <a:endParaRPr lang="en-US" sz="1150" dirty="0"/>
          </a:p>
        </p:txBody>
      </p:sp>
      <p:sp>
        <p:nvSpPr>
          <p:cNvPr id="18" name="Text 15"/>
          <p:cNvSpPr/>
          <p:nvPr/>
        </p:nvSpPr>
        <p:spPr>
          <a:xfrm>
            <a:off x="868680" y="5724144"/>
            <a:ext cx="1737360" cy="292608"/>
          </a:xfrm>
          <a:prstGeom prst="rect">
            <a:avLst/>
          </a:prstGeom>
          <a:noFill/>
        </p:spPr>
        <p:txBody>
          <a:bodyPr wrap="square" rtlCol="0" anchor="ctr"/>
          <a:lstStyle/>
          <a:p>
            <a:pPr marL="0" indent="0">
              <a:buNone/>
            </a:pPr>
            <a:r>
              <a:rPr lang="en-US" sz="1100" dirty="0">
                <a:solidFill>
                  <a:srgbClr val="9FC4C4"/>
                </a:solidFill>
                <a:latin typeface="Calibri" panose="020F0502020204030204" pitchFamily="34" charset="0"/>
                <a:ea typeface="Calibri" panose="020F0502020204030204" pitchFamily="34" charset="-122"/>
                <a:cs typeface="Calibri" panose="020F0502020204030204" pitchFamily="34" charset="-120"/>
              </a:rPr>
              <a:t>Analyst</a:t>
            </a:r>
            <a:endParaRPr lang="en-US" sz="1100" dirty="0"/>
          </a:p>
        </p:txBody>
      </p:sp>
      <p:sp>
        <p:nvSpPr>
          <p:cNvPr id="19" name="Text 16"/>
          <p:cNvSpPr/>
          <p:nvPr/>
        </p:nvSpPr>
        <p:spPr>
          <a:xfrm>
            <a:off x="2651760" y="5724144"/>
            <a:ext cx="2926080" cy="29260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Yasser Salem</a:t>
            </a:r>
            <a:endParaRPr lang="en-US" sz="1150" dirty="0"/>
          </a:p>
        </p:txBody>
      </p:sp>
      <p:sp>
        <p:nvSpPr>
          <p:cNvPr id="20" name="Text 17"/>
          <p:cNvSpPr/>
          <p:nvPr/>
        </p:nvSpPr>
        <p:spPr>
          <a:xfrm>
            <a:off x="640080" y="6355080"/>
            <a:ext cx="7315200" cy="274320"/>
          </a:xfrm>
          <a:prstGeom prst="rect">
            <a:avLst/>
          </a:prstGeom>
          <a:noFill/>
        </p:spPr>
        <p:txBody>
          <a:bodyPr wrap="square" rtlCol="0" anchor="ctr"/>
          <a:lstStyle/>
          <a:p>
            <a:pPr marL="0" indent="0">
              <a:buNone/>
            </a:pPr>
            <a:r>
              <a:rPr lang="en-US" sz="105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DATA → INSIGHT → SCENARIO → DECISION</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path" presetSubtype="0" accel="50000" decel="50000" fill="hold" nodeType="clickEffect">
                                  <p:stCondLst>
                                    <p:cond delay="0"/>
                                  </p:stCondLst>
                                  <p:childTnLst>
                                    <p:animMotion origin="layout" path="M 0 0 L 0.125 -0.084 L 0.25 0 L 0.125 0.084 L 0 0 Z" pathEditMode="relative" ptsTypes="">
                                      <p:cBhvr>
                                        <p:cTn id="6" dur="2000" fill="hold"/>
                                        <p:tgtEl>
                                          <p:spTgt spid="2"/>
                                        </p:tgtEl>
                                        <p:attrNameLst>
                                          <p:attrName>ppt_x</p:attrName>
                                          <p:attrName>ppt_y</p:attrName>
                                        </p:attrNameLst>
                                      </p:cBhvr>
                                    </p:animMotion>
                                  </p:childTnLst>
                                </p:cTn>
                              </p:par>
                              <p:par>
                                <p:cTn id="7" presetID="3" presetClass="path" presetSubtype="0" accel="50000" decel="50000" fill="hold" nodeType="withEffect">
                                  <p:stCondLst>
                                    <p:cond delay="0"/>
                                  </p:stCondLst>
                                  <p:childTnLst>
                                    <p:animMotion origin="layout" path="M 0 0 L 0.125 -0.084 L 0.25 0 L 0.125 0.084 L 0 0 Z" pathEditMode="relative" ptsTypes="">
                                      <p:cBhvr>
                                        <p:cTn id="8" dur="2000" fill="hold"/>
                                        <p:tgtEl>
                                          <p:spTgt spid="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EXECUTIVE SUMMARY</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Three Months of Operations, Distilled into Decision-Ready Insight</a:t>
            </a:r>
            <a:endParaRPr lang="en-US" sz="2800" dirty="0"/>
          </a:p>
        </p:txBody>
      </p:sp>
      <p:sp>
        <p:nvSpPr>
          <p:cNvPr id="4" name="Shape 2"/>
          <p:cNvSpPr/>
          <p:nvPr/>
        </p:nvSpPr>
        <p:spPr>
          <a:xfrm>
            <a:off x="502920" y="1234440"/>
            <a:ext cx="2090318" cy="1051560"/>
          </a:xfrm>
          <a:prstGeom prst="roundRect">
            <a:avLst>
              <a:gd name="adj" fmla="val 6957"/>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5" name="Text 3"/>
          <p:cNvSpPr/>
          <p:nvPr/>
        </p:nvSpPr>
        <p:spPr>
          <a:xfrm>
            <a:off x="594360" y="1423721"/>
            <a:ext cx="1907438" cy="525780"/>
          </a:xfrm>
          <a:prstGeom prst="rect">
            <a:avLst/>
          </a:prstGeom>
          <a:noFill/>
        </p:spPr>
        <p:txBody>
          <a:bodyPr wrap="square" rtlCol="0" anchor="ctr"/>
          <a:lstStyle/>
          <a:p>
            <a:pPr marL="0" indent="0" algn="ctr">
              <a:buNone/>
            </a:pPr>
            <a:r>
              <a:rPr lang="en-US" sz="2400" b="1" dirty="0">
                <a:solidFill>
                  <a:srgbClr val="024958"/>
                </a:solidFill>
                <a:latin typeface="Cambria" panose="02040503050406030204" pitchFamily="34" charset="0"/>
                <a:ea typeface="Cambria" panose="02040503050406030204" pitchFamily="34" charset="-122"/>
                <a:cs typeface="Cambria" panose="02040503050406030204" pitchFamily="34" charset="-120"/>
              </a:rPr>
              <a:t>1.72M</a:t>
            </a:r>
            <a:endParaRPr lang="en-US" sz="2400" dirty="0"/>
          </a:p>
        </p:txBody>
      </p:sp>
      <p:sp>
        <p:nvSpPr>
          <p:cNvPr id="6" name="Text 4"/>
          <p:cNvSpPr/>
          <p:nvPr/>
        </p:nvSpPr>
        <p:spPr>
          <a:xfrm>
            <a:off x="576072" y="1949501"/>
            <a:ext cx="1944014" cy="294437"/>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CALLS HANDLED</a:t>
            </a:r>
            <a:endParaRPr lang="en-US" sz="950" dirty="0"/>
          </a:p>
        </p:txBody>
      </p:sp>
      <p:sp>
        <p:nvSpPr>
          <p:cNvPr id="7" name="Shape 5"/>
          <p:cNvSpPr/>
          <p:nvPr/>
        </p:nvSpPr>
        <p:spPr>
          <a:xfrm>
            <a:off x="2776118" y="1234440"/>
            <a:ext cx="2090318" cy="1051560"/>
          </a:xfrm>
          <a:prstGeom prst="roundRect">
            <a:avLst>
              <a:gd name="adj" fmla="val 6957"/>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8" name="Text 6"/>
          <p:cNvSpPr/>
          <p:nvPr/>
        </p:nvSpPr>
        <p:spPr>
          <a:xfrm>
            <a:off x="2867558" y="1423721"/>
            <a:ext cx="1907438" cy="525780"/>
          </a:xfrm>
          <a:prstGeom prst="rect">
            <a:avLst/>
          </a:prstGeom>
          <a:noFill/>
        </p:spPr>
        <p:txBody>
          <a:bodyPr wrap="square" rtlCol="0" anchor="ctr"/>
          <a:lstStyle/>
          <a:p>
            <a:pPr marL="0" indent="0" algn="ctr">
              <a:buNone/>
            </a:pPr>
            <a:r>
              <a:rPr lang="en-US" sz="2400" b="1" dirty="0">
                <a:solidFill>
                  <a:srgbClr val="024958"/>
                </a:solidFill>
                <a:latin typeface="Cambria" panose="02040503050406030204" pitchFamily="34" charset="0"/>
                <a:ea typeface="Cambria" panose="02040503050406030204" pitchFamily="34" charset="-122"/>
                <a:cs typeface="Cambria" panose="02040503050406030204" pitchFamily="34" charset="-120"/>
              </a:rPr>
              <a:t>92%</a:t>
            </a:r>
            <a:endParaRPr lang="en-US" sz="2400" dirty="0"/>
          </a:p>
        </p:txBody>
      </p:sp>
      <p:sp>
        <p:nvSpPr>
          <p:cNvPr id="9" name="Text 7"/>
          <p:cNvSpPr/>
          <p:nvPr/>
        </p:nvSpPr>
        <p:spPr>
          <a:xfrm>
            <a:off x="2849270" y="1949501"/>
            <a:ext cx="1944014" cy="294437"/>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SERVICE LEVEL</a:t>
            </a:r>
            <a:endParaRPr lang="en-US" sz="950" dirty="0"/>
          </a:p>
        </p:txBody>
      </p:sp>
      <p:sp>
        <p:nvSpPr>
          <p:cNvPr id="10" name="Shape 8"/>
          <p:cNvSpPr/>
          <p:nvPr/>
        </p:nvSpPr>
        <p:spPr>
          <a:xfrm>
            <a:off x="5049317" y="1234440"/>
            <a:ext cx="2090318" cy="1051560"/>
          </a:xfrm>
          <a:prstGeom prst="roundRect">
            <a:avLst>
              <a:gd name="adj" fmla="val 6957"/>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1" name="Text 9"/>
          <p:cNvSpPr/>
          <p:nvPr/>
        </p:nvSpPr>
        <p:spPr>
          <a:xfrm>
            <a:off x="5140757" y="1423721"/>
            <a:ext cx="1907438" cy="525780"/>
          </a:xfrm>
          <a:prstGeom prst="rect">
            <a:avLst/>
          </a:prstGeom>
          <a:noFill/>
        </p:spPr>
        <p:txBody>
          <a:bodyPr wrap="square" rtlCol="0" anchor="ctr"/>
          <a:lstStyle/>
          <a:p>
            <a:pPr marL="0" indent="0" algn="ctr">
              <a:buNone/>
            </a:pPr>
            <a:r>
              <a:rPr lang="en-US" sz="2400" b="1" dirty="0">
                <a:solidFill>
                  <a:srgbClr val="024958"/>
                </a:solidFill>
                <a:latin typeface="Cambria" panose="02040503050406030204" pitchFamily="34" charset="0"/>
                <a:ea typeface="Cambria" panose="02040503050406030204" pitchFamily="34" charset="-122"/>
                <a:cs typeface="Cambria" panose="02040503050406030204" pitchFamily="34" charset="-120"/>
              </a:rPr>
              <a:t>9.22s</a:t>
            </a:r>
            <a:endParaRPr lang="en-US" sz="2400" dirty="0"/>
          </a:p>
        </p:txBody>
      </p:sp>
      <p:sp>
        <p:nvSpPr>
          <p:cNvPr id="12" name="Text 10"/>
          <p:cNvSpPr/>
          <p:nvPr/>
        </p:nvSpPr>
        <p:spPr>
          <a:xfrm>
            <a:off x="5122469" y="1949501"/>
            <a:ext cx="1944014" cy="294437"/>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AVERAGE ASA</a:t>
            </a:r>
            <a:endParaRPr lang="en-US" sz="950" dirty="0"/>
          </a:p>
        </p:txBody>
      </p:sp>
      <p:sp>
        <p:nvSpPr>
          <p:cNvPr id="13" name="Shape 11"/>
          <p:cNvSpPr/>
          <p:nvPr/>
        </p:nvSpPr>
        <p:spPr>
          <a:xfrm>
            <a:off x="7322515" y="1234440"/>
            <a:ext cx="2090318" cy="1051560"/>
          </a:xfrm>
          <a:prstGeom prst="roundRect">
            <a:avLst>
              <a:gd name="adj" fmla="val 6957"/>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4" name="Text 12"/>
          <p:cNvSpPr/>
          <p:nvPr/>
        </p:nvSpPr>
        <p:spPr>
          <a:xfrm>
            <a:off x="7413955" y="1423721"/>
            <a:ext cx="1907438" cy="525780"/>
          </a:xfrm>
          <a:prstGeom prst="rect">
            <a:avLst/>
          </a:prstGeom>
          <a:noFill/>
        </p:spPr>
        <p:txBody>
          <a:bodyPr wrap="square" rtlCol="0" anchor="ctr"/>
          <a:lstStyle/>
          <a:p>
            <a:pPr marL="0" indent="0" algn="ctr">
              <a:buNone/>
            </a:pPr>
            <a:r>
              <a:rPr lang="en-US" sz="2400" b="1" dirty="0">
                <a:solidFill>
                  <a:srgbClr val="024958"/>
                </a:solidFill>
                <a:latin typeface="Cambria" panose="02040503050406030204" pitchFamily="34" charset="0"/>
                <a:ea typeface="Cambria" panose="02040503050406030204" pitchFamily="34" charset="-122"/>
                <a:cs typeface="Cambria" panose="02040503050406030204" pitchFamily="34" charset="-120"/>
              </a:rPr>
              <a:t>1.3%</a:t>
            </a:r>
            <a:endParaRPr lang="en-US" sz="2400" dirty="0"/>
          </a:p>
        </p:txBody>
      </p:sp>
      <p:sp>
        <p:nvSpPr>
          <p:cNvPr id="15" name="Text 13"/>
          <p:cNvSpPr/>
          <p:nvPr/>
        </p:nvSpPr>
        <p:spPr>
          <a:xfrm>
            <a:off x="7395667" y="1949501"/>
            <a:ext cx="1944014" cy="294437"/>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ABANDON RATE</a:t>
            </a:r>
            <a:endParaRPr lang="en-US" sz="950" dirty="0"/>
          </a:p>
        </p:txBody>
      </p:sp>
      <p:sp>
        <p:nvSpPr>
          <p:cNvPr id="16" name="Shape 14"/>
          <p:cNvSpPr/>
          <p:nvPr/>
        </p:nvSpPr>
        <p:spPr>
          <a:xfrm>
            <a:off x="9595714" y="1234440"/>
            <a:ext cx="2090318" cy="1051560"/>
          </a:xfrm>
          <a:prstGeom prst="roundRect">
            <a:avLst>
              <a:gd name="adj" fmla="val 6957"/>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7" name="Text 15"/>
          <p:cNvSpPr/>
          <p:nvPr/>
        </p:nvSpPr>
        <p:spPr>
          <a:xfrm>
            <a:off x="9687154" y="1423721"/>
            <a:ext cx="1907438" cy="525780"/>
          </a:xfrm>
          <a:prstGeom prst="rect">
            <a:avLst/>
          </a:prstGeom>
          <a:noFill/>
        </p:spPr>
        <p:txBody>
          <a:bodyPr wrap="square" rtlCol="0" anchor="ctr"/>
          <a:lstStyle/>
          <a:p>
            <a:pPr marL="0" indent="0" algn="ctr">
              <a:buNone/>
            </a:pPr>
            <a:r>
              <a:rPr lang="en-US" sz="2400" b="1" dirty="0">
                <a:solidFill>
                  <a:srgbClr val="024958"/>
                </a:solidFill>
                <a:latin typeface="Cambria" panose="02040503050406030204" pitchFamily="34" charset="0"/>
                <a:ea typeface="Cambria" panose="02040503050406030204" pitchFamily="34" charset="-122"/>
                <a:cs typeface="Cambria" panose="02040503050406030204" pitchFamily="34" charset="-120"/>
              </a:rPr>
              <a:t>72%</a:t>
            </a:r>
            <a:endParaRPr lang="en-US" sz="2400" dirty="0"/>
          </a:p>
        </p:txBody>
      </p:sp>
      <p:sp>
        <p:nvSpPr>
          <p:cNvPr id="18" name="Text 16"/>
          <p:cNvSpPr/>
          <p:nvPr/>
        </p:nvSpPr>
        <p:spPr>
          <a:xfrm>
            <a:off x="9668866" y="1949501"/>
            <a:ext cx="1944014" cy="294437"/>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FORECAST ACCURACY</a:t>
            </a:r>
            <a:endParaRPr lang="en-US" sz="950" dirty="0"/>
          </a:p>
        </p:txBody>
      </p:sp>
      <p:sp>
        <p:nvSpPr>
          <p:cNvPr id="19" name="Shape 17"/>
          <p:cNvSpPr/>
          <p:nvPr/>
        </p:nvSpPr>
        <p:spPr>
          <a:xfrm>
            <a:off x="502920" y="2606040"/>
            <a:ext cx="6766560" cy="3674745"/>
          </a:xfrm>
          <a:prstGeom prst="roundRect">
            <a:avLst>
              <a:gd name="adj" fmla="val 2338"/>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0" name="Shape 18"/>
          <p:cNvSpPr/>
          <p:nvPr/>
        </p:nvSpPr>
        <p:spPr>
          <a:xfrm>
            <a:off x="731520" y="2834640"/>
            <a:ext cx="201168" cy="201168"/>
          </a:xfrm>
          <a:prstGeom prst="roundRect">
            <a:avLst>
              <a:gd name="adj" fmla="val 18182"/>
            </a:avLst>
          </a:prstGeom>
          <a:solidFill>
            <a:srgbClr val="2EC4B6"/>
          </a:solidFill>
        </p:spPr>
      </p:sp>
      <p:sp>
        <p:nvSpPr>
          <p:cNvPr id="21" name="Text 19"/>
          <p:cNvSpPr/>
          <p:nvPr/>
        </p:nvSpPr>
        <p:spPr>
          <a:xfrm>
            <a:off x="1024128" y="2779776"/>
            <a:ext cx="592531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Overall Assessment</a:t>
            </a:r>
            <a:endParaRPr lang="en-US" sz="1500" dirty="0"/>
          </a:p>
        </p:txBody>
      </p:sp>
      <p:sp>
        <p:nvSpPr>
          <p:cNvPr id="22" name="Text 20"/>
          <p:cNvSpPr/>
          <p:nvPr/>
        </p:nvSpPr>
        <p:spPr>
          <a:xfrm>
            <a:off x="731520" y="3246120"/>
            <a:ext cx="6309360" cy="1005840"/>
          </a:xfrm>
          <a:prstGeom prst="rect">
            <a:avLst/>
          </a:prstGeom>
          <a:noFill/>
        </p:spPr>
        <p:txBody>
          <a:bodyPr wrap="square" rtlCol="0" anchor="ctr"/>
          <a:lstStyle/>
          <a:p>
            <a:pPr marL="0" indent="0">
              <a:lnSpc>
                <a:spcPct val="125000"/>
              </a:lnSpc>
              <a:buNone/>
            </a:pPr>
            <a:r>
              <a:rPr lang="en-US" sz="1250" dirty="0">
                <a:solidFill>
                  <a:srgbClr val="17262B"/>
                </a:solidFill>
                <a:latin typeface="Calibri" panose="020F0502020204030204" pitchFamily="34" charset="0"/>
                <a:ea typeface="Calibri" panose="020F0502020204030204" pitchFamily="34" charset="-122"/>
                <a:cs typeface="Calibri" panose="020F0502020204030204" pitchFamily="34" charset="-120"/>
              </a:rPr>
              <a:t>Analysis of 1.74M offered calls across three projects and sixteen agents shows a stable operating environment. Service Level reached 92% against an implied SLA benchmark, supported by a low overall abandon rate of 1.3% and a fast average response time of 9.22 seconds.</a:t>
            </a:r>
            <a:endParaRPr lang="en-US" sz="1250" dirty="0"/>
          </a:p>
        </p:txBody>
      </p:sp>
      <p:sp>
        <p:nvSpPr>
          <p:cNvPr id="23" name="Text 21"/>
          <p:cNvSpPr/>
          <p:nvPr/>
        </p:nvSpPr>
        <p:spPr>
          <a:xfrm>
            <a:off x="731520" y="4297680"/>
            <a:ext cx="6309360" cy="1005840"/>
          </a:xfrm>
          <a:prstGeom prst="rect">
            <a:avLst/>
          </a:prstGeom>
          <a:noFill/>
        </p:spPr>
        <p:txBody>
          <a:bodyPr wrap="square" rtlCol="0" anchor="ctr"/>
          <a:lstStyle/>
          <a:p>
            <a:pPr marL="0" indent="0">
              <a:lnSpc>
                <a:spcPct val="125000"/>
              </a:lnSpc>
              <a:buNone/>
            </a:pPr>
            <a:r>
              <a:rPr lang="en-US" sz="1250" dirty="0">
                <a:solidFill>
                  <a:srgbClr val="17262B"/>
                </a:solidFill>
                <a:latin typeface="Calibri" panose="020F0502020204030204" pitchFamily="34" charset="0"/>
                <a:ea typeface="Calibri" panose="020F0502020204030204" pitchFamily="34" charset="-122"/>
                <a:cs typeface="Calibri" panose="020F0502020204030204" pitchFamily="34" charset="-120"/>
              </a:rPr>
              <a:t>Forecast accuracy stands at 72%: actual call volume ran below forecast in all three months, indicating the forecasting model is conservative rather than under-provisioned. Project-level performance is uneven — Project C consistently outperforms, while Project B carries the highest volume and the greatest operational risk.</a:t>
            </a:r>
            <a:endParaRPr lang="en-US" sz="1250" dirty="0"/>
          </a:p>
        </p:txBody>
      </p:sp>
      <p:sp>
        <p:nvSpPr>
          <p:cNvPr id="24" name="Text 22"/>
          <p:cNvSpPr/>
          <p:nvPr/>
        </p:nvSpPr>
        <p:spPr>
          <a:xfrm>
            <a:off x="731520" y="5349240"/>
            <a:ext cx="6309360" cy="685800"/>
          </a:xfrm>
          <a:prstGeom prst="rect">
            <a:avLst/>
          </a:prstGeom>
          <a:noFill/>
        </p:spPr>
        <p:txBody>
          <a:bodyPr wrap="square" rtlCol="0" anchor="ctr"/>
          <a:lstStyle/>
          <a:p>
            <a:pPr marL="0" indent="0">
              <a:lnSpc>
                <a:spcPct val="125000"/>
              </a:lnSpc>
              <a:buNone/>
            </a:pPr>
            <a:r>
              <a:rPr lang="en-US" sz="1250" dirty="0">
                <a:solidFill>
                  <a:srgbClr val="17262B"/>
                </a:solidFill>
                <a:latin typeface="Calibri" panose="020F0502020204030204" pitchFamily="34" charset="0"/>
                <a:ea typeface="Calibri" panose="020F0502020204030204" pitchFamily="34" charset="-122"/>
                <a:cs typeface="Calibri" panose="020F0502020204030204" pitchFamily="34" charset="-120"/>
              </a:rPr>
              <a:t>A built-in What-If simulator shows that a 35% surge in call volume would push Service Level down to 83.5% and elevate operational risk to High — a concrete, quantified planning trigger for management.</a:t>
            </a:r>
            <a:endParaRPr lang="en-US" sz="1250" dirty="0"/>
          </a:p>
        </p:txBody>
      </p:sp>
      <p:sp>
        <p:nvSpPr>
          <p:cNvPr id="25" name="Shape 23"/>
          <p:cNvSpPr/>
          <p:nvPr/>
        </p:nvSpPr>
        <p:spPr>
          <a:xfrm>
            <a:off x="7452360" y="2606040"/>
            <a:ext cx="4251960" cy="3674745"/>
          </a:xfrm>
          <a:prstGeom prst="roundRect">
            <a:avLst>
              <a:gd name="adj" fmla="val 2338"/>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6" name="Shape 24"/>
          <p:cNvSpPr/>
          <p:nvPr/>
        </p:nvSpPr>
        <p:spPr>
          <a:xfrm>
            <a:off x="7680960" y="2834640"/>
            <a:ext cx="201168" cy="201168"/>
          </a:xfrm>
          <a:prstGeom prst="roundRect">
            <a:avLst>
              <a:gd name="adj" fmla="val 18182"/>
            </a:avLst>
          </a:prstGeom>
          <a:solidFill>
            <a:srgbClr val="2EC4B6"/>
          </a:solidFill>
        </p:spPr>
      </p:sp>
      <p:sp>
        <p:nvSpPr>
          <p:cNvPr id="27" name="Text 25"/>
          <p:cNvSpPr/>
          <p:nvPr/>
        </p:nvSpPr>
        <p:spPr>
          <a:xfrm>
            <a:off x="7973568" y="2779776"/>
            <a:ext cx="345643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Analytical Journey</a:t>
            </a:r>
            <a:endParaRPr lang="en-US" sz="1500" dirty="0"/>
          </a:p>
        </p:txBody>
      </p:sp>
      <p:sp>
        <p:nvSpPr>
          <p:cNvPr id="28" name="Shape 26"/>
          <p:cNvSpPr/>
          <p:nvPr/>
        </p:nvSpPr>
        <p:spPr>
          <a:xfrm>
            <a:off x="7680960" y="3291840"/>
            <a:ext cx="274320" cy="274320"/>
          </a:xfrm>
          <a:prstGeom prst="ellipse">
            <a:avLst/>
          </a:prstGeom>
          <a:solidFill>
            <a:srgbClr val="0B7285"/>
          </a:solidFill>
        </p:spPr>
      </p:sp>
      <p:sp>
        <p:nvSpPr>
          <p:cNvPr id="29" name="Text 27"/>
          <p:cNvSpPr/>
          <p:nvPr/>
        </p:nvSpPr>
        <p:spPr>
          <a:xfrm>
            <a:off x="7680960" y="3291840"/>
            <a:ext cx="27432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00" dirty="0"/>
          </a:p>
        </p:txBody>
      </p:sp>
      <p:sp>
        <p:nvSpPr>
          <p:cNvPr id="30" name="Text 28"/>
          <p:cNvSpPr/>
          <p:nvPr/>
        </p:nvSpPr>
        <p:spPr>
          <a:xfrm>
            <a:off x="8092440" y="3264408"/>
            <a:ext cx="3429000" cy="329184"/>
          </a:xfrm>
          <a:prstGeom prst="rect">
            <a:avLst/>
          </a:prstGeom>
          <a:noFill/>
        </p:spPr>
        <p:txBody>
          <a:bodyPr wrap="square" rtlCol="0" anchor="ctr"/>
          <a:lstStyle/>
          <a:p>
            <a:pPr marL="0" indent="0">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Raw Data (3 files)</a:t>
            </a:r>
            <a:endParaRPr lang="en-US" sz="1150" dirty="0"/>
          </a:p>
        </p:txBody>
      </p:sp>
      <p:sp>
        <p:nvSpPr>
          <p:cNvPr id="31" name="Shape 29"/>
          <p:cNvSpPr/>
          <p:nvPr/>
        </p:nvSpPr>
        <p:spPr>
          <a:xfrm>
            <a:off x="7818120" y="3566160"/>
            <a:ext cx="0" cy="256032"/>
          </a:xfrm>
          <a:prstGeom prst="line">
            <a:avLst/>
          </a:prstGeom>
          <a:noFill/>
          <a:ln w="19050">
            <a:solidFill>
              <a:srgbClr val="DCE7E8"/>
            </a:solidFill>
            <a:prstDash val="solid"/>
          </a:ln>
        </p:spPr>
      </p:sp>
      <p:sp>
        <p:nvSpPr>
          <p:cNvPr id="32" name="Shape 30"/>
          <p:cNvSpPr/>
          <p:nvPr/>
        </p:nvSpPr>
        <p:spPr>
          <a:xfrm>
            <a:off x="7680960" y="3822192"/>
            <a:ext cx="274320" cy="274320"/>
          </a:xfrm>
          <a:prstGeom prst="ellipse">
            <a:avLst/>
          </a:prstGeom>
          <a:solidFill>
            <a:srgbClr val="0B7285"/>
          </a:solidFill>
        </p:spPr>
      </p:sp>
      <p:sp>
        <p:nvSpPr>
          <p:cNvPr id="33" name="Text 31"/>
          <p:cNvSpPr/>
          <p:nvPr/>
        </p:nvSpPr>
        <p:spPr>
          <a:xfrm>
            <a:off x="7680960" y="3822192"/>
            <a:ext cx="27432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
        <p:nvSpPr>
          <p:cNvPr id="34" name="Text 32"/>
          <p:cNvSpPr/>
          <p:nvPr/>
        </p:nvSpPr>
        <p:spPr>
          <a:xfrm>
            <a:off x="8092440" y="3794760"/>
            <a:ext cx="3429000" cy="329184"/>
          </a:xfrm>
          <a:prstGeom prst="rect">
            <a:avLst/>
          </a:prstGeom>
          <a:noFill/>
        </p:spPr>
        <p:txBody>
          <a:bodyPr wrap="square" rtlCol="0" anchor="ctr"/>
          <a:lstStyle/>
          <a:p>
            <a:pPr marL="0" indent="0">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Consolidation &amp; Preparation</a:t>
            </a:r>
            <a:endParaRPr lang="en-US" sz="1150" dirty="0"/>
          </a:p>
        </p:txBody>
      </p:sp>
      <p:sp>
        <p:nvSpPr>
          <p:cNvPr id="35" name="Shape 33"/>
          <p:cNvSpPr/>
          <p:nvPr/>
        </p:nvSpPr>
        <p:spPr>
          <a:xfrm>
            <a:off x="7818120" y="4096512"/>
            <a:ext cx="0" cy="256032"/>
          </a:xfrm>
          <a:prstGeom prst="line">
            <a:avLst/>
          </a:prstGeom>
          <a:noFill/>
          <a:ln w="19050">
            <a:solidFill>
              <a:srgbClr val="DCE7E8"/>
            </a:solidFill>
            <a:prstDash val="solid"/>
          </a:ln>
        </p:spPr>
      </p:sp>
      <p:sp>
        <p:nvSpPr>
          <p:cNvPr id="36" name="Shape 34"/>
          <p:cNvSpPr/>
          <p:nvPr/>
        </p:nvSpPr>
        <p:spPr>
          <a:xfrm>
            <a:off x="7680960" y="4352544"/>
            <a:ext cx="274320" cy="274320"/>
          </a:xfrm>
          <a:prstGeom prst="ellipse">
            <a:avLst/>
          </a:prstGeom>
          <a:solidFill>
            <a:srgbClr val="0B7285"/>
          </a:solidFill>
        </p:spPr>
      </p:sp>
      <p:sp>
        <p:nvSpPr>
          <p:cNvPr id="37" name="Text 35"/>
          <p:cNvSpPr/>
          <p:nvPr/>
        </p:nvSpPr>
        <p:spPr>
          <a:xfrm>
            <a:off x="7680960" y="4352544"/>
            <a:ext cx="27432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
        <p:nvSpPr>
          <p:cNvPr id="38" name="Text 36"/>
          <p:cNvSpPr/>
          <p:nvPr/>
        </p:nvSpPr>
        <p:spPr>
          <a:xfrm>
            <a:off x="8092440" y="4325112"/>
            <a:ext cx="3429000" cy="329184"/>
          </a:xfrm>
          <a:prstGeom prst="rect">
            <a:avLst/>
          </a:prstGeom>
          <a:noFill/>
        </p:spPr>
        <p:txBody>
          <a:bodyPr wrap="square" rtlCol="0" anchor="ctr"/>
          <a:lstStyle/>
          <a:p>
            <a:pPr marL="0" indent="0">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KPI &amp; Data Model (DAX)</a:t>
            </a:r>
            <a:endParaRPr lang="en-US" sz="1150" dirty="0"/>
          </a:p>
        </p:txBody>
      </p:sp>
      <p:sp>
        <p:nvSpPr>
          <p:cNvPr id="39" name="Shape 37"/>
          <p:cNvSpPr/>
          <p:nvPr/>
        </p:nvSpPr>
        <p:spPr>
          <a:xfrm>
            <a:off x="7818120" y="4626864"/>
            <a:ext cx="0" cy="256032"/>
          </a:xfrm>
          <a:prstGeom prst="line">
            <a:avLst/>
          </a:prstGeom>
          <a:noFill/>
          <a:ln w="19050">
            <a:solidFill>
              <a:srgbClr val="DCE7E8"/>
            </a:solidFill>
            <a:prstDash val="solid"/>
          </a:ln>
        </p:spPr>
      </p:sp>
      <p:sp>
        <p:nvSpPr>
          <p:cNvPr id="40" name="Shape 38"/>
          <p:cNvSpPr/>
          <p:nvPr/>
        </p:nvSpPr>
        <p:spPr>
          <a:xfrm>
            <a:off x="7680960" y="4882896"/>
            <a:ext cx="274320" cy="274320"/>
          </a:xfrm>
          <a:prstGeom prst="ellipse">
            <a:avLst/>
          </a:prstGeom>
          <a:solidFill>
            <a:srgbClr val="0B7285"/>
          </a:solidFill>
        </p:spPr>
      </p:sp>
      <p:sp>
        <p:nvSpPr>
          <p:cNvPr id="41" name="Text 39"/>
          <p:cNvSpPr/>
          <p:nvPr/>
        </p:nvSpPr>
        <p:spPr>
          <a:xfrm>
            <a:off x="7680960" y="4882896"/>
            <a:ext cx="27432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
        <p:nvSpPr>
          <p:cNvPr id="42" name="Text 40"/>
          <p:cNvSpPr/>
          <p:nvPr/>
        </p:nvSpPr>
        <p:spPr>
          <a:xfrm>
            <a:off x="8092440" y="4855464"/>
            <a:ext cx="3429000" cy="329184"/>
          </a:xfrm>
          <a:prstGeom prst="rect">
            <a:avLst/>
          </a:prstGeom>
          <a:noFill/>
        </p:spPr>
        <p:txBody>
          <a:bodyPr wrap="square" rtlCol="0" anchor="ctr"/>
          <a:lstStyle/>
          <a:p>
            <a:pPr marL="0" indent="0">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Operational &amp; Root-Cause Analysis</a:t>
            </a:r>
            <a:endParaRPr lang="en-US" sz="1150" dirty="0"/>
          </a:p>
        </p:txBody>
      </p:sp>
      <p:sp>
        <p:nvSpPr>
          <p:cNvPr id="43" name="Shape 41"/>
          <p:cNvSpPr/>
          <p:nvPr/>
        </p:nvSpPr>
        <p:spPr>
          <a:xfrm>
            <a:off x="7818120" y="5157216"/>
            <a:ext cx="0" cy="256032"/>
          </a:xfrm>
          <a:prstGeom prst="line">
            <a:avLst/>
          </a:prstGeom>
          <a:noFill/>
          <a:ln w="19050">
            <a:solidFill>
              <a:srgbClr val="DCE7E8"/>
            </a:solidFill>
            <a:prstDash val="solid"/>
          </a:ln>
        </p:spPr>
      </p:sp>
      <p:sp>
        <p:nvSpPr>
          <p:cNvPr id="44" name="Shape 42"/>
          <p:cNvSpPr/>
          <p:nvPr/>
        </p:nvSpPr>
        <p:spPr>
          <a:xfrm>
            <a:off x="7680960" y="5413248"/>
            <a:ext cx="274320" cy="274320"/>
          </a:xfrm>
          <a:prstGeom prst="ellipse">
            <a:avLst/>
          </a:prstGeom>
          <a:solidFill>
            <a:srgbClr val="0B7285"/>
          </a:solidFill>
        </p:spPr>
      </p:sp>
      <p:sp>
        <p:nvSpPr>
          <p:cNvPr id="45" name="Text 43"/>
          <p:cNvSpPr/>
          <p:nvPr/>
        </p:nvSpPr>
        <p:spPr>
          <a:xfrm>
            <a:off x="7680960" y="5413248"/>
            <a:ext cx="27432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
        <p:nvSpPr>
          <p:cNvPr id="46" name="Text 44"/>
          <p:cNvSpPr/>
          <p:nvPr/>
        </p:nvSpPr>
        <p:spPr>
          <a:xfrm>
            <a:off x="8092440" y="5385816"/>
            <a:ext cx="3429000" cy="329184"/>
          </a:xfrm>
          <a:prstGeom prst="rect">
            <a:avLst/>
          </a:prstGeom>
          <a:noFill/>
        </p:spPr>
        <p:txBody>
          <a:bodyPr wrap="square" rtlCol="0" anchor="ctr"/>
          <a:lstStyle/>
          <a:p>
            <a:pPr marL="0" indent="0">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What-If Scenario Simulation</a:t>
            </a:r>
            <a:endParaRPr lang="en-US" sz="1150" dirty="0"/>
          </a:p>
        </p:txBody>
      </p:sp>
      <p:sp>
        <p:nvSpPr>
          <p:cNvPr id="47" name="Shape 45"/>
          <p:cNvSpPr/>
          <p:nvPr/>
        </p:nvSpPr>
        <p:spPr>
          <a:xfrm>
            <a:off x="7818120" y="5687568"/>
            <a:ext cx="0" cy="256032"/>
          </a:xfrm>
          <a:prstGeom prst="line">
            <a:avLst/>
          </a:prstGeom>
          <a:noFill/>
          <a:ln w="19050">
            <a:solidFill>
              <a:srgbClr val="DCE7E8"/>
            </a:solidFill>
            <a:prstDash val="solid"/>
          </a:ln>
        </p:spPr>
      </p:sp>
      <p:sp>
        <p:nvSpPr>
          <p:cNvPr id="48" name="Shape 46"/>
          <p:cNvSpPr/>
          <p:nvPr/>
        </p:nvSpPr>
        <p:spPr>
          <a:xfrm>
            <a:off x="7680960" y="5943600"/>
            <a:ext cx="274320" cy="274320"/>
          </a:xfrm>
          <a:prstGeom prst="ellipse">
            <a:avLst/>
          </a:prstGeom>
          <a:solidFill>
            <a:srgbClr val="2EC4B6"/>
          </a:solidFill>
        </p:spPr>
      </p:sp>
      <p:sp>
        <p:nvSpPr>
          <p:cNvPr id="49" name="Text 47"/>
          <p:cNvSpPr/>
          <p:nvPr/>
        </p:nvSpPr>
        <p:spPr>
          <a:xfrm>
            <a:off x="7680960" y="5943600"/>
            <a:ext cx="27432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
        <p:nvSpPr>
          <p:cNvPr id="50" name="Text 48"/>
          <p:cNvSpPr/>
          <p:nvPr/>
        </p:nvSpPr>
        <p:spPr>
          <a:xfrm>
            <a:off x="8092440" y="5916168"/>
            <a:ext cx="3429000" cy="329184"/>
          </a:xfrm>
          <a:prstGeom prst="rect">
            <a:avLst/>
          </a:prstGeom>
          <a:noFill/>
        </p:spPr>
        <p:txBody>
          <a:bodyPr wrap="square" rtlCol="0" anchor="ctr"/>
          <a:lstStyle/>
          <a:p>
            <a:pPr marL="0" indent="0">
              <a:buNone/>
            </a:pPr>
            <a:r>
              <a:rPr lang="en-US" sz="1150" b="1" dirty="0">
                <a:solidFill>
                  <a:srgbClr val="17262B"/>
                </a:solidFill>
                <a:latin typeface="Calibri" panose="020F0502020204030204" pitchFamily="34" charset="0"/>
                <a:ea typeface="Calibri" panose="020F0502020204030204" pitchFamily="34" charset="-122"/>
                <a:cs typeface="Calibri" panose="020F0502020204030204" pitchFamily="34" charset="-120"/>
              </a:rPr>
              <a:t>Decision Support &amp; Recommendations</a:t>
            </a:r>
            <a:endParaRPr lang="en-US" sz="1150" dirty="0"/>
          </a:p>
        </p:txBody>
      </p:sp>
      <p:sp>
        <p:nvSpPr>
          <p:cNvPr id="51" name="Text 49"/>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02</a:t>
            </a:r>
            <a:endParaRPr lang="en-US" sz="1000" dirty="0"/>
          </a:p>
        </p:txBody>
      </p:sp>
      <p:sp>
        <p:nvSpPr>
          <p:cNvPr id="52" name="Text 50"/>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BUSINESS PROBLEM</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From Raw Call Logs to Operational Answers</a:t>
            </a:r>
            <a:endParaRPr lang="en-US" sz="2800" dirty="0"/>
          </a:p>
        </p:txBody>
      </p:sp>
      <p:sp>
        <p:nvSpPr>
          <p:cNvPr id="4" name="Shape 2"/>
          <p:cNvSpPr/>
          <p:nvPr/>
        </p:nvSpPr>
        <p:spPr>
          <a:xfrm>
            <a:off x="502920" y="1234440"/>
            <a:ext cx="5394960" cy="5074920"/>
          </a:xfrm>
          <a:prstGeom prst="roundRect">
            <a:avLst>
              <a:gd name="adj" fmla="val 1622"/>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 name="Shape 3"/>
          <p:cNvSpPr/>
          <p:nvPr/>
        </p:nvSpPr>
        <p:spPr>
          <a:xfrm>
            <a:off x="731520" y="1463040"/>
            <a:ext cx="201168" cy="201168"/>
          </a:xfrm>
          <a:prstGeom prst="roundRect">
            <a:avLst>
              <a:gd name="adj" fmla="val 18182"/>
            </a:avLst>
          </a:prstGeom>
          <a:solidFill>
            <a:srgbClr val="2EC4B6"/>
          </a:solidFill>
        </p:spPr>
      </p:sp>
      <p:sp>
        <p:nvSpPr>
          <p:cNvPr id="6" name="Text 4"/>
          <p:cNvSpPr/>
          <p:nvPr/>
        </p:nvSpPr>
        <p:spPr>
          <a:xfrm>
            <a:off x="1024128" y="1408176"/>
            <a:ext cx="464515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The Operational Problem</a:t>
            </a:r>
            <a:endParaRPr lang="en-US" sz="1500" dirty="0"/>
          </a:p>
        </p:txBody>
      </p:sp>
      <p:sp>
        <p:nvSpPr>
          <p:cNvPr id="7" name="Text 5"/>
          <p:cNvSpPr/>
          <p:nvPr/>
        </p:nvSpPr>
        <p:spPr>
          <a:xfrm>
            <a:off x="731520" y="1874520"/>
            <a:ext cx="4937760" cy="868680"/>
          </a:xfrm>
          <a:prstGeom prst="rect">
            <a:avLst/>
          </a:prstGeom>
          <a:noFill/>
        </p:spPr>
        <p:txBody>
          <a:bodyPr wrap="square" rtlCol="0" anchor="ctr"/>
          <a:lstStyle/>
          <a:p>
            <a:pPr marL="0" indent="0">
              <a:lnSpc>
                <a:spcPct val="125000"/>
              </a:lnSpc>
              <a:buNone/>
            </a:pPr>
            <a:r>
              <a:rPr lang="en-US" sz="1250" dirty="0">
                <a:solidFill>
                  <a:srgbClr val="17262B"/>
                </a:solidFill>
                <a:latin typeface="Calibri" panose="020F0502020204030204" pitchFamily="34" charset="0"/>
                <a:ea typeface="Calibri" panose="020F0502020204030204" pitchFamily="34" charset="-122"/>
                <a:cs typeface="Calibri" panose="020F0502020204030204" pitchFamily="34" charset="-120"/>
              </a:rPr>
              <a:t>Call center leadership needs a reliable, single view of demand, service quality, and workforce performance across projects — and needs to know, before it happens, what rising demand would do to service levels.</a:t>
            </a:r>
            <a:endParaRPr lang="en-US" sz="1250" dirty="0"/>
          </a:p>
        </p:txBody>
      </p:sp>
      <p:sp>
        <p:nvSpPr>
          <p:cNvPr id="8" name="Shape 6"/>
          <p:cNvSpPr/>
          <p:nvPr/>
        </p:nvSpPr>
        <p:spPr>
          <a:xfrm>
            <a:off x="777240" y="2889504"/>
            <a:ext cx="82296" cy="82296"/>
          </a:xfrm>
          <a:prstGeom prst="ellipse">
            <a:avLst/>
          </a:prstGeom>
          <a:solidFill>
            <a:srgbClr val="2EC4B6"/>
          </a:solidFill>
        </p:spPr>
      </p:sp>
      <p:sp>
        <p:nvSpPr>
          <p:cNvPr id="9" name="Text 7"/>
          <p:cNvSpPr/>
          <p:nvPr/>
        </p:nvSpPr>
        <p:spPr>
          <a:xfrm>
            <a:off x="1005840" y="2761488"/>
            <a:ext cx="4617720" cy="457200"/>
          </a:xfrm>
          <a:prstGeom prst="rect">
            <a:avLst/>
          </a:prstGeom>
          <a:noFill/>
        </p:spPr>
        <p:txBody>
          <a:bodyPr wrap="square" rtlCol="0" anchor="t"/>
          <a:lstStyle/>
          <a:p>
            <a:pPr marL="0" indent="0">
              <a:lnSpc>
                <a:spcPct val="110000"/>
              </a:lnSpc>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Is the call center meeting its Service Level target, and where is it slipping?</a:t>
            </a:r>
            <a:endParaRPr lang="en-US" sz="1150" dirty="0"/>
          </a:p>
        </p:txBody>
      </p:sp>
      <p:sp>
        <p:nvSpPr>
          <p:cNvPr id="10" name="Shape 8"/>
          <p:cNvSpPr/>
          <p:nvPr/>
        </p:nvSpPr>
        <p:spPr>
          <a:xfrm>
            <a:off x="777240" y="3374136"/>
            <a:ext cx="82296" cy="82296"/>
          </a:xfrm>
          <a:prstGeom prst="ellipse">
            <a:avLst/>
          </a:prstGeom>
          <a:solidFill>
            <a:srgbClr val="2EC4B6"/>
          </a:solidFill>
        </p:spPr>
      </p:sp>
      <p:sp>
        <p:nvSpPr>
          <p:cNvPr id="11" name="Text 9"/>
          <p:cNvSpPr/>
          <p:nvPr/>
        </p:nvSpPr>
        <p:spPr>
          <a:xfrm>
            <a:off x="1005840" y="3246120"/>
            <a:ext cx="4617720" cy="457200"/>
          </a:xfrm>
          <a:prstGeom prst="rect">
            <a:avLst/>
          </a:prstGeom>
          <a:noFill/>
        </p:spPr>
        <p:txBody>
          <a:bodyPr wrap="square" rtlCol="0" anchor="t"/>
          <a:lstStyle/>
          <a:p>
            <a:pPr marL="0" indent="0">
              <a:lnSpc>
                <a:spcPct val="110000"/>
              </a:lnSpc>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Which project is dragging down overall performance, and why?</a:t>
            </a:r>
            <a:endParaRPr lang="en-US" sz="1150" dirty="0"/>
          </a:p>
        </p:txBody>
      </p:sp>
      <p:sp>
        <p:nvSpPr>
          <p:cNvPr id="12" name="Shape 10"/>
          <p:cNvSpPr/>
          <p:nvPr/>
        </p:nvSpPr>
        <p:spPr>
          <a:xfrm>
            <a:off x="777240" y="3858768"/>
            <a:ext cx="82296" cy="82296"/>
          </a:xfrm>
          <a:prstGeom prst="ellipse">
            <a:avLst/>
          </a:prstGeom>
          <a:solidFill>
            <a:srgbClr val="2EC4B6"/>
          </a:solidFill>
        </p:spPr>
      </p:sp>
      <p:sp>
        <p:nvSpPr>
          <p:cNvPr id="13" name="Text 11"/>
          <p:cNvSpPr/>
          <p:nvPr/>
        </p:nvSpPr>
        <p:spPr>
          <a:xfrm>
            <a:off x="1005840" y="3730752"/>
            <a:ext cx="4617720" cy="457200"/>
          </a:xfrm>
          <a:prstGeom prst="rect">
            <a:avLst/>
          </a:prstGeom>
          <a:noFill/>
        </p:spPr>
        <p:txBody>
          <a:bodyPr wrap="square" rtlCol="0" anchor="t"/>
          <a:lstStyle/>
          <a:p>
            <a:pPr marL="0" indent="0">
              <a:lnSpc>
                <a:spcPct val="110000"/>
              </a:lnSpc>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Which agents need coaching or support, and which set the benchmark?</a:t>
            </a:r>
            <a:endParaRPr lang="en-US" sz="1150" dirty="0"/>
          </a:p>
        </p:txBody>
      </p:sp>
      <p:sp>
        <p:nvSpPr>
          <p:cNvPr id="14" name="Shape 12"/>
          <p:cNvSpPr/>
          <p:nvPr/>
        </p:nvSpPr>
        <p:spPr>
          <a:xfrm>
            <a:off x="777240" y="4343400"/>
            <a:ext cx="82296" cy="82296"/>
          </a:xfrm>
          <a:prstGeom prst="ellipse">
            <a:avLst/>
          </a:prstGeom>
          <a:solidFill>
            <a:srgbClr val="2EC4B6"/>
          </a:solidFill>
        </p:spPr>
      </p:sp>
      <p:sp>
        <p:nvSpPr>
          <p:cNvPr id="15" name="Text 13"/>
          <p:cNvSpPr/>
          <p:nvPr/>
        </p:nvSpPr>
        <p:spPr>
          <a:xfrm>
            <a:off x="1005840" y="4215384"/>
            <a:ext cx="4617720" cy="457200"/>
          </a:xfrm>
          <a:prstGeom prst="rect">
            <a:avLst/>
          </a:prstGeom>
          <a:noFill/>
        </p:spPr>
        <p:txBody>
          <a:bodyPr wrap="square" rtlCol="0" anchor="t"/>
          <a:lstStyle/>
          <a:p>
            <a:pPr marL="0" indent="0">
              <a:lnSpc>
                <a:spcPct val="110000"/>
              </a:lnSpc>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Is call volume trending in a direction that threatens service quality?</a:t>
            </a:r>
            <a:endParaRPr lang="en-US" sz="1150" dirty="0"/>
          </a:p>
        </p:txBody>
      </p:sp>
      <p:sp>
        <p:nvSpPr>
          <p:cNvPr id="16" name="Shape 14"/>
          <p:cNvSpPr/>
          <p:nvPr/>
        </p:nvSpPr>
        <p:spPr>
          <a:xfrm>
            <a:off x="777240" y="4828032"/>
            <a:ext cx="82296" cy="82296"/>
          </a:xfrm>
          <a:prstGeom prst="ellipse">
            <a:avLst/>
          </a:prstGeom>
          <a:solidFill>
            <a:srgbClr val="2EC4B6"/>
          </a:solidFill>
        </p:spPr>
      </p:sp>
      <p:sp>
        <p:nvSpPr>
          <p:cNvPr id="17" name="Text 15"/>
          <p:cNvSpPr/>
          <p:nvPr/>
        </p:nvSpPr>
        <p:spPr>
          <a:xfrm>
            <a:off x="1005840" y="4700016"/>
            <a:ext cx="4617720" cy="457200"/>
          </a:xfrm>
          <a:prstGeom prst="rect">
            <a:avLst/>
          </a:prstGeom>
          <a:noFill/>
        </p:spPr>
        <p:txBody>
          <a:bodyPr wrap="square" rtlCol="0" anchor="t"/>
          <a:lstStyle/>
          <a:p>
            <a:pPr marL="0" indent="0">
              <a:lnSpc>
                <a:spcPct val="110000"/>
              </a:lnSpc>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What happens to Service Level and ASA if demand increases sharply?</a:t>
            </a:r>
            <a:endParaRPr lang="en-US" sz="1150" dirty="0"/>
          </a:p>
        </p:txBody>
      </p:sp>
      <p:sp>
        <p:nvSpPr>
          <p:cNvPr id="18" name="Shape 16"/>
          <p:cNvSpPr/>
          <p:nvPr/>
        </p:nvSpPr>
        <p:spPr>
          <a:xfrm>
            <a:off x="777240" y="5312664"/>
            <a:ext cx="82296" cy="82296"/>
          </a:xfrm>
          <a:prstGeom prst="ellipse">
            <a:avLst/>
          </a:prstGeom>
          <a:solidFill>
            <a:srgbClr val="2EC4B6"/>
          </a:solidFill>
        </p:spPr>
      </p:sp>
      <p:sp>
        <p:nvSpPr>
          <p:cNvPr id="19" name="Text 17"/>
          <p:cNvSpPr/>
          <p:nvPr/>
        </p:nvSpPr>
        <p:spPr>
          <a:xfrm>
            <a:off x="1005840" y="5184648"/>
            <a:ext cx="4617720" cy="457200"/>
          </a:xfrm>
          <a:prstGeom prst="rect">
            <a:avLst/>
          </a:prstGeom>
          <a:noFill/>
        </p:spPr>
        <p:txBody>
          <a:bodyPr wrap="square" rtlCol="0" anchor="t"/>
          <a:lstStyle/>
          <a:p>
            <a:pPr marL="0" indent="0">
              <a:lnSpc>
                <a:spcPct val="110000"/>
              </a:lnSpc>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How should staffing and routing decisions respond to that risk?</a:t>
            </a:r>
            <a:endParaRPr lang="en-US" sz="1150" dirty="0"/>
          </a:p>
        </p:txBody>
      </p:sp>
      <p:sp>
        <p:nvSpPr>
          <p:cNvPr id="20" name="Shape 18"/>
          <p:cNvSpPr/>
          <p:nvPr/>
        </p:nvSpPr>
        <p:spPr>
          <a:xfrm>
            <a:off x="6108192" y="1234440"/>
            <a:ext cx="5596128" cy="5074920"/>
          </a:xfrm>
          <a:prstGeom prst="roundRect">
            <a:avLst>
              <a:gd name="adj" fmla="val 1622"/>
            </a:avLst>
          </a:prstGeom>
          <a:solidFill>
            <a:srgbClr val="024958"/>
          </a:solidFill>
          <a:ln w="12700">
            <a:solidFill>
              <a:srgbClr val="DCE7E8"/>
            </a:solidFill>
            <a:prstDash val="solid"/>
          </a:ln>
        </p:spPr>
      </p:sp>
      <p:sp>
        <p:nvSpPr>
          <p:cNvPr id="21" name="Text 19"/>
          <p:cNvSpPr/>
          <p:nvPr/>
        </p:nvSpPr>
        <p:spPr>
          <a:xfrm>
            <a:off x="6382512" y="1463040"/>
            <a:ext cx="5029200" cy="274320"/>
          </a:xfrm>
          <a:prstGeom prst="rect">
            <a:avLst/>
          </a:prstGeom>
          <a:noFill/>
        </p:spPr>
        <p:txBody>
          <a:bodyPr wrap="square" rtlCol="0" anchor="ctr"/>
          <a:lstStyle/>
          <a:p>
            <a:pPr marL="0" indent="0">
              <a:buNone/>
            </a:pPr>
            <a:r>
              <a:rPr lang="en-US" sz="1100" b="1" kern="0" spc="150" dirty="0">
                <a:solidFill>
                  <a:srgbClr val="2EC4B6"/>
                </a:solidFill>
                <a:latin typeface="Calibri" panose="020F0502020204030204" pitchFamily="34" charset="0"/>
                <a:ea typeface="Calibri" panose="020F0502020204030204" pitchFamily="34" charset="-122"/>
                <a:cs typeface="Calibri" panose="020F0502020204030204" pitchFamily="34" charset="-120"/>
              </a:rPr>
              <a:t>PROJECT OBJECTIVE</a:t>
            </a:r>
            <a:endParaRPr lang="en-US" sz="1100" dirty="0"/>
          </a:p>
        </p:txBody>
      </p:sp>
      <p:sp>
        <p:nvSpPr>
          <p:cNvPr id="22" name="Text 20"/>
          <p:cNvSpPr/>
          <p:nvPr/>
        </p:nvSpPr>
        <p:spPr>
          <a:xfrm>
            <a:off x="6382512" y="1783080"/>
            <a:ext cx="5029200" cy="777240"/>
          </a:xfrm>
          <a:prstGeom prst="rect">
            <a:avLst/>
          </a:prstGeom>
          <a:noFill/>
        </p:spPr>
        <p:txBody>
          <a:bodyPr wrap="square" rtlCol="0" anchor="ctr"/>
          <a:lstStyle/>
          <a:p>
            <a:pPr marL="0" indent="0">
              <a:lnSpc>
                <a:spcPct val="115000"/>
              </a:lnSpc>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Turn three months of raw call-center logs into a decision-support solution.</a:t>
            </a:r>
            <a:endParaRPr lang="en-US" sz="1800" dirty="0"/>
          </a:p>
        </p:txBody>
      </p:sp>
      <p:sp>
        <p:nvSpPr>
          <p:cNvPr id="23" name="Text 21"/>
          <p:cNvSpPr/>
          <p:nvPr/>
        </p:nvSpPr>
        <p:spPr>
          <a:xfrm>
            <a:off x="6382512" y="2788920"/>
            <a:ext cx="4937760" cy="256032"/>
          </a:xfrm>
          <a:prstGeom prst="rect">
            <a:avLst/>
          </a:prstGeom>
          <a:noFill/>
        </p:spPr>
        <p:txBody>
          <a:bodyPr wrap="square" rtlCol="0" anchor="ctr"/>
          <a:lstStyle/>
          <a:p>
            <a:pPr marL="0" indent="0">
              <a:buNone/>
            </a:pPr>
            <a:r>
              <a:rPr lang="en-US" sz="1000" b="1" dirty="0">
                <a:solidFill>
                  <a:srgbClr val="8FC7C0"/>
                </a:solidFill>
                <a:latin typeface="Calibri" panose="020F0502020204030204" pitchFamily="34" charset="0"/>
                <a:ea typeface="Calibri" panose="020F0502020204030204" pitchFamily="34" charset="-122"/>
                <a:cs typeface="Calibri" panose="020F0502020204030204" pitchFamily="34" charset="-120"/>
              </a:rPr>
              <a:t>DOMAIN</a:t>
            </a:r>
            <a:endParaRPr lang="en-US" sz="1000" dirty="0"/>
          </a:p>
        </p:txBody>
      </p:sp>
      <p:sp>
        <p:nvSpPr>
          <p:cNvPr id="24" name="Text 22"/>
          <p:cNvSpPr/>
          <p:nvPr/>
        </p:nvSpPr>
        <p:spPr>
          <a:xfrm>
            <a:off x="6382512" y="3035808"/>
            <a:ext cx="4937760" cy="41148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Call Center / Customer Service Operations</a:t>
            </a:r>
            <a:endParaRPr lang="en-US" sz="1250" dirty="0"/>
          </a:p>
        </p:txBody>
      </p:sp>
      <p:sp>
        <p:nvSpPr>
          <p:cNvPr id="25" name="Text 23"/>
          <p:cNvSpPr/>
          <p:nvPr/>
        </p:nvSpPr>
        <p:spPr>
          <a:xfrm>
            <a:off x="6382512" y="3502152"/>
            <a:ext cx="4937760" cy="256032"/>
          </a:xfrm>
          <a:prstGeom prst="rect">
            <a:avLst/>
          </a:prstGeom>
          <a:noFill/>
        </p:spPr>
        <p:txBody>
          <a:bodyPr wrap="square" rtlCol="0" anchor="ctr"/>
          <a:lstStyle/>
          <a:p>
            <a:pPr marL="0" indent="0">
              <a:buNone/>
            </a:pPr>
            <a:r>
              <a:rPr lang="en-US" sz="1000" b="1" dirty="0">
                <a:solidFill>
                  <a:srgbClr val="8FC7C0"/>
                </a:solidFill>
                <a:latin typeface="Calibri" panose="020F0502020204030204" pitchFamily="34" charset="0"/>
                <a:ea typeface="Calibri" panose="020F0502020204030204" pitchFamily="34" charset="-122"/>
                <a:cs typeface="Calibri" panose="020F0502020204030204" pitchFamily="34" charset="-120"/>
              </a:rPr>
              <a:t>COVERAGE</a:t>
            </a:r>
            <a:endParaRPr lang="en-US" sz="1000" dirty="0"/>
          </a:p>
        </p:txBody>
      </p:sp>
      <p:sp>
        <p:nvSpPr>
          <p:cNvPr id="26" name="Text 24"/>
          <p:cNvSpPr/>
          <p:nvPr/>
        </p:nvSpPr>
        <p:spPr>
          <a:xfrm>
            <a:off x="6382512" y="3749040"/>
            <a:ext cx="4937760" cy="41148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3 projects · 16 agents · 3 months (Feb–Apr 2022)</a:t>
            </a:r>
            <a:endParaRPr lang="en-US" sz="1250" dirty="0"/>
          </a:p>
        </p:txBody>
      </p:sp>
      <p:sp>
        <p:nvSpPr>
          <p:cNvPr id="27" name="Text 25"/>
          <p:cNvSpPr/>
          <p:nvPr/>
        </p:nvSpPr>
        <p:spPr>
          <a:xfrm>
            <a:off x="6382512" y="4215384"/>
            <a:ext cx="4937760" cy="256032"/>
          </a:xfrm>
          <a:prstGeom prst="rect">
            <a:avLst/>
          </a:prstGeom>
          <a:noFill/>
        </p:spPr>
        <p:txBody>
          <a:bodyPr wrap="square" rtlCol="0" anchor="ctr"/>
          <a:lstStyle/>
          <a:p>
            <a:pPr marL="0" indent="0">
              <a:buNone/>
            </a:pPr>
            <a:r>
              <a:rPr lang="en-US" sz="1000" b="1" dirty="0">
                <a:solidFill>
                  <a:srgbClr val="8FC7C0"/>
                </a:solidFill>
                <a:latin typeface="Calibri" panose="020F0502020204030204" pitchFamily="34" charset="0"/>
                <a:ea typeface="Calibri" panose="020F0502020204030204" pitchFamily="34" charset="-122"/>
                <a:cs typeface="Calibri" panose="020F0502020204030204" pitchFamily="34" charset="-120"/>
              </a:rPr>
              <a:t>FOCUS AREAS</a:t>
            </a:r>
            <a:endParaRPr lang="en-US" sz="1000" dirty="0"/>
          </a:p>
        </p:txBody>
      </p:sp>
      <p:sp>
        <p:nvSpPr>
          <p:cNvPr id="28" name="Text 26"/>
          <p:cNvSpPr/>
          <p:nvPr/>
        </p:nvSpPr>
        <p:spPr>
          <a:xfrm>
            <a:off x="6382512" y="4462272"/>
            <a:ext cx="4937760" cy="41148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Call Volume, Service Level, ASA, Abandon Rate, Forecast Accuracy</a:t>
            </a:r>
            <a:endParaRPr lang="en-US" sz="1250" dirty="0"/>
          </a:p>
        </p:txBody>
      </p:sp>
      <p:sp>
        <p:nvSpPr>
          <p:cNvPr id="29" name="Text 27"/>
          <p:cNvSpPr/>
          <p:nvPr/>
        </p:nvSpPr>
        <p:spPr>
          <a:xfrm>
            <a:off x="6382512" y="4928616"/>
            <a:ext cx="4937760" cy="256032"/>
          </a:xfrm>
          <a:prstGeom prst="rect">
            <a:avLst/>
          </a:prstGeom>
          <a:noFill/>
        </p:spPr>
        <p:txBody>
          <a:bodyPr wrap="square" rtlCol="0" anchor="ctr"/>
          <a:lstStyle/>
          <a:p>
            <a:pPr marL="0" indent="0">
              <a:buNone/>
            </a:pPr>
            <a:r>
              <a:rPr lang="en-US" sz="1000" b="1" dirty="0">
                <a:solidFill>
                  <a:srgbClr val="8FC7C0"/>
                </a:solidFill>
                <a:latin typeface="Calibri" panose="020F0502020204030204" pitchFamily="34" charset="0"/>
                <a:ea typeface="Calibri" panose="020F0502020204030204" pitchFamily="34" charset="-122"/>
                <a:cs typeface="Calibri" panose="020F0502020204030204" pitchFamily="34" charset="-120"/>
              </a:rPr>
              <a:t>EXTENDED SCOPE</a:t>
            </a:r>
            <a:endParaRPr lang="en-US" sz="1000" dirty="0"/>
          </a:p>
        </p:txBody>
      </p:sp>
      <p:sp>
        <p:nvSpPr>
          <p:cNvPr id="30" name="Text 28"/>
          <p:cNvSpPr/>
          <p:nvPr/>
        </p:nvSpPr>
        <p:spPr>
          <a:xfrm>
            <a:off x="6382512" y="5175504"/>
            <a:ext cx="4937760" cy="41148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&amp; Agent performance, root-cause and What-If analysis</a:t>
            </a:r>
            <a:endParaRPr lang="en-US" sz="1250" dirty="0"/>
          </a:p>
        </p:txBody>
      </p:sp>
      <p:sp>
        <p:nvSpPr>
          <p:cNvPr id="31" name="Text 29"/>
          <p:cNvSpPr/>
          <p:nvPr/>
        </p:nvSpPr>
        <p:spPr>
          <a:xfrm>
            <a:off x="6382512" y="5623560"/>
            <a:ext cx="5029200" cy="548640"/>
          </a:xfrm>
          <a:prstGeom prst="rect">
            <a:avLst/>
          </a:prstGeom>
          <a:noFill/>
        </p:spPr>
        <p:txBody>
          <a:bodyPr wrap="square" rtlCol="0" anchor="ctr"/>
          <a:lstStyle/>
          <a:p>
            <a:pPr marL="0" indent="0">
              <a:lnSpc>
                <a:spcPct val="115000"/>
              </a:lnSpc>
              <a:buNone/>
            </a:pPr>
            <a:r>
              <a:rPr lang="en-US" sz="1050" i="1" dirty="0">
                <a:solidFill>
                  <a:srgbClr val="CFE3E3"/>
                </a:solidFill>
                <a:latin typeface="Calibri" panose="020F0502020204030204" pitchFamily="34" charset="0"/>
                <a:ea typeface="Calibri" panose="020F0502020204030204" pitchFamily="34" charset="-122"/>
                <a:cs typeface="Calibri" panose="020F0502020204030204" pitchFamily="34" charset="-120"/>
              </a:rPr>
              <a:t>Only metrics and features actually implemented in the Power BI model are reported here; proposed enhancements are clearly labeled as future work.</a:t>
            </a:r>
            <a:endParaRPr lang="en-US" sz="1050" dirty="0"/>
          </a:p>
        </p:txBody>
      </p:sp>
      <p:sp>
        <p:nvSpPr>
          <p:cNvPr id="32" name="Text 30"/>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03</a:t>
            </a:r>
            <a:endParaRPr lang="en-US" sz="1000" dirty="0"/>
          </a:p>
        </p:txBody>
      </p:sp>
      <p:sp>
        <p:nvSpPr>
          <p:cNvPr id="33" name="Text 31"/>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DATA FOUNDATION</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Data Sources &amp; Consolidation</a:t>
            </a:r>
            <a:endParaRPr lang="en-US" sz="2800" dirty="0"/>
          </a:p>
        </p:txBody>
      </p:sp>
      <p:sp>
        <p:nvSpPr>
          <p:cNvPr id="4" name="Shape 2"/>
          <p:cNvSpPr/>
          <p:nvPr/>
        </p:nvSpPr>
        <p:spPr>
          <a:xfrm>
            <a:off x="502920" y="1234440"/>
            <a:ext cx="5577840" cy="5074920"/>
          </a:xfrm>
          <a:prstGeom prst="roundRect">
            <a:avLst>
              <a:gd name="adj" fmla="val 1622"/>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 name="Shape 3"/>
          <p:cNvSpPr/>
          <p:nvPr/>
        </p:nvSpPr>
        <p:spPr>
          <a:xfrm>
            <a:off x="731520" y="1463040"/>
            <a:ext cx="201168" cy="201168"/>
          </a:xfrm>
          <a:prstGeom prst="roundRect">
            <a:avLst>
              <a:gd name="adj" fmla="val 18182"/>
            </a:avLst>
          </a:prstGeom>
          <a:solidFill>
            <a:srgbClr val="2EC4B6"/>
          </a:solidFill>
        </p:spPr>
      </p:sp>
      <p:sp>
        <p:nvSpPr>
          <p:cNvPr id="6" name="Text 4"/>
          <p:cNvSpPr/>
          <p:nvPr/>
        </p:nvSpPr>
        <p:spPr>
          <a:xfrm>
            <a:off x="1024128" y="1408176"/>
            <a:ext cx="482803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Source Files</a:t>
            </a:r>
            <a:endParaRPr lang="en-US" sz="1500" dirty="0"/>
          </a:p>
        </p:txBody>
      </p:sp>
      <p:sp>
        <p:nvSpPr>
          <p:cNvPr id="7" name="Text 5"/>
          <p:cNvSpPr/>
          <p:nvPr/>
        </p:nvSpPr>
        <p:spPr>
          <a:xfrm>
            <a:off x="731520" y="1847088"/>
            <a:ext cx="5120640" cy="548640"/>
          </a:xfrm>
          <a:prstGeom prst="rect">
            <a:avLst/>
          </a:prstGeom>
          <a:noFill/>
        </p:spPr>
        <p:txBody>
          <a:bodyPr wrap="square" rtlCol="0" anchor="ctr"/>
          <a:lstStyle/>
          <a:p>
            <a:pPr marL="0" indent="0">
              <a:lnSpc>
                <a:spcPct val="120000"/>
              </a:lnSpc>
              <a:buNone/>
            </a:pPr>
            <a:r>
              <a:rPr lang="en-US" sz="1200" dirty="0">
                <a:solidFill>
                  <a:srgbClr val="17262B"/>
                </a:solidFill>
                <a:latin typeface="Calibri" panose="020F0502020204030204" pitchFamily="34" charset="0"/>
                <a:ea typeface="Calibri" panose="020F0502020204030204" pitchFamily="34" charset="-122"/>
                <a:cs typeface="Calibri" panose="020F0502020204030204" pitchFamily="34" charset="-120"/>
              </a:rPr>
              <a:t>Three monthly extracts were provided, each sharing an identical column structure and grain (one row per project / agent / day).</a:t>
            </a:r>
            <a:endParaRPr lang="en-US" sz="1200" dirty="0"/>
          </a:p>
        </p:txBody>
      </p:sp>
      <p:sp>
        <p:nvSpPr>
          <p:cNvPr id="8" name="Shape 6"/>
          <p:cNvSpPr/>
          <p:nvPr/>
        </p:nvSpPr>
        <p:spPr>
          <a:xfrm>
            <a:off x="731520" y="2514600"/>
            <a:ext cx="5120640" cy="548640"/>
          </a:xfrm>
          <a:prstGeom prst="roundRect">
            <a:avLst>
              <a:gd name="adj" fmla="val 11667"/>
            </a:avLst>
          </a:prstGeom>
          <a:solidFill>
            <a:srgbClr val="F5F9F9"/>
          </a:solidFill>
          <a:ln w="12700">
            <a:solidFill>
              <a:srgbClr val="DCE7E8"/>
            </a:solidFill>
            <a:prstDash val="solid"/>
          </a:ln>
        </p:spPr>
      </p:sp>
      <p:sp>
        <p:nvSpPr>
          <p:cNvPr id="9" name="Text 7"/>
          <p:cNvSpPr/>
          <p:nvPr/>
        </p:nvSpPr>
        <p:spPr>
          <a:xfrm>
            <a:off x="896112" y="2514600"/>
            <a:ext cx="3657600" cy="548640"/>
          </a:xfrm>
          <a:prstGeom prst="rect">
            <a:avLst/>
          </a:prstGeom>
          <a:noFill/>
        </p:spPr>
        <p:txBody>
          <a:bodyPr wrap="square" rtlCol="0" anchor="ctr"/>
          <a:lstStyle/>
          <a:p>
            <a:pPr marL="0" indent="0">
              <a:buNone/>
            </a:pPr>
            <a:r>
              <a:rPr lang="en-US" sz="1150" b="1" dirty="0">
                <a:solidFill>
                  <a:srgbClr val="024958"/>
                </a:solidFill>
                <a:latin typeface="Calibri" panose="020F0502020204030204" pitchFamily="34" charset="0"/>
                <a:ea typeface="Calibri" panose="020F0502020204030204" pitchFamily="34" charset="-122"/>
                <a:cs typeface="Calibri" panose="020F0502020204030204" pitchFamily="34" charset="-120"/>
              </a:rPr>
              <a:t>Sallah Call Center Data Base – Feb.csv</a:t>
            </a:r>
            <a:endParaRPr lang="en-US" sz="1150" dirty="0"/>
          </a:p>
        </p:txBody>
      </p:sp>
      <p:sp>
        <p:nvSpPr>
          <p:cNvPr id="10" name="Text 8"/>
          <p:cNvSpPr/>
          <p:nvPr/>
        </p:nvSpPr>
        <p:spPr>
          <a:xfrm>
            <a:off x="4480560" y="2514600"/>
            <a:ext cx="1280160" cy="548640"/>
          </a:xfrm>
          <a:prstGeom prst="rect">
            <a:avLst/>
          </a:prstGeom>
          <a:noFill/>
        </p:spPr>
        <p:txBody>
          <a:bodyPr wrap="square" rtlCol="0" anchor="ctr"/>
          <a:lstStyle/>
          <a:p>
            <a:pPr marL="0" indent="0" algn="r">
              <a:buNone/>
            </a:pPr>
            <a:r>
              <a:rPr lang="en-US" sz="1050" dirty="0">
                <a:solidFill>
                  <a:srgbClr val="5B6E73"/>
                </a:solidFill>
                <a:latin typeface="Calibri" panose="020F0502020204030204" pitchFamily="34" charset="0"/>
                <a:ea typeface="Calibri" panose="020F0502020204030204" pitchFamily="34" charset="-122"/>
                <a:cs typeface="Calibri" panose="020F0502020204030204" pitchFamily="34" charset="-120"/>
              </a:rPr>
              <a:t>84 daily records</a:t>
            </a:r>
            <a:endParaRPr lang="en-US" sz="1050" dirty="0"/>
          </a:p>
        </p:txBody>
      </p:sp>
      <p:sp>
        <p:nvSpPr>
          <p:cNvPr id="11" name="Shape 9"/>
          <p:cNvSpPr/>
          <p:nvPr/>
        </p:nvSpPr>
        <p:spPr>
          <a:xfrm>
            <a:off x="731520" y="3172968"/>
            <a:ext cx="5120640" cy="548640"/>
          </a:xfrm>
          <a:prstGeom prst="roundRect">
            <a:avLst>
              <a:gd name="adj" fmla="val 11667"/>
            </a:avLst>
          </a:prstGeom>
          <a:solidFill>
            <a:srgbClr val="F5F9F9"/>
          </a:solidFill>
          <a:ln w="12700">
            <a:solidFill>
              <a:srgbClr val="DCE7E8"/>
            </a:solidFill>
            <a:prstDash val="solid"/>
          </a:ln>
        </p:spPr>
      </p:sp>
      <p:sp>
        <p:nvSpPr>
          <p:cNvPr id="12" name="Text 10"/>
          <p:cNvSpPr/>
          <p:nvPr/>
        </p:nvSpPr>
        <p:spPr>
          <a:xfrm>
            <a:off x="896112" y="3172968"/>
            <a:ext cx="3657600" cy="548640"/>
          </a:xfrm>
          <a:prstGeom prst="rect">
            <a:avLst/>
          </a:prstGeom>
          <a:noFill/>
        </p:spPr>
        <p:txBody>
          <a:bodyPr wrap="square" rtlCol="0" anchor="ctr"/>
          <a:lstStyle/>
          <a:p>
            <a:pPr marL="0" indent="0">
              <a:buNone/>
            </a:pPr>
            <a:r>
              <a:rPr lang="en-US" sz="1150" b="1" dirty="0">
                <a:solidFill>
                  <a:srgbClr val="024958"/>
                </a:solidFill>
                <a:latin typeface="Calibri" panose="020F0502020204030204" pitchFamily="34" charset="0"/>
                <a:ea typeface="Calibri" panose="020F0502020204030204" pitchFamily="34" charset="-122"/>
                <a:cs typeface="Calibri" panose="020F0502020204030204" pitchFamily="34" charset="-120"/>
              </a:rPr>
              <a:t>Sallah Call Center Data Base – Mar.csv</a:t>
            </a:r>
            <a:endParaRPr lang="en-US" sz="1150" dirty="0"/>
          </a:p>
        </p:txBody>
      </p:sp>
      <p:sp>
        <p:nvSpPr>
          <p:cNvPr id="13" name="Text 11"/>
          <p:cNvSpPr/>
          <p:nvPr/>
        </p:nvSpPr>
        <p:spPr>
          <a:xfrm>
            <a:off x="4480560" y="3172968"/>
            <a:ext cx="1280160" cy="548640"/>
          </a:xfrm>
          <a:prstGeom prst="rect">
            <a:avLst/>
          </a:prstGeom>
          <a:noFill/>
        </p:spPr>
        <p:txBody>
          <a:bodyPr wrap="square" rtlCol="0" anchor="ctr"/>
          <a:lstStyle/>
          <a:p>
            <a:pPr marL="0" indent="0" algn="r">
              <a:buNone/>
            </a:pPr>
            <a:r>
              <a:rPr lang="en-US" sz="1050" dirty="0">
                <a:solidFill>
                  <a:srgbClr val="5B6E73"/>
                </a:solidFill>
                <a:latin typeface="Calibri" panose="020F0502020204030204" pitchFamily="34" charset="0"/>
                <a:ea typeface="Calibri" panose="020F0502020204030204" pitchFamily="34" charset="-122"/>
                <a:cs typeface="Calibri" panose="020F0502020204030204" pitchFamily="34" charset="-120"/>
              </a:rPr>
              <a:t>93 daily records</a:t>
            </a:r>
            <a:endParaRPr lang="en-US" sz="1050" dirty="0"/>
          </a:p>
        </p:txBody>
      </p:sp>
      <p:sp>
        <p:nvSpPr>
          <p:cNvPr id="14" name="Shape 12"/>
          <p:cNvSpPr/>
          <p:nvPr/>
        </p:nvSpPr>
        <p:spPr>
          <a:xfrm>
            <a:off x="731520" y="3831336"/>
            <a:ext cx="5120640" cy="548640"/>
          </a:xfrm>
          <a:prstGeom prst="roundRect">
            <a:avLst>
              <a:gd name="adj" fmla="val 11667"/>
            </a:avLst>
          </a:prstGeom>
          <a:solidFill>
            <a:srgbClr val="F5F9F9"/>
          </a:solidFill>
          <a:ln w="12700">
            <a:solidFill>
              <a:srgbClr val="DCE7E8"/>
            </a:solidFill>
            <a:prstDash val="solid"/>
          </a:ln>
        </p:spPr>
      </p:sp>
      <p:sp>
        <p:nvSpPr>
          <p:cNvPr id="15" name="Text 13"/>
          <p:cNvSpPr/>
          <p:nvPr/>
        </p:nvSpPr>
        <p:spPr>
          <a:xfrm>
            <a:off x="896112" y="3831336"/>
            <a:ext cx="3657600" cy="548640"/>
          </a:xfrm>
          <a:prstGeom prst="rect">
            <a:avLst/>
          </a:prstGeom>
          <a:noFill/>
        </p:spPr>
        <p:txBody>
          <a:bodyPr wrap="square" rtlCol="0" anchor="ctr"/>
          <a:lstStyle/>
          <a:p>
            <a:pPr marL="0" indent="0">
              <a:buNone/>
            </a:pPr>
            <a:r>
              <a:rPr lang="en-US" sz="1150" b="1" dirty="0">
                <a:solidFill>
                  <a:srgbClr val="024958"/>
                </a:solidFill>
                <a:latin typeface="Calibri" panose="020F0502020204030204" pitchFamily="34" charset="0"/>
                <a:ea typeface="Calibri" panose="020F0502020204030204" pitchFamily="34" charset="-122"/>
                <a:cs typeface="Calibri" panose="020F0502020204030204" pitchFamily="34" charset="-120"/>
              </a:rPr>
              <a:t>Sallah Call Center Data Base – Apr.csv</a:t>
            </a:r>
            <a:endParaRPr lang="en-US" sz="1150" dirty="0"/>
          </a:p>
        </p:txBody>
      </p:sp>
      <p:sp>
        <p:nvSpPr>
          <p:cNvPr id="16" name="Text 14"/>
          <p:cNvSpPr/>
          <p:nvPr/>
        </p:nvSpPr>
        <p:spPr>
          <a:xfrm>
            <a:off x="4480560" y="3831336"/>
            <a:ext cx="1280160" cy="548640"/>
          </a:xfrm>
          <a:prstGeom prst="rect">
            <a:avLst/>
          </a:prstGeom>
          <a:noFill/>
        </p:spPr>
        <p:txBody>
          <a:bodyPr wrap="square" rtlCol="0" anchor="ctr"/>
          <a:lstStyle/>
          <a:p>
            <a:pPr marL="0" indent="0" algn="r">
              <a:buNone/>
            </a:pPr>
            <a:r>
              <a:rPr lang="en-US" sz="1050" dirty="0">
                <a:solidFill>
                  <a:srgbClr val="5B6E73"/>
                </a:solidFill>
                <a:latin typeface="Calibri" panose="020F0502020204030204" pitchFamily="34" charset="0"/>
                <a:ea typeface="Calibri" panose="020F0502020204030204" pitchFamily="34" charset="-122"/>
                <a:cs typeface="Calibri" panose="020F0502020204030204" pitchFamily="34" charset="-120"/>
              </a:rPr>
              <a:t>90 daily records</a:t>
            </a:r>
            <a:endParaRPr lang="en-US" sz="1050" dirty="0"/>
          </a:p>
        </p:txBody>
      </p:sp>
      <p:sp>
        <p:nvSpPr>
          <p:cNvPr id="17" name="Text 15"/>
          <p:cNvSpPr/>
          <p:nvPr/>
        </p:nvSpPr>
        <p:spPr>
          <a:xfrm>
            <a:off x="731520" y="4663440"/>
            <a:ext cx="5120640" cy="1005840"/>
          </a:xfrm>
          <a:prstGeom prst="rect">
            <a:avLst/>
          </a:prstGeom>
          <a:noFill/>
        </p:spPr>
        <p:txBody>
          <a:bodyPr wrap="square" rtlCol="0" anchor="ctr"/>
          <a:lstStyle/>
          <a:p>
            <a:pPr marL="0" indent="0">
              <a:lnSpc>
                <a:spcPct val="125000"/>
              </a:lnSpc>
              <a:buNone/>
            </a:pPr>
            <a:r>
              <a:rPr lang="en-US" sz="1200" dirty="0">
                <a:solidFill>
                  <a:srgbClr val="17262B"/>
                </a:solidFill>
                <a:latin typeface="Calibri" panose="020F0502020204030204" pitchFamily="34" charset="0"/>
                <a:ea typeface="Calibri" panose="020F0502020204030204" pitchFamily="34" charset="-122"/>
                <a:cs typeface="Calibri" panose="020F0502020204030204" pitchFamily="34" charset="-120"/>
              </a:rPr>
              <a:t>Because the three files shared the same structure and column definitions, they were consolidated into a single unified dataset for analysis — 267 combined records spanning February to April 2022.</a:t>
            </a:r>
            <a:endParaRPr lang="en-US" sz="1200" dirty="0"/>
          </a:p>
        </p:txBody>
      </p:sp>
      <p:sp>
        <p:nvSpPr>
          <p:cNvPr id="18" name="Shape 16"/>
          <p:cNvSpPr/>
          <p:nvPr/>
        </p:nvSpPr>
        <p:spPr>
          <a:xfrm>
            <a:off x="731520" y="5760720"/>
            <a:ext cx="1519733" cy="256032"/>
          </a:xfrm>
          <a:prstGeom prst="roundRect">
            <a:avLst>
              <a:gd name="adj" fmla="val 50000"/>
            </a:avLst>
          </a:prstGeom>
          <a:solidFill>
            <a:srgbClr val="2EC4B6"/>
          </a:solidFill>
        </p:spPr>
      </p:sp>
      <p:sp>
        <p:nvSpPr>
          <p:cNvPr id="19" name="Text 17"/>
          <p:cNvSpPr/>
          <p:nvPr/>
        </p:nvSpPr>
        <p:spPr>
          <a:xfrm>
            <a:off x="731520" y="5760720"/>
            <a:ext cx="1519733" cy="256032"/>
          </a:xfrm>
          <a:prstGeom prst="rect">
            <a:avLst/>
          </a:prstGeom>
          <a:noFill/>
        </p:spPr>
        <p:txBody>
          <a:bodyPr wrap="square" rtlCol="0" anchor="ctr"/>
          <a:lstStyle/>
          <a:p>
            <a:pPr marL="0" indent="0" algn="ctr">
              <a:buNone/>
            </a:pPr>
            <a:r>
              <a:rPr lang="en-US" sz="950" b="1" dirty="0">
                <a:solidFill>
                  <a:srgbClr val="01313C"/>
                </a:solidFill>
                <a:latin typeface="Calibri" panose="020F0502020204030204" pitchFamily="34" charset="0"/>
                <a:ea typeface="Calibri" panose="020F0502020204030204" pitchFamily="34" charset="-122"/>
                <a:cs typeface="Calibri" panose="020F0502020204030204" pitchFamily="34" charset="-120"/>
              </a:rPr>
              <a:t>267 unified records</a:t>
            </a:r>
            <a:endParaRPr lang="en-US" sz="950" dirty="0"/>
          </a:p>
        </p:txBody>
      </p:sp>
      <p:sp>
        <p:nvSpPr>
          <p:cNvPr id="20" name="Shape 18"/>
          <p:cNvSpPr/>
          <p:nvPr/>
        </p:nvSpPr>
        <p:spPr>
          <a:xfrm>
            <a:off x="2743200" y="5760720"/>
            <a:ext cx="1377086" cy="256032"/>
          </a:xfrm>
          <a:prstGeom prst="roundRect">
            <a:avLst>
              <a:gd name="adj" fmla="val 50000"/>
            </a:avLst>
          </a:prstGeom>
          <a:solidFill>
            <a:srgbClr val="0B7285"/>
          </a:solidFill>
        </p:spPr>
      </p:sp>
      <p:sp>
        <p:nvSpPr>
          <p:cNvPr id="21" name="Text 19"/>
          <p:cNvSpPr/>
          <p:nvPr/>
        </p:nvSpPr>
        <p:spPr>
          <a:xfrm>
            <a:off x="2743200" y="5760720"/>
            <a:ext cx="1377086" cy="25603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11 shared columns</a:t>
            </a:r>
            <a:endParaRPr lang="en-US" sz="950" dirty="0"/>
          </a:p>
        </p:txBody>
      </p:sp>
      <p:sp>
        <p:nvSpPr>
          <p:cNvPr id="22" name="Shape 20"/>
          <p:cNvSpPr/>
          <p:nvPr/>
        </p:nvSpPr>
        <p:spPr>
          <a:xfrm>
            <a:off x="6309360" y="1234440"/>
            <a:ext cx="5394960" cy="5074920"/>
          </a:xfrm>
          <a:prstGeom prst="roundRect">
            <a:avLst>
              <a:gd name="adj" fmla="val 1622"/>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3" name="Shape 21"/>
          <p:cNvSpPr/>
          <p:nvPr/>
        </p:nvSpPr>
        <p:spPr>
          <a:xfrm>
            <a:off x="6537960" y="1463040"/>
            <a:ext cx="201168" cy="201168"/>
          </a:xfrm>
          <a:prstGeom prst="roundRect">
            <a:avLst>
              <a:gd name="adj" fmla="val 18182"/>
            </a:avLst>
          </a:prstGeom>
          <a:solidFill>
            <a:srgbClr val="2EC4B6"/>
          </a:solidFill>
        </p:spPr>
      </p:sp>
      <p:sp>
        <p:nvSpPr>
          <p:cNvPr id="24" name="Text 22"/>
          <p:cNvSpPr/>
          <p:nvPr/>
        </p:nvSpPr>
        <p:spPr>
          <a:xfrm>
            <a:off x="6830568" y="1408176"/>
            <a:ext cx="464515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Common Column Structure</a:t>
            </a:r>
            <a:endParaRPr lang="en-US" sz="1500" dirty="0"/>
          </a:p>
        </p:txBody>
      </p:sp>
      <p:sp>
        <p:nvSpPr>
          <p:cNvPr id="25" name="Shape 23"/>
          <p:cNvSpPr/>
          <p:nvPr/>
        </p:nvSpPr>
        <p:spPr>
          <a:xfrm>
            <a:off x="6537960" y="1965960"/>
            <a:ext cx="2331720" cy="329184"/>
          </a:xfrm>
          <a:prstGeom prst="roundRect">
            <a:avLst>
              <a:gd name="adj" fmla="val 13889"/>
            </a:avLst>
          </a:prstGeom>
          <a:solidFill>
            <a:srgbClr val="F5F9F9"/>
          </a:solidFill>
          <a:ln w="9525">
            <a:solidFill>
              <a:srgbClr val="DCE7E8"/>
            </a:solidFill>
            <a:prstDash val="solid"/>
          </a:ln>
        </p:spPr>
      </p:sp>
      <p:sp>
        <p:nvSpPr>
          <p:cNvPr id="26" name="Text 24"/>
          <p:cNvSpPr/>
          <p:nvPr/>
        </p:nvSpPr>
        <p:spPr>
          <a:xfrm>
            <a:off x="6629400" y="1965960"/>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Project</a:t>
            </a:r>
            <a:endParaRPr lang="en-US" sz="1000" dirty="0"/>
          </a:p>
        </p:txBody>
      </p:sp>
      <p:sp>
        <p:nvSpPr>
          <p:cNvPr id="27" name="Shape 25"/>
          <p:cNvSpPr/>
          <p:nvPr/>
        </p:nvSpPr>
        <p:spPr>
          <a:xfrm>
            <a:off x="9006840" y="1965960"/>
            <a:ext cx="2331720" cy="329184"/>
          </a:xfrm>
          <a:prstGeom prst="roundRect">
            <a:avLst>
              <a:gd name="adj" fmla="val 13889"/>
            </a:avLst>
          </a:prstGeom>
          <a:solidFill>
            <a:srgbClr val="F5F9F9"/>
          </a:solidFill>
          <a:ln w="9525">
            <a:solidFill>
              <a:srgbClr val="DCE7E8"/>
            </a:solidFill>
            <a:prstDash val="solid"/>
          </a:ln>
        </p:spPr>
      </p:sp>
      <p:sp>
        <p:nvSpPr>
          <p:cNvPr id="28" name="Text 26"/>
          <p:cNvSpPr/>
          <p:nvPr/>
        </p:nvSpPr>
        <p:spPr>
          <a:xfrm>
            <a:off x="9098280" y="1965960"/>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Date / Month</a:t>
            </a:r>
            <a:endParaRPr lang="en-US" sz="1000" dirty="0"/>
          </a:p>
        </p:txBody>
      </p:sp>
      <p:sp>
        <p:nvSpPr>
          <p:cNvPr id="29" name="Shape 27"/>
          <p:cNvSpPr/>
          <p:nvPr/>
        </p:nvSpPr>
        <p:spPr>
          <a:xfrm>
            <a:off x="6537960" y="2368296"/>
            <a:ext cx="2331720" cy="329184"/>
          </a:xfrm>
          <a:prstGeom prst="roundRect">
            <a:avLst>
              <a:gd name="adj" fmla="val 13889"/>
            </a:avLst>
          </a:prstGeom>
          <a:solidFill>
            <a:srgbClr val="F5F9F9"/>
          </a:solidFill>
          <a:ln w="9525">
            <a:solidFill>
              <a:srgbClr val="DCE7E8"/>
            </a:solidFill>
            <a:prstDash val="solid"/>
          </a:ln>
        </p:spPr>
      </p:sp>
      <p:sp>
        <p:nvSpPr>
          <p:cNvPr id="30" name="Text 28"/>
          <p:cNvSpPr/>
          <p:nvPr/>
        </p:nvSpPr>
        <p:spPr>
          <a:xfrm>
            <a:off x="6629400" y="2368296"/>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Forecasted Calls</a:t>
            </a:r>
            <a:endParaRPr lang="en-US" sz="1000" dirty="0"/>
          </a:p>
        </p:txBody>
      </p:sp>
      <p:sp>
        <p:nvSpPr>
          <p:cNvPr id="31" name="Shape 29"/>
          <p:cNvSpPr/>
          <p:nvPr/>
        </p:nvSpPr>
        <p:spPr>
          <a:xfrm>
            <a:off x="9006840" y="2368296"/>
            <a:ext cx="2331720" cy="329184"/>
          </a:xfrm>
          <a:prstGeom prst="roundRect">
            <a:avLst>
              <a:gd name="adj" fmla="val 13889"/>
            </a:avLst>
          </a:prstGeom>
          <a:solidFill>
            <a:srgbClr val="F5F9F9"/>
          </a:solidFill>
          <a:ln w="9525">
            <a:solidFill>
              <a:srgbClr val="DCE7E8"/>
            </a:solidFill>
            <a:prstDash val="solid"/>
          </a:ln>
        </p:spPr>
      </p:sp>
      <p:sp>
        <p:nvSpPr>
          <p:cNvPr id="32" name="Text 30"/>
          <p:cNvSpPr/>
          <p:nvPr/>
        </p:nvSpPr>
        <p:spPr>
          <a:xfrm>
            <a:off x="9098280" y="2368296"/>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Calls Offered</a:t>
            </a:r>
            <a:endParaRPr lang="en-US" sz="1000" dirty="0"/>
          </a:p>
        </p:txBody>
      </p:sp>
      <p:sp>
        <p:nvSpPr>
          <p:cNvPr id="33" name="Shape 31"/>
          <p:cNvSpPr/>
          <p:nvPr/>
        </p:nvSpPr>
        <p:spPr>
          <a:xfrm>
            <a:off x="6537960" y="2770632"/>
            <a:ext cx="2331720" cy="329184"/>
          </a:xfrm>
          <a:prstGeom prst="roundRect">
            <a:avLst>
              <a:gd name="adj" fmla="val 13889"/>
            </a:avLst>
          </a:prstGeom>
          <a:solidFill>
            <a:srgbClr val="F5F9F9"/>
          </a:solidFill>
          <a:ln w="9525">
            <a:solidFill>
              <a:srgbClr val="DCE7E8"/>
            </a:solidFill>
            <a:prstDash val="solid"/>
          </a:ln>
        </p:spPr>
      </p:sp>
      <p:sp>
        <p:nvSpPr>
          <p:cNvPr id="34" name="Text 32"/>
          <p:cNvSpPr/>
          <p:nvPr/>
        </p:nvSpPr>
        <p:spPr>
          <a:xfrm>
            <a:off x="6629400" y="2770632"/>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Calls Handled</a:t>
            </a:r>
            <a:endParaRPr lang="en-US" sz="1000" dirty="0"/>
          </a:p>
        </p:txBody>
      </p:sp>
      <p:sp>
        <p:nvSpPr>
          <p:cNvPr id="35" name="Shape 33"/>
          <p:cNvSpPr/>
          <p:nvPr/>
        </p:nvSpPr>
        <p:spPr>
          <a:xfrm>
            <a:off x="9006840" y="2770632"/>
            <a:ext cx="2331720" cy="329184"/>
          </a:xfrm>
          <a:prstGeom prst="roundRect">
            <a:avLst>
              <a:gd name="adj" fmla="val 13889"/>
            </a:avLst>
          </a:prstGeom>
          <a:solidFill>
            <a:srgbClr val="F5F9F9"/>
          </a:solidFill>
          <a:ln w="9525">
            <a:solidFill>
              <a:srgbClr val="DCE7E8"/>
            </a:solidFill>
            <a:prstDash val="solid"/>
          </a:ln>
        </p:spPr>
      </p:sp>
      <p:sp>
        <p:nvSpPr>
          <p:cNvPr id="36" name="Text 34"/>
          <p:cNvSpPr/>
          <p:nvPr/>
        </p:nvSpPr>
        <p:spPr>
          <a:xfrm>
            <a:off x="9098280" y="2770632"/>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Calls Handled Within Threshold</a:t>
            </a:r>
            <a:endParaRPr lang="en-US" sz="1000" dirty="0"/>
          </a:p>
        </p:txBody>
      </p:sp>
      <p:sp>
        <p:nvSpPr>
          <p:cNvPr id="37" name="Shape 35"/>
          <p:cNvSpPr/>
          <p:nvPr/>
        </p:nvSpPr>
        <p:spPr>
          <a:xfrm>
            <a:off x="6537960" y="3172968"/>
            <a:ext cx="2331720" cy="329184"/>
          </a:xfrm>
          <a:prstGeom prst="roundRect">
            <a:avLst>
              <a:gd name="adj" fmla="val 13889"/>
            </a:avLst>
          </a:prstGeom>
          <a:solidFill>
            <a:srgbClr val="F5F9F9"/>
          </a:solidFill>
          <a:ln w="9525">
            <a:solidFill>
              <a:srgbClr val="DCE7E8"/>
            </a:solidFill>
            <a:prstDash val="solid"/>
          </a:ln>
        </p:spPr>
      </p:sp>
      <p:sp>
        <p:nvSpPr>
          <p:cNvPr id="38" name="Text 36"/>
          <p:cNvSpPr/>
          <p:nvPr/>
        </p:nvSpPr>
        <p:spPr>
          <a:xfrm>
            <a:off x="6629400" y="3172968"/>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Calls Abandoned</a:t>
            </a:r>
            <a:endParaRPr lang="en-US" sz="1000" dirty="0"/>
          </a:p>
        </p:txBody>
      </p:sp>
      <p:sp>
        <p:nvSpPr>
          <p:cNvPr id="39" name="Shape 37"/>
          <p:cNvSpPr/>
          <p:nvPr/>
        </p:nvSpPr>
        <p:spPr>
          <a:xfrm>
            <a:off x="9006840" y="3172968"/>
            <a:ext cx="2331720" cy="329184"/>
          </a:xfrm>
          <a:prstGeom prst="roundRect">
            <a:avLst>
              <a:gd name="adj" fmla="val 13889"/>
            </a:avLst>
          </a:prstGeom>
          <a:solidFill>
            <a:srgbClr val="F5F9F9"/>
          </a:solidFill>
          <a:ln w="9525">
            <a:solidFill>
              <a:srgbClr val="DCE7E8"/>
            </a:solidFill>
            <a:prstDash val="solid"/>
          </a:ln>
        </p:spPr>
      </p:sp>
      <p:sp>
        <p:nvSpPr>
          <p:cNvPr id="40" name="Text 38"/>
          <p:cNvSpPr/>
          <p:nvPr/>
        </p:nvSpPr>
        <p:spPr>
          <a:xfrm>
            <a:off x="9098280" y="3172968"/>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ASA (Average Speed of Answer)</a:t>
            </a:r>
            <a:endParaRPr lang="en-US" sz="1000" dirty="0"/>
          </a:p>
        </p:txBody>
      </p:sp>
      <p:sp>
        <p:nvSpPr>
          <p:cNvPr id="41" name="Shape 39"/>
          <p:cNvSpPr/>
          <p:nvPr/>
        </p:nvSpPr>
        <p:spPr>
          <a:xfrm>
            <a:off x="6537960" y="3575304"/>
            <a:ext cx="2331720" cy="329184"/>
          </a:xfrm>
          <a:prstGeom prst="roundRect">
            <a:avLst>
              <a:gd name="adj" fmla="val 13889"/>
            </a:avLst>
          </a:prstGeom>
          <a:solidFill>
            <a:srgbClr val="F5F9F9"/>
          </a:solidFill>
          <a:ln w="9525">
            <a:solidFill>
              <a:srgbClr val="DCE7E8"/>
            </a:solidFill>
            <a:prstDash val="solid"/>
          </a:ln>
        </p:spPr>
      </p:sp>
      <p:sp>
        <p:nvSpPr>
          <p:cNvPr id="42" name="Text 40"/>
          <p:cNvSpPr/>
          <p:nvPr/>
        </p:nvSpPr>
        <p:spPr>
          <a:xfrm>
            <a:off x="6629400" y="3575304"/>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Answer Time</a:t>
            </a:r>
            <a:endParaRPr lang="en-US" sz="1000" dirty="0"/>
          </a:p>
        </p:txBody>
      </p:sp>
      <p:sp>
        <p:nvSpPr>
          <p:cNvPr id="43" name="Shape 41"/>
          <p:cNvSpPr/>
          <p:nvPr/>
        </p:nvSpPr>
        <p:spPr>
          <a:xfrm>
            <a:off x="9006840" y="3575304"/>
            <a:ext cx="2331720" cy="329184"/>
          </a:xfrm>
          <a:prstGeom prst="roundRect">
            <a:avLst>
              <a:gd name="adj" fmla="val 13889"/>
            </a:avLst>
          </a:prstGeom>
          <a:solidFill>
            <a:srgbClr val="F5F9F9"/>
          </a:solidFill>
          <a:ln w="9525">
            <a:solidFill>
              <a:srgbClr val="DCE7E8"/>
            </a:solidFill>
            <a:prstDash val="solid"/>
          </a:ln>
        </p:spPr>
      </p:sp>
      <p:sp>
        <p:nvSpPr>
          <p:cNvPr id="44" name="Text 42"/>
          <p:cNvSpPr/>
          <p:nvPr/>
        </p:nvSpPr>
        <p:spPr>
          <a:xfrm>
            <a:off x="9098280" y="3575304"/>
            <a:ext cx="2194560" cy="329184"/>
          </a:xfrm>
          <a:prstGeom prst="rect">
            <a:avLst/>
          </a:prstGeom>
          <a:noFill/>
        </p:spPr>
        <p:txBody>
          <a:bodyPr wrap="square" rtlCol="0" anchor="ctr"/>
          <a:lstStyle/>
          <a:p>
            <a:pPr marL="0" indent="0">
              <a:buNone/>
            </a:pPr>
            <a:r>
              <a:rPr lang="en-US" sz="1000" dirty="0">
                <a:solidFill>
                  <a:srgbClr val="17262B"/>
                </a:solidFill>
                <a:latin typeface="Calibri" panose="020F0502020204030204" pitchFamily="34" charset="0"/>
                <a:ea typeface="Calibri" panose="020F0502020204030204" pitchFamily="34" charset="-122"/>
                <a:cs typeface="Calibri" panose="020F0502020204030204" pitchFamily="34" charset="-120"/>
              </a:rPr>
              <a:t>Agent Name</a:t>
            </a:r>
            <a:endParaRPr lang="en-US" sz="1000" dirty="0"/>
          </a:p>
        </p:txBody>
      </p:sp>
      <p:sp>
        <p:nvSpPr>
          <p:cNvPr id="45" name="Text 43"/>
          <p:cNvSpPr/>
          <p:nvPr/>
        </p:nvSpPr>
        <p:spPr>
          <a:xfrm>
            <a:off x="6537960" y="4892040"/>
            <a:ext cx="4937760" cy="548640"/>
          </a:xfrm>
          <a:prstGeom prst="rect">
            <a:avLst/>
          </a:prstGeom>
          <a:noFill/>
        </p:spPr>
        <p:txBody>
          <a:bodyPr wrap="square" rtlCol="0" anchor="ctr"/>
          <a:lstStyle/>
          <a:p>
            <a:pPr marL="0" indent="0">
              <a:lnSpc>
                <a:spcPct val="120000"/>
              </a:lnSpc>
              <a:buNone/>
            </a:pPr>
            <a:r>
              <a:rPr lang="en-US" sz="1100" i="1" dirty="0">
                <a:solidFill>
                  <a:srgbClr val="5B6E73"/>
                </a:solidFill>
                <a:latin typeface="Calibri" panose="020F0502020204030204" pitchFamily="34" charset="0"/>
                <a:ea typeface="Calibri" panose="020F0502020204030204" pitchFamily="34" charset="-122"/>
                <a:cs typeface="Calibri" panose="020F0502020204030204" pitchFamily="34" charset="-120"/>
              </a:rPr>
              <a:t>These fields define call volume, demand forecast, service outcomes, and response speed — for every project, agent, and day.</a:t>
            </a:r>
            <a:endParaRPr lang="en-US" sz="1100" dirty="0"/>
          </a:p>
        </p:txBody>
      </p:sp>
      <p:sp>
        <p:nvSpPr>
          <p:cNvPr id="46" name="Shape 44"/>
          <p:cNvSpPr/>
          <p:nvPr/>
        </p:nvSpPr>
        <p:spPr>
          <a:xfrm>
            <a:off x="6537960" y="5532120"/>
            <a:ext cx="4937760" cy="685800"/>
          </a:xfrm>
          <a:prstGeom prst="roundRect">
            <a:avLst>
              <a:gd name="adj" fmla="val 12000"/>
            </a:avLst>
          </a:prstGeom>
          <a:solidFill>
            <a:srgbClr val="024958"/>
          </a:solidFill>
          <a:ln w="12700">
            <a:solidFill>
              <a:srgbClr val="DCE7E8"/>
            </a:solidFill>
            <a:prstDash val="solid"/>
          </a:ln>
        </p:spPr>
      </p:sp>
      <p:sp>
        <p:nvSpPr>
          <p:cNvPr id="47" name="Text 45"/>
          <p:cNvSpPr/>
          <p:nvPr/>
        </p:nvSpPr>
        <p:spPr>
          <a:xfrm>
            <a:off x="6720840" y="5532120"/>
            <a:ext cx="4572000" cy="685800"/>
          </a:xfrm>
          <a:prstGeom prst="rect">
            <a:avLst/>
          </a:prstGeom>
          <a:noFill/>
        </p:spPr>
        <p:txBody>
          <a:bodyPr wrap="square" rtlCol="0" anchor="ctr"/>
          <a:lstStyle/>
          <a:p>
            <a:pPr marL="0" indent="0">
              <a:lnSpc>
                <a:spcPct val="115000"/>
              </a:lnSpc>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Structural consistency across files enabled a direct append (no schema mapping or column reconciliation required).</a:t>
            </a:r>
            <a:endParaRPr lang="en-US" sz="1050" dirty="0"/>
          </a:p>
        </p:txBody>
      </p:sp>
      <p:sp>
        <p:nvSpPr>
          <p:cNvPr id="48" name="Text 46"/>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04</a:t>
            </a:r>
            <a:endParaRPr lang="en-US" sz="1000" dirty="0"/>
          </a:p>
        </p:txBody>
      </p:sp>
      <p:sp>
        <p:nvSpPr>
          <p:cNvPr id="49" name="Text 47"/>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METHODOLOGY</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Data Preparation &amp; Analytical Approach</a:t>
            </a:r>
            <a:endParaRPr lang="en-US" sz="2800" dirty="0"/>
          </a:p>
        </p:txBody>
      </p:sp>
      <p:sp>
        <p:nvSpPr>
          <p:cNvPr id="4" name="Shape 2"/>
          <p:cNvSpPr/>
          <p:nvPr/>
        </p:nvSpPr>
        <p:spPr>
          <a:xfrm>
            <a:off x="502920" y="1234440"/>
            <a:ext cx="5577840" cy="5074920"/>
          </a:xfrm>
          <a:prstGeom prst="roundRect">
            <a:avLst>
              <a:gd name="adj" fmla="val 1622"/>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 name="Shape 3"/>
          <p:cNvSpPr/>
          <p:nvPr/>
        </p:nvSpPr>
        <p:spPr>
          <a:xfrm>
            <a:off x="731520" y="1463040"/>
            <a:ext cx="201168" cy="201168"/>
          </a:xfrm>
          <a:prstGeom prst="roundRect">
            <a:avLst>
              <a:gd name="adj" fmla="val 18182"/>
            </a:avLst>
          </a:prstGeom>
          <a:solidFill>
            <a:srgbClr val="2EC4B6"/>
          </a:solidFill>
        </p:spPr>
      </p:sp>
      <p:sp>
        <p:nvSpPr>
          <p:cNvPr id="6" name="Text 4"/>
          <p:cNvSpPr/>
          <p:nvPr/>
        </p:nvSpPr>
        <p:spPr>
          <a:xfrm>
            <a:off x="1024128" y="1408176"/>
            <a:ext cx="482803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Data Preparation Steps</a:t>
            </a:r>
            <a:endParaRPr lang="en-US" sz="1500" dirty="0"/>
          </a:p>
        </p:txBody>
      </p:sp>
      <p:sp>
        <p:nvSpPr>
          <p:cNvPr id="7" name="Shape 5"/>
          <p:cNvSpPr/>
          <p:nvPr/>
        </p:nvSpPr>
        <p:spPr>
          <a:xfrm>
            <a:off x="731520" y="1874520"/>
            <a:ext cx="310896" cy="310896"/>
          </a:xfrm>
          <a:prstGeom prst="roundRect">
            <a:avLst>
              <a:gd name="adj" fmla="val 20588"/>
            </a:avLst>
          </a:prstGeom>
          <a:solidFill>
            <a:srgbClr val="0B7285"/>
          </a:solidFill>
        </p:spPr>
      </p:sp>
      <p:sp>
        <p:nvSpPr>
          <p:cNvPr id="8" name="Text 6"/>
          <p:cNvSpPr/>
          <p:nvPr/>
        </p:nvSpPr>
        <p:spPr>
          <a:xfrm>
            <a:off x="1170432" y="1828800"/>
            <a:ext cx="4663440" cy="274320"/>
          </a:xfrm>
          <a:prstGeom prst="rect">
            <a:avLst/>
          </a:prstGeom>
          <a:noFill/>
        </p:spPr>
        <p:txBody>
          <a:bodyPr wrap="square" rtlCol="0" anchor="ctr"/>
          <a:lstStyle/>
          <a:p>
            <a:pPr marL="0" indent="0">
              <a:buNone/>
            </a:pPr>
            <a:r>
              <a:rPr lang="en-US" sz="1250" b="1" dirty="0">
                <a:solidFill>
                  <a:srgbClr val="024958"/>
                </a:solidFill>
                <a:latin typeface="Calibri" panose="020F0502020204030204" pitchFamily="34" charset="0"/>
                <a:ea typeface="Calibri" panose="020F0502020204030204" pitchFamily="34" charset="-122"/>
                <a:cs typeface="Calibri" panose="020F0502020204030204" pitchFamily="34" charset="-120"/>
              </a:rPr>
              <a:t>Consolidation</a:t>
            </a:r>
            <a:endParaRPr lang="en-US" sz="1250" dirty="0"/>
          </a:p>
        </p:txBody>
      </p:sp>
      <p:sp>
        <p:nvSpPr>
          <p:cNvPr id="9" name="Text 7"/>
          <p:cNvSpPr/>
          <p:nvPr/>
        </p:nvSpPr>
        <p:spPr>
          <a:xfrm>
            <a:off x="1170432" y="2093976"/>
            <a:ext cx="4663440" cy="502920"/>
          </a:xfrm>
          <a:prstGeom prst="rect">
            <a:avLst/>
          </a:prstGeom>
          <a:noFill/>
        </p:spPr>
        <p:txBody>
          <a:bodyPr wrap="square" rtlCol="0" anchor="ctr"/>
          <a:lstStyle/>
          <a:p>
            <a:pPr marL="0" indent="0">
              <a:lnSpc>
                <a:spcPct val="115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Appended the three monthly files into one table via Power Query, preserving the shared schema.</a:t>
            </a:r>
            <a:endParaRPr lang="en-US" sz="1080" dirty="0"/>
          </a:p>
        </p:txBody>
      </p:sp>
      <p:sp>
        <p:nvSpPr>
          <p:cNvPr id="10" name="Shape 8"/>
          <p:cNvSpPr/>
          <p:nvPr/>
        </p:nvSpPr>
        <p:spPr>
          <a:xfrm>
            <a:off x="731520" y="2770632"/>
            <a:ext cx="310896" cy="310896"/>
          </a:xfrm>
          <a:prstGeom prst="roundRect">
            <a:avLst>
              <a:gd name="adj" fmla="val 20588"/>
            </a:avLst>
          </a:prstGeom>
          <a:solidFill>
            <a:srgbClr val="0B7285"/>
          </a:solidFill>
        </p:spPr>
      </p:sp>
      <p:sp>
        <p:nvSpPr>
          <p:cNvPr id="11" name="Text 9"/>
          <p:cNvSpPr/>
          <p:nvPr/>
        </p:nvSpPr>
        <p:spPr>
          <a:xfrm>
            <a:off x="1170432" y="2724912"/>
            <a:ext cx="4663440" cy="274320"/>
          </a:xfrm>
          <a:prstGeom prst="rect">
            <a:avLst/>
          </a:prstGeom>
          <a:noFill/>
        </p:spPr>
        <p:txBody>
          <a:bodyPr wrap="square" rtlCol="0" anchor="ctr"/>
          <a:lstStyle/>
          <a:p>
            <a:pPr marL="0" indent="0">
              <a:buNone/>
            </a:pPr>
            <a:r>
              <a:rPr lang="en-US" sz="1250" b="1" dirty="0">
                <a:solidFill>
                  <a:srgbClr val="024958"/>
                </a:solidFill>
                <a:latin typeface="Calibri" panose="020F0502020204030204" pitchFamily="34" charset="0"/>
                <a:ea typeface="Calibri" panose="020F0502020204030204" pitchFamily="34" charset="-122"/>
                <a:cs typeface="Calibri" panose="020F0502020204030204" pitchFamily="34" charset="-120"/>
              </a:rPr>
              <a:t>Type standardization</a:t>
            </a:r>
            <a:endParaRPr lang="en-US" sz="1250" dirty="0"/>
          </a:p>
        </p:txBody>
      </p:sp>
      <p:sp>
        <p:nvSpPr>
          <p:cNvPr id="12" name="Text 10"/>
          <p:cNvSpPr/>
          <p:nvPr/>
        </p:nvSpPr>
        <p:spPr>
          <a:xfrm>
            <a:off x="1170432" y="2990088"/>
            <a:ext cx="4663440" cy="502920"/>
          </a:xfrm>
          <a:prstGeom prst="rect">
            <a:avLst/>
          </a:prstGeom>
          <a:noFill/>
        </p:spPr>
        <p:txBody>
          <a:bodyPr wrap="square" rtlCol="0" anchor="ctr"/>
          <a:lstStyle/>
          <a:p>
            <a:pPr marL="0" indent="0">
              <a:lnSpc>
                <a:spcPct val="115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Verified numeric fields (calls, ASA, answer time) and date fields were typed consistently before modeling.</a:t>
            </a:r>
            <a:endParaRPr lang="en-US" sz="1080" dirty="0"/>
          </a:p>
        </p:txBody>
      </p:sp>
      <p:sp>
        <p:nvSpPr>
          <p:cNvPr id="13" name="Shape 11"/>
          <p:cNvSpPr/>
          <p:nvPr/>
        </p:nvSpPr>
        <p:spPr>
          <a:xfrm>
            <a:off x="731520" y="3666744"/>
            <a:ext cx="310896" cy="310896"/>
          </a:xfrm>
          <a:prstGeom prst="roundRect">
            <a:avLst>
              <a:gd name="adj" fmla="val 20588"/>
            </a:avLst>
          </a:prstGeom>
          <a:solidFill>
            <a:srgbClr val="0B7285"/>
          </a:solidFill>
        </p:spPr>
      </p:sp>
      <p:sp>
        <p:nvSpPr>
          <p:cNvPr id="14" name="Text 12"/>
          <p:cNvSpPr/>
          <p:nvPr/>
        </p:nvSpPr>
        <p:spPr>
          <a:xfrm>
            <a:off x="1170432" y="3621024"/>
            <a:ext cx="4663440" cy="274320"/>
          </a:xfrm>
          <a:prstGeom prst="rect">
            <a:avLst/>
          </a:prstGeom>
          <a:noFill/>
        </p:spPr>
        <p:txBody>
          <a:bodyPr wrap="square" rtlCol="0" anchor="ctr"/>
          <a:lstStyle/>
          <a:p>
            <a:pPr marL="0" indent="0">
              <a:buNone/>
            </a:pPr>
            <a:r>
              <a:rPr lang="en-US" sz="1250" b="1" dirty="0">
                <a:solidFill>
                  <a:srgbClr val="024958"/>
                </a:solidFill>
                <a:latin typeface="Calibri" panose="020F0502020204030204" pitchFamily="34" charset="0"/>
                <a:ea typeface="Calibri" panose="020F0502020204030204" pitchFamily="34" charset="-122"/>
                <a:cs typeface="Calibri" panose="020F0502020204030204" pitchFamily="34" charset="-120"/>
              </a:rPr>
              <a:t>Structural validation</a:t>
            </a:r>
            <a:endParaRPr lang="en-US" sz="1250" dirty="0"/>
          </a:p>
        </p:txBody>
      </p:sp>
      <p:sp>
        <p:nvSpPr>
          <p:cNvPr id="15" name="Text 13"/>
          <p:cNvSpPr/>
          <p:nvPr/>
        </p:nvSpPr>
        <p:spPr>
          <a:xfrm>
            <a:off x="1170432" y="3886200"/>
            <a:ext cx="4663440" cy="502920"/>
          </a:xfrm>
          <a:prstGeom prst="rect">
            <a:avLst/>
          </a:prstGeom>
          <a:noFill/>
        </p:spPr>
        <p:txBody>
          <a:bodyPr wrap="square" rtlCol="0" anchor="ctr"/>
          <a:lstStyle/>
          <a:p>
            <a:pPr marL="0" indent="0">
              <a:lnSpc>
                <a:spcPct val="115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Confirmed column alignment and grain (Project / Agent / Date) across all three source files.</a:t>
            </a:r>
            <a:endParaRPr lang="en-US" sz="1080" dirty="0"/>
          </a:p>
        </p:txBody>
      </p:sp>
      <p:sp>
        <p:nvSpPr>
          <p:cNvPr id="16" name="Shape 14"/>
          <p:cNvSpPr/>
          <p:nvPr/>
        </p:nvSpPr>
        <p:spPr>
          <a:xfrm>
            <a:off x="731520" y="4562856"/>
            <a:ext cx="310896" cy="310896"/>
          </a:xfrm>
          <a:prstGeom prst="roundRect">
            <a:avLst>
              <a:gd name="adj" fmla="val 20588"/>
            </a:avLst>
          </a:prstGeom>
          <a:solidFill>
            <a:srgbClr val="0B7285"/>
          </a:solidFill>
        </p:spPr>
      </p:sp>
      <p:sp>
        <p:nvSpPr>
          <p:cNvPr id="17" name="Text 15"/>
          <p:cNvSpPr/>
          <p:nvPr/>
        </p:nvSpPr>
        <p:spPr>
          <a:xfrm>
            <a:off x="1170432" y="4517136"/>
            <a:ext cx="4663440" cy="274320"/>
          </a:xfrm>
          <a:prstGeom prst="rect">
            <a:avLst/>
          </a:prstGeom>
          <a:noFill/>
        </p:spPr>
        <p:txBody>
          <a:bodyPr wrap="square" rtlCol="0" anchor="ctr"/>
          <a:lstStyle/>
          <a:p>
            <a:pPr marL="0" indent="0">
              <a:buNone/>
            </a:pPr>
            <a:r>
              <a:rPr lang="en-US" sz="1250" b="1" dirty="0">
                <a:solidFill>
                  <a:srgbClr val="024958"/>
                </a:solidFill>
                <a:latin typeface="Calibri" panose="020F0502020204030204" pitchFamily="34" charset="0"/>
                <a:ea typeface="Calibri" panose="020F0502020204030204" pitchFamily="34" charset="-122"/>
                <a:cs typeface="Calibri" panose="020F0502020204030204" pitchFamily="34" charset="-120"/>
              </a:rPr>
              <a:t>Data quality review</a:t>
            </a:r>
            <a:endParaRPr lang="en-US" sz="1250" dirty="0"/>
          </a:p>
        </p:txBody>
      </p:sp>
      <p:sp>
        <p:nvSpPr>
          <p:cNvPr id="18" name="Text 16"/>
          <p:cNvSpPr/>
          <p:nvPr/>
        </p:nvSpPr>
        <p:spPr>
          <a:xfrm>
            <a:off x="1170432" y="4782312"/>
            <a:ext cx="4663440" cy="502920"/>
          </a:xfrm>
          <a:prstGeom prst="rect">
            <a:avLst/>
          </a:prstGeom>
          <a:noFill/>
        </p:spPr>
        <p:txBody>
          <a:bodyPr wrap="square" rtlCol="0" anchor="ctr"/>
          <a:lstStyle/>
          <a:p>
            <a:pPr marL="0" indent="0">
              <a:lnSpc>
                <a:spcPct val="115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Checked the unified dataset for consistency before building the KPI and DAX layer.</a:t>
            </a:r>
            <a:endParaRPr lang="en-US" sz="1080" dirty="0"/>
          </a:p>
        </p:txBody>
      </p:sp>
      <p:sp>
        <p:nvSpPr>
          <p:cNvPr id="19" name="Shape 17"/>
          <p:cNvSpPr/>
          <p:nvPr/>
        </p:nvSpPr>
        <p:spPr>
          <a:xfrm>
            <a:off x="6309360" y="1234440"/>
            <a:ext cx="5394960" cy="5074920"/>
          </a:xfrm>
          <a:prstGeom prst="roundRect">
            <a:avLst>
              <a:gd name="adj" fmla="val 1622"/>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0" name="Shape 18"/>
          <p:cNvSpPr/>
          <p:nvPr/>
        </p:nvSpPr>
        <p:spPr>
          <a:xfrm>
            <a:off x="6537960" y="1463040"/>
            <a:ext cx="201168" cy="201168"/>
          </a:xfrm>
          <a:prstGeom prst="roundRect">
            <a:avLst>
              <a:gd name="adj" fmla="val 18182"/>
            </a:avLst>
          </a:prstGeom>
          <a:solidFill>
            <a:srgbClr val="2EC4B6"/>
          </a:solidFill>
        </p:spPr>
      </p:sp>
      <p:sp>
        <p:nvSpPr>
          <p:cNvPr id="21" name="Text 19"/>
          <p:cNvSpPr/>
          <p:nvPr/>
        </p:nvSpPr>
        <p:spPr>
          <a:xfrm>
            <a:off x="6830568" y="1408176"/>
            <a:ext cx="464515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Analytical Framework</a:t>
            </a:r>
            <a:endParaRPr lang="en-US" sz="1500" dirty="0"/>
          </a:p>
        </p:txBody>
      </p:sp>
      <p:sp>
        <p:nvSpPr>
          <p:cNvPr id="22" name="Shape 20"/>
          <p:cNvSpPr/>
          <p:nvPr/>
        </p:nvSpPr>
        <p:spPr>
          <a:xfrm>
            <a:off x="6537960" y="1920240"/>
            <a:ext cx="4937760" cy="841248"/>
          </a:xfrm>
          <a:prstGeom prst="roundRect">
            <a:avLst>
              <a:gd name="adj" fmla="val 8696"/>
            </a:avLst>
          </a:prstGeom>
          <a:solidFill>
            <a:srgbClr val="F5F9F9"/>
          </a:solidFill>
          <a:ln w="12700">
            <a:solidFill>
              <a:srgbClr val="DCE7E8"/>
            </a:solidFill>
            <a:prstDash val="solid"/>
          </a:ln>
        </p:spPr>
      </p:sp>
      <p:sp>
        <p:nvSpPr>
          <p:cNvPr id="23" name="Shape 21"/>
          <p:cNvSpPr/>
          <p:nvPr/>
        </p:nvSpPr>
        <p:spPr>
          <a:xfrm>
            <a:off x="6720840" y="2203704"/>
            <a:ext cx="274320" cy="274320"/>
          </a:xfrm>
          <a:prstGeom prst="ellipse">
            <a:avLst/>
          </a:prstGeom>
          <a:solidFill>
            <a:srgbClr val="024958"/>
          </a:solidFill>
        </p:spPr>
      </p:sp>
      <p:sp>
        <p:nvSpPr>
          <p:cNvPr id="24" name="Text 22"/>
          <p:cNvSpPr/>
          <p:nvPr/>
        </p:nvSpPr>
        <p:spPr>
          <a:xfrm>
            <a:off x="7178040" y="2011680"/>
            <a:ext cx="4114800" cy="320040"/>
          </a:xfrm>
          <a:prstGeom prst="rect">
            <a:avLst/>
          </a:prstGeom>
          <a:noFill/>
        </p:spPr>
        <p:txBody>
          <a:bodyPr wrap="square" rtlCol="0" anchor="ctr"/>
          <a:lstStyle/>
          <a:p>
            <a:pPr marL="0" indent="0">
              <a:buNone/>
            </a:pPr>
            <a:r>
              <a:rPr lang="en-US" sz="1300" b="1" dirty="0">
                <a:solidFill>
                  <a:srgbClr val="024958"/>
                </a:solidFill>
                <a:latin typeface="Calibri" panose="020F0502020204030204" pitchFamily="34" charset="0"/>
                <a:ea typeface="Calibri" panose="020F0502020204030204" pitchFamily="34" charset="-122"/>
                <a:cs typeface="Calibri" panose="020F0502020204030204" pitchFamily="34" charset="-120"/>
              </a:rPr>
              <a:t>Operational Performance</a:t>
            </a:r>
            <a:endParaRPr lang="en-US" sz="1300" dirty="0"/>
          </a:p>
        </p:txBody>
      </p:sp>
      <p:sp>
        <p:nvSpPr>
          <p:cNvPr id="25" name="Text 23"/>
          <p:cNvSpPr/>
          <p:nvPr/>
        </p:nvSpPr>
        <p:spPr>
          <a:xfrm>
            <a:off x="7178040" y="2340864"/>
            <a:ext cx="4114800" cy="365760"/>
          </a:xfrm>
          <a:prstGeom prst="rect">
            <a:avLst/>
          </a:prstGeom>
          <a:noFill/>
        </p:spPr>
        <p:txBody>
          <a:bodyPr wrap="square" rtlCol="0" anchor="ctr"/>
          <a:lstStyle/>
          <a:p>
            <a:pPr marL="0" indent="0">
              <a:buNone/>
            </a:pPr>
            <a:r>
              <a:rPr lang="en-US" sz="1080" dirty="0">
                <a:solidFill>
                  <a:srgbClr val="5B6E73"/>
                </a:solidFill>
                <a:latin typeface="Calibri" panose="020F0502020204030204" pitchFamily="34" charset="0"/>
                <a:ea typeface="Calibri" panose="020F0502020204030204" pitchFamily="34" charset="-122"/>
                <a:cs typeface="Calibri" panose="020F0502020204030204" pitchFamily="34" charset="-120"/>
              </a:rPr>
              <a:t>Service Level · ASA · Abandon Rate</a:t>
            </a:r>
            <a:endParaRPr lang="en-US" sz="1080" dirty="0"/>
          </a:p>
        </p:txBody>
      </p:sp>
      <p:sp>
        <p:nvSpPr>
          <p:cNvPr id="26" name="Shape 24"/>
          <p:cNvSpPr/>
          <p:nvPr/>
        </p:nvSpPr>
        <p:spPr>
          <a:xfrm>
            <a:off x="6537960" y="2889504"/>
            <a:ext cx="4937760" cy="841248"/>
          </a:xfrm>
          <a:prstGeom prst="roundRect">
            <a:avLst>
              <a:gd name="adj" fmla="val 8696"/>
            </a:avLst>
          </a:prstGeom>
          <a:solidFill>
            <a:srgbClr val="F5F9F9"/>
          </a:solidFill>
          <a:ln w="12700">
            <a:solidFill>
              <a:srgbClr val="DCE7E8"/>
            </a:solidFill>
            <a:prstDash val="solid"/>
          </a:ln>
        </p:spPr>
      </p:sp>
      <p:sp>
        <p:nvSpPr>
          <p:cNvPr id="27" name="Shape 25"/>
          <p:cNvSpPr/>
          <p:nvPr/>
        </p:nvSpPr>
        <p:spPr>
          <a:xfrm>
            <a:off x="6720840" y="3172968"/>
            <a:ext cx="274320" cy="274320"/>
          </a:xfrm>
          <a:prstGeom prst="ellipse">
            <a:avLst/>
          </a:prstGeom>
          <a:solidFill>
            <a:srgbClr val="0B7285"/>
          </a:solidFill>
        </p:spPr>
      </p:sp>
      <p:sp>
        <p:nvSpPr>
          <p:cNvPr id="28" name="Text 26"/>
          <p:cNvSpPr/>
          <p:nvPr/>
        </p:nvSpPr>
        <p:spPr>
          <a:xfrm>
            <a:off x="7178040" y="2980944"/>
            <a:ext cx="4114800" cy="320040"/>
          </a:xfrm>
          <a:prstGeom prst="rect">
            <a:avLst/>
          </a:prstGeom>
          <a:noFill/>
        </p:spPr>
        <p:txBody>
          <a:bodyPr wrap="square" rtlCol="0" anchor="ctr"/>
          <a:lstStyle/>
          <a:p>
            <a:pPr marL="0" indent="0">
              <a:buNone/>
            </a:pPr>
            <a:r>
              <a:rPr lang="en-US" sz="1300" b="1" dirty="0">
                <a:solidFill>
                  <a:srgbClr val="024958"/>
                </a:solidFill>
                <a:latin typeface="Calibri" panose="020F0502020204030204" pitchFamily="34" charset="0"/>
                <a:ea typeface="Calibri" panose="020F0502020204030204" pitchFamily="34" charset="-122"/>
                <a:cs typeface="Calibri" panose="020F0502020204030204" pitchFamily="34" charset="-120"/>
              </a:rPr>
              <a:t>Demand &amp; Planning</a:t>
            </a:r>
            <a:endParaRPr lang="en-US" sz="1300" dirty="0"/>
          </a:p>
        </p:txBody>
      </p:sp>
      <p:sp>
        <p:nvSpPr>
          <p:cNvPr id="29" name="Text 27"/>
          <p:cNvSpPr/>
          <p:nvPr/>
        </p:nvSpPr>
        <p:spPr>
          <a:xfrm>
            <a:off x="7178040" y="3310128"/>
            <a:ext cx="4114800" cy="365760"/>
          </a:xfrm>
          <a:prstGeom prst="rect">
            <a:avLst/>
          </a:prstGeom>
          <a:noFill/>
        </p:spPr>
        <p:txBody>
          <a:bodyPr wrap="square" rtlCol="0" anchor="ctr"/>
          <a:lstStyle/>
          <a:p>
            <a:pPr marL="0" indent="0">
              <a:buNone/>
            </a:pPr>
            <a:r>
              <a:rPr lang="en-US" sz="1080" dirty="0">
                <a:solidFill>
                  <a:srgbClr val="5B6E73"/>
                </a:solidFill>
                <a:latin typeface="Calibri" panose="020F0502020204030204" pitchFamily="34" charset="0"/>
                <a:ea typeface="Calibri" panose="020F0502020204030204" pitchFamily="34" charset="-122"/>
                <a:cs typeface="Calibri" panose="020F0502020204030204" pitchFamily="34" charset="-120"/>
              </a:rPr>
              <a:t>Call Volume · Forecast Accuracy</a:t>
            </a:r>
            <a:endParaRPr lang="en-US" sz="1080" dirty="0"/>
          </a:p>
        </p:txBody>
      </p:sp>
      <p:sp>
        <p:nvSpPr>
          <p:cNvPr id="30" name="Shape 28"/>
          <p:cNvSpPr/>
          <p:nvPr/>
        </p:nvSpPr>
        <p:spPr>
          <a:xfrm>
            <a:off x="6537960" y="3858768"/>
            <a:ext cx="4937760" cy="841248"/>
          </a:xfrm>
          <a:prstGeom prst="roundRect">
            <a:avLst>
              <a:gd name="adj" fmla="val 8696"/>
            </a:avLst>
          </a:prstGeom>
          <a:solidFill>
            <a:srgbClr val="F5F9F9"/>
          </a:solidFill>
          <a:ln w="12700">
            <a:solidFill>
              <a:srgbClr val="DCE7E8"/>
            </a:solidFill>
            <a:prstDash val="solid"/>
          </a:ln>
        </p:spPr>
      </p:sp>
      <p:sp>
        <p:nvSpPr>
          <p:cNvPr id="31" name="Shape 29"/>
          <p:cNvSpPr/>
          <p:nvPr/>
        </p:nvSpPr>
        <p:spPr>
          <a:xfrm>
            <a:off x="6720840" y="4142232"/>
            <a:ext cx="274320" cy="274320"/>
          </a:xfrm>
          <a:prstGeom prst="ellipse">
            <a:avLst/>
          </a:prstGeom>
          <a:solidFill>
            <a:srgbClr val="2EC4B6"/>
          </a:solidFill>
        </p:spPr>
      </p:sp>
      <p:sp>
        <p:nvSpPr>
          <p:cNvPr id="32" name="Text 30"/>
          <p:cNvSpPr/>
          <p:nvPr/>
        </p:nvSpPr>
        <p:spPr>
          <a:xfrm>
            <a:off x="7178040" y="3950208"/>
            <a:ext cx="4114800" cy="320040"/>
          </a:xfrm>
          <a:prstGeom prst="rect">
            <a:avLst/>
          </a:prstGeom>
          <a:noFill/>
        </p:spPr>
        <p:txBody>
          <a:bodyPr wrap="square" rtlCol="0" anchor="ctr"/>
          <a:lstStyle/>
          <a:p>
            <a:pPr marL="0" indent="0">
              <a:buNone/>
            </a:pPr>
            <a:r>
              <a:rPr lang="en-US" sz="1300" b="1" dirty="0">
                <a:solidFill>
                  <a:srgbClr val="024958"/>
                </a:solidFill>
                <a:latin typeface="Calibri" panose="020F0502020204030204" pitchFamily="34" charset="0"/>
                <a:ea typeface="Calibri" panose="020F0502020204030204" pitchFamily="34" charset="-122"/>
                <a:cs typeface="Calibri" panose="020F0502020204030204" pitchFamily="34" charset="-120"/>
              </a:rPr>
              <a:t>Performance Management</a:t>
            </a:r>
            <a:endParaRPr lang="en-US" sz="1300" dirty="0"/>
          </a:p>
        </p:txBody>
      </p:sp>
      <p:sp>
        <p:nvSpPr>
          <p:cNvPr id="33" name="Text 31"/>
          <p:cNvSpPr/>
          <p:nvPr/>
        </p:nvSpPr>
        <p:spPr>
          <a:xfrm>
            <a:off x="7178040" y="4279392"/>
            <a:ext cx="4114800" cy="365760"/>
          </a:xfrm>
          <a:prstGeom prst="rect">
            <a:avLst/>
          </a:prstGeom>
          <a:noFill/>
        </p:spPr>
        <p:txBody>
          <a:bodyPr wrap="square" rtlCol="0" anchor="ctr"/>
          <a:lstStyle/>
          <a:p>
            <a:pPr marL="0" indent="0">
              <a:buNone/>
            </a:pPr>
            <a:r>
              <a:rPr lang="en-US" sz="1080" dirty="0">
                <a:solidFill>
                  <a:srgbClr val="5B6E73"/>
                </a:solidFill>
                <a:latin typeface="Calibri" panose="020F0502020204030204" pitchFamily="34" charset="0"/>
                <a:ea typeface="Calibri" panose="020F0502020204030204" pitchFamily="34" charset="-122"/>
                <a:cs typeface="Calibri" panose="020F0502020204030204" pitchFamily="34" charset="-120"/>
              </a:rPr>
              <a:t>Project Performance · Agent Performance</a:t>
            </a:r>
            <a:endParaRPr lang="en-US" sz="1080" dirty="0"/>
          </a:p>
        </p:txBody>
      </p:sp>
      <p:sp>
        <p:nvSpPr>
          <p:cNvPr id="34" name="Shape 32"/>
          <p:cNvSpPr/>
          <p:nvPr/>
        </p:nvSpPr>
        <p:spPr>
          <a:xfrm>
            <a:off x="6537960" y="4828032"/>
            <a:ext cx="4937760" cy="841248"/>
          </a:xfrm>
          <a:prstGeom prst="roundRect">
            <a:avLst>
              <a:gd name="adj" fmla="val 8696"/>
            </a:avLst>
          </a:prstGeom>
          <a:solidFill>
            <a:srgbClr val="F5F9F9"/>
          </a:solidFill>
          <a:ln w="12700">
            <a:solidFill>
              <a:srgbClr val="DCE7E8"/>
            </a:solidFill>
            <a:prstDash val="solid"/>
          </a:ln>
        </p:spPr>
      </p:sp>
      <p:sp>
        <p:nvSpPr>
          <p:cNvPr id="35" name="Shape 33"/>
          <p:cNvSpPr/>
          <p:nvPr/>
        </p:nvSpPr>
        <p:spPr>
          <a:xfrm>
            <a:off x="6720840" y="5111496"/>
            <a:ext cx="274320" cy="274320"/>
          </a:xfrm>
          <a:prstGeom prst="ellipse">
            <a:avLst/>
          </a:prstGeom>
          <a:solidFill>
            <a:srgbClr val="C99A3C"/>
          </a:solidFill>
        </p:spPr>
      </p:sp>
      <p:sp>
        <p:nvSpPr>
          <p:cNvPr id="36" name="Text 34"/>
          <p:cNvSpPr/>
          <p:nvPr/>
        </p:nvSpPr>
        <p:spPr>
          <a:xfrm>
            <a:off x="7178040" y="4919472"/>
            <a:ext cx="4114800" cy="320040"/>
          </a:xfrm>
          <a:prstGeom prst="rect">
            <a:avLst/>
          </a:prstGeom>
          <a:noFill/>
        </p:spPr>
        <p:txBody>
          <a:bodyPr wrap="square" rtlCol="0" anchor="ctr"/>
          <a:lstStyle/>
          <a:p>
            <a:pPr marL="0" indent="0">
              <a:buNone/>
            </a:pPr>
            <a:r>
              <a:rPr lang="en-US" sz="1300" b="1" dirty="0">
                <a:solidFill>
                  <a:srgbClr val="024958"/>
                </a:solidFill>
                <a:latin typeface="Calibri" panose="020F0502020204030204" pitchFamily="34" charset="0"/>
                <a:ea typeface="Calibri" panose="020F0502020204030204" pitchFamily="34" charset="-122"/>
                <a:cs typeface="Calibri" panose="020F0502020204030204" pitchFamily="34" charset="-120"/>
              </a:rPr>
              <a:t>Decision Support</a:t>
            </a:r>
            <a:endParaRPr lang="en-US" sz="1300" dirty="0"/>
          </a:p>
        </p:txBody>
      </p:sp>
      <p:sp>
        <p:nvSpPr>
          <p:cNvPr id="37" name="Text 35"/>
          <p:cNvSpPr/>
          <p:nvPr/>
        </p:nvSpPr>
        <p:spPr>
          <a:xfrm>
            <a:off x="7178040" y="5248656"/>
            <a:ext cx="4114800" cy="365760"/>
          </a:xfrm>
          <a:prstGeom prst="rect">
            <a:avLst/>
          </a:prstGeom>
          <a:noFill/>
        </p:spPr>
        <p:txBody>
          <a:bodyPr wrap="square" rtlCol="0" anchor="ctr"/>
          <a:lstStyle/>
          <a:p>
            <a:pPr marL="0" indent="0">
              <a:buNone/>
            </a:pPr>
            <a:r>
              <a:rPr lang="en-US" sz="1080" dirty="0">
                <a:solidFill>
                  <a:srgbClr val="5B6E73"/>
                </a:solidFill>
                <a:latin typeface="Calibri" panose="020F0502020204030204" pitchFamily="34" charset="0"/>
                <a:ea typeface="Calibri" panose="020F0502020204030204" pitchFamily="34" charset="-122"/>
                <a:cs typeface="Calibri" panose="020F0502020204030204" pitchFamily="34" charset="-120"/>
              </a:rPr>
              <a:t>Trends · Root Cause · What-If · Recommendations</a:t>
            </a:r>
            <a:endParaRPr lang="en-US" sz="1080" dirty="0"/>
          </a:p>
        </p:txBody>
      </p:sp>
      <p:sp>
        <p:nvSpPr>
          <p:cNvPr id="38" name="Text 36"/>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05</a:t>
            </a:r>
            <a:endParaRPr lang="en-US" sz="1000" dirty="0"/>
          </a:p>
        </p:txBody>
      </p:sp>
      <p:sp>
        <p:nvSpPr>
          <p:cNvPr id="39" name="Text 37"/>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MEASUREMENT</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KPI Framework</a:t>
            </a:r>
            <a:endParaRPr lang="en-US" sz="2800" dirty="0"/>
          </a:p>
        </p:txBody>
      </p:sp>
      <p:sp>
        <p:nvSpPr>
          <p:cNvPr id="4" name="Shape 2"/>
          <p:cNvSpPr/>
          <p:nvPr/>
        </p:nvSpPr>
        <p:spPr>
          <a:xfrm>
            <a:off x="502920" y="1234440"/>
            <a:ext cx="3605784" cy="2331720"/>
          </a:xfrm>
          <a:prstGeom prst="roundRect">
            <a:avLst>
              <a:gd name="adj" fmla="val 352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 name="Shape 3"/>
          <p:cNvSpPr/>
          <p:nvPr/>
        </p:nvSpPr>
        <p:spPr>
          <a:xfrm>
            <a:off x="731520" y="1463040"/>
            <a:ext cx="1371600" cy="457200"/>
          </a:xfrm>
          <a:prstGeom prst="roundRect">
            <a:avLst>
              <a:gd name="adj" fmla="val 14000"/>
            </a:avLst>
          </a:prstGeom>
          <a:solidFill>
            <a:srgbClr val="024958"/>
          </a:solidFill>
        </p:spPr>
      </p:sp>
      <p:sp>
        <p:nvSpPr>
          <p:cNvPr id="6" name="Text 4"/>
          <p:cNvSpPr/>
          <p:nvPr/>
        </p:nvSpPr>
        <p:spPr>
          <a:xfrm>
            <a:off x="731520" y="1463040"/>
            <a:ext cx="13716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92%</a:t>
            </a:r>
            <a:endParaRPr lang="en-US" sz="1500" dirty="0"/>
          </a:p>
        </p:txBody>
      </p:sp>
      <p:sp>
        <p:nvSpPr>
          <p:cNvPr id="7" name="Text 5"/>
          <p:cNvSpPr/>
          <p:nvPr/>
        </p:nvSpPr>
        <p:spPr>
          <a:xfrm>
            <a:off x="731520" y="2103120"/>
            <a:ext cx="3148584" cy="411480"/>
          </a:xfrm>
          <a:prstGeom prst="rect">
            <a:avLst/>
          </a:prstGeom>
          <a:noFill/>
        </p:spPr>
        <p:txBody>
          <a:bodyPr wrap="square" rtlCol="0" anchor="ctr"/>
          <a:lstStyle/>
          <a:p>
            <a:pPr marL="0" indent="0">
              <a:buNone/>
            </a:pPr>
            <a:r>
              <a:rPr lang="en-US" sz="1350" b="1" dirty="0">
                <a:solidFill>
                  <a:srgbClr val="024958"/>
                </a:solidFill>
                <a:latin typeface="Calibri" panose="020F0502020204030204" pitchFamily="34" charset="0"/>
                <a:ea typeface="Calibri" panose="020F0502020204030204" pitchFamily="34" charset="-122"/>
                <a:cs typeface="Calibri" panose="020F0502020204030204" pitchFamily="34" charset="-120"/>
              </a:rPr>
              <a:t>Service Level %</a:t>
            </a:r>
            <a:endParaRPr lang="en-US" sz="1350" dirty="0"/>
          </a:p>
        </p:txBody>
      </p:sp>
      <p:sp>
        <p:nvSpPr>
          <p:cNvPr id="8" name="Text 6"/>
          <p:cNvSpPr/>
          <p:nvPr/>
        </p:nvSpPr>
        <p:spPr>
          <a:xfrm>
            <a:off x="731520" y="2514600"/>
            <a:ext cx="3148584" cy="960120"/>
          </a:xfrm>
          <a:prstGeom prst="rect">
            <a:avLst/>
          </a:prstGeom>
          <a:noFill/>
        </p:spPr>
        <p:txBody>
          <a:bodyPr wrap="square" rtlCol="0" anchor="ctr"/>
          <a:lstStyle/>
          <a:p>
            <a:pPr marL="0" indent="0">
              <a:lnSpc>
                <a:spcPct val="120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Share of calls answered within the response-time threshold.</a:t>
            </a:r>
            <a:endParaRPr lang="en-US" sz="1080" dirty="0"/>
          </a:p>
        </p:txBody>
      </p:sp>
      <p:sp>
        <p:nvSpPr>
          <p:cNvPr id="9" name="Shape 7"/>
          <p:cNvSpPr/>
          <p:nvPr/>
        </p:nvSpPr>
        <p:spPr>
          <a:xfrm>
            <a:off x="4291584" y="1234440"/>
            <a:ext cx="3605784" cy="2331720"/>
          </a:xfrm>
          <a:prstGeom prst="roundRect">
            <a:avLst>
              <a:gd name="adj" fmla="val 352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10" name="Shape 8"/>
          <p:cNvSpPr/>
          <p:nvPr/>
        </p:nvSpPr>
        <p:spPr>
          <a:xfrm>
            <a:off x="4520184" y="1463040"/>
            <a:ext cx="1371600" cy="457200"/>
          </a:xfrm>
          <a:prstGeom prst="roundRect">
            <a:avLst>
              <a:gd name="adj" fmla="val 14000"/>
            </a:avLst>
          </a:prstGeom>
          <a:solidFill>
            <a:srgbClr val="024958"/>
          </a:solidFill>
        </p:spPr>
      </p:sp>
      <p:sp>
        <p:nvSpPr>
          <p:cNvPr id="11" name="Text 9"/>
          <p:cNvSpPr/>
          <p:nvPr/>
        </p:nvSpPr>
        <p:spPr>
          <a:xfrm>
            <a:off x="4520184" y="1463040"/>
            <a:ext cx="13716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9.22s</a:t>
            </a:r>
            <a:endParaRPr lang="en-US" sz="1500" dirty="0"/>
          </a:p>
        </p:txBody>
      </p:sp>
      <p:sp>
        <p:nvSpPr>
          <p:cNvPr id="12" name="Text 10"/>
          <p:cNvSpPr/>
          <p:nvPr/>
        </p:nvSpPr>
        <p:spPr>
          <a:xfrm>
            <a:off x="4520184" y="2103120"/>
            <a:ext cx="3148584" cy="411480"/>
          </a:xfrm>
          <a:prstGeom prst="rect">
            <a:avLst/>
          </a:prstGeom>
          <a:noFill/>
        </p:spPr>
        <p:txBody>
          <a:bodyPr wrap="square" rtlCol="0" anchor="ctr"/>
          <a:lstStyle/>
          <a:p>
            <a:pPr marL="0" indent="0">
              <a:buNone/>
            </a:pPr>
            <a:r>
              <a:rPr lang="en-US" sz="1350" b="1" dirty="0">
                <a:solidFill>
                  <a:srgbClr val="024958"/>
                </a:solidFill>
                <a:latin typeface="Calibri" panose="020F0502020204030204" pitchFamily="34" charset="0"/>
                <a:ea typeface="Calibri" panose="020F0502020204030204" pitchFamily="34" charset="-122"/>
                <a:cs typeface="Calibri" panose="020F0502020204030204" pitchFamily="34" charset="-120"/>
              </a:rPr>
              <a:t>Average ASA</a:t>
            </a:r>
            <a:endParaRPr lang="en-US" sz="1350" dirty="0"/>
          </a:p>
        </p:txBody>
      </p:sp>
      <p:sp>
        <p:nvSpPr>
          <p:cNvPr id="13" name="Text 11"/>
          <p:cNvSpPr/>
          <p:nvPr/>
        </p:nvSpPr>
        <p:spPr>
          <a:xfrm>
            <a:off x="4520184" y="2514600"/>
            <a:ext cx="3148584" cy="960120"/>
          </a:xfrm>
          <a:prstGeom prst="rect">
            <a:avLst/>
          </a:prstGeom>
          <a:noFill/>
        </p:spPr>
        <p:txBody>
          <a:bodyPr wrap="square" rtlCol="0" anchor="ctr"/>
          <a:lstStyle/>
          <a:p>
            <a:pPr marL="0" indent="0">
              <a:lnSpc>
                <a:spcPct val="120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Average Speed of Answer — time before a call is picked up.</a:t>
            </a:r>
            <a:endParaRPr lang="en-US" sz="1080" dirty="0"/>
          </a:p>
        </p:txBody>
      </p:sp>
      <p:sp>
        <p:nvSpPr>
          <p:cNvPr id="14" name="Shape 12"/>
          <p:cNvSpPr/>
          <p:nvPr/>
        </p:nvSpPr>
        <p:spPr>
          <a:xfrm>
            <a:off x="8080248" y="1234440"/>
            <a:ext cx="3605784" cy="2331720"/>
          </a:xfrm>
          <a:prstGeom prst="roundRect">
            <a:avLst>
              <a:gd name="adj" fmla="val 352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15" name="Shape 13"/>
          <p:cNvSpPr/>
          <p:nvPr/>
        </p:nvSpPr>
        <p:spPr>
          <a:xfrm>
            <a:off x="8308848" y="1463040"/>
            <a:ext cx="1371600" cy="457200"/>
          </a:xfrm>
          <a:prstGeom prst="roundRect">
            <a:avLst>
              <a:gd name="adj" fmla="val 14000"/>
            </a:avLst>
          </a:prstGeom>
          <a:solidFill>
            <a:srgbClr val="024958"/>
          </a:solidFill>
        </p:spPr>
      </p:sp>
      <p:sp>
        <p:nvSpPr>
          <p:cNvPr id="16" name="Text 14"/>
          <p:cNvSpPr/>
          <p:nvPr/>
        </p:nvSpPr>
        <p:spPr>
          <a:xfrm>
            <a:off x="8308848" y="1463040"/>
            <a:ext cx="13716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1.3%</a:t>
            </a:r>
            <a:endParaRPr lang="en-US" sz="1500" dirty="0"/>
          </a:p>
        </p:txBody>
      </p:sp>
      <p:sp>
        <p:nvSpPr>
          <p:cNvPr id="17" name="Text 15"/>
          <p:cNvSpPr/>
          <p:nvPr/>
        </p:nvSpPr>
        <p:spPr>
          <a:xfrm>
            <a:off x="8308848" y="2103120"/>
            <a:ext cx="3148584" cy="411480"/>
          </a:xfrm>
          <a:prstGeom prst="rect">
            <a:avLst/>
          </a:prstGeom>
          <a:noFill/>
        </p:spPr>
        <p:txBody>
          <a:bodyPr wrap="square" rtlCol="0" anchor="ctr"/>
          <a:lstStyle/>
          <a:p>
            <a:pPr marL="0" indent="0">
              <a:buNone/>
            </a:pPr>
            <a:r>
              <a:rPr lang="en-US" sz="1350" b="1" dirty="0">
                <a:solidFill>
                  <a:srgbClr val="024958"/>
                </a:solidFill>
                <a:latin typeface="Calibri" panose="020F0502020204030204" pitchFamily="34" charset="0"/>
                <a:ea typeface="Calibri" panose="020F0502020204030204" pitchFamily="34" charset="-122"/>
                <a:cs typeface="Calibri" panose="020F0502020204030204" pitchFamily="34" charset="-120"/>
              </a:rPr>
              <a:t>Abandon Rate %</a:t>
            </a:r>
            <a:endParaRPr lang="en-US" sz="1350" dirty="0"/>
          </a:p>
        </p:txBody>
      </p:sp>
      <p:sp>
        <p:nvSpPr>
          <p:cNvPr id="18" name="Text 16"/>
          <p:cNvSpPr/>
          <p:nvPr/>
        </p:nvSpPr>
        <p:spPr>
          <a:xfrm>
            <a:off x="8308848" y="2514600"/>
            <a:ext cx="3148584" cy="960120"/>
          </a:xfrm>
          <a:prstGeom prst="rect">
            <a:avLst/>
          </a:prstGeom>
          <a:noFill/>
        </p:spPr>
        <p:txBody>
          <a:bodyPr wrap="square" rtlCol="0" anchor="ctr"/>
          <a:lstStyle/>
          <a:p>
            <a:pPr marL="0" indent="0">
              <a:lnSpc>
                <a:spcPct val="120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Share of offered calls the customer disconnected before being answered.</a:t>
            </a:r>
            <a:endParaRPr lang="en-US" sz="1080" dirty="0"/>
          </a:p>
        </p:txBody>
      </p:sp>
      <p:sp>
        <p:nvSpPr>
          <p:cNvPr id="19" name="Shape 17"/>
          <p:cNvSpPr/>
          <p:nvPr/>
        </p:nvSpPr>
        <p:spPr>
          <a:xfrm>
            <a:off x="502920" y="3749040"/>
            <a:ext cx="3605784" cy="2331720"/>
          </a:xfrm>
          <a:prstGeom prst="roundRect">
            <a:avLst>
              <a:gd name="adj" fmla="val 352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0" name="Shape 18"/>
          <p:cNvSpPr/>
          <p:nvPr/>
        </p:nvSpPr>
        <p:spPr>
          <a:xfrm>
            <a:off x="731520" y="3977640"/>
            <a:ext cx="1371600" cy="457200"/>
          </a:xfrm>
          <a:prstGeom prst="roundRect">
            <a:avLst>
              <a:gd name="adj" fmla="val 14000"/>
            </a:avLst>
          </a:prstGeom>
          <a:solidFill>
            <a:srgbClr val="024958"/>
          </a:solidFill>
        </p:spPr>
      </p:sp>
      <p:sp>
        <p:nvSpPr>
          <p:cNvPr id="21" name="Text 19"/>
          <p:cNvSpPr/>
          <p:nvPr/>
        </p:nvSpPr>
        <p:spPr>
          <a:xfrm>
            <a:off x="731520" y="3977640"/>
            <a:ext cx="13716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72%</a:t>
            </a:r>
            <a:endParaRPr lang="en-US" sz="1500" dirty="0"/>
          </a:p>
        </p:txBody>
      </p:sp>
      <p:sp>
        <p:nvSpPr>
          <p:cNvPr id="22" name="Text 20"/>
          <p:cNvSpPr/>
          <p:nvPr/>
        </p:nvSpPr>
        <p:spPr>
          <a:xfrm>
            <a:off x="731520" y="4617720"/>
            <a:ext cx="3148584" cy="411480"/>
          </a:xfrm>
          <a:prstGeom prst="rect">
            <a:avLst/>
          </a:prstGeom>
          <a:noFill/>
        </p:spPr>
        <p:txBody>
          <a:bodyPr wrap="square" rtlCol="0" anchor="ctr"/>
          <a:lstStyle/>
          <a:p>
            <a:pPr marL="0" indent="0">
              <a:buNone/>
            </a:pPr>
            <a:r>
              <a:rPr lang="en-US" sz="1350" b="1" dirty="0">
                <a:solidFill>
                  <a:srgbClr val="024958"/>
                </a:solidFill>
                <a:latin typeface="Calibri" panose="020F0502020204030204" pitchFamily="34" charset="0"/>
                <a:ea typeface="Calibri" panose="020F0502020204030204" pitchFamily="34" charset="-122"/>
                <a:cs typeface="Calibri" panose="020F0502020204030204" pitchFamily="34" charset="-120"/>
              </a:rPr>
              <a:t>Forecast Accuracy %</a:t>
            </a:r>
            <a:endParaRPr lang="en-US" sz="1350" dirty="0"/>
          </a:p>
        </p:txBody>
      </p:sp>
      <p:sp>
        <p:nvSpPr>
          <p:cNvPr id="23" name="Text 21"/>
          <p:cNvSpPr/>
          <p:nvPr/>
        </p:nvSpPr>
        <p:spPr>
          <a:xfrm>
            <a:off x="731520" y="5029200"/>
            <a:ext cx="3148584" cy="960120"/>
          </a:xfrm>
          <a:prstGeom prst="rect">
            <a:avLst/>
          </a:prstGeom>
          <a:noFill/>
        </p:spPr>
        <p:txBody>
          <a:bodyPr wrap="square" rtlCol="0" anchor="ctr"/>
          <a:lstStyle/>
          <a:p>
            <a:pPr marL="0" indent="0">
              <a:lnSpc>
                <a:spcPct val="120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How closely actual call volume tracked the forecasted volume.</a:t>
            </a:r>
            <a:endParaRPr lang="en-US" sz="1080" dirty="0"/>
          </a:p>
        </p:txBody>
      </p:sp>
      <p:sp>
        <p:nvSpPr>
          <p:cNvPr id="24" name="Shape 22"/>
          <p:cNvSpPr/>
          <p:nvPr/>
        </p:nvSpPr>
        <p:spPr>
          <a:xfrm>
            <a:off x="4291584" y="3749040"/>
            <a:ext cx="3605784" cy="2331720"/>
          </a:xfrm>
          <a:prstGeom prst="roundRect">
            <a:avLst>
              <a:gd name="adj" fmla="val 352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5" name="Shape 23"/>
          <p:cNvSpPr/>
          <p:nvPr/>
        </p:nvSpPr>
        <p:spPr>
          <a:xfrm>
            <a:off x="4520184" y="3977640"/>
            <a:ext cx="1371600" cy="457200"/>
          </a:xfrm>
          <a:prstGeom prst="roundRect">
            <a:avLst>
              <a:gd name="adj" fmla="val 14000"/>
            </a:avLst>
          </a:prstGeom>
          <a:solidFill>
            <a:srgbClr val="024958"/>
          </a:solidFill>
        </p:spPr>
      </p:sp>
      <p:sp>
        <p:nvSpPr>
          <p:cNvPr id="26" name="Text 24"/>
          <p:cNvSpPr/>
          <p:nvPr/>
        </p:nvSpPr>
        <p:spPr>
          <a:xfrm>
            <a:off x="4520184" y="3977640"/>
            <a:ext cx="13716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1.72M</a:t>
            </a:r>
            <a:endParaRPr lang="en-US" sz="1500" dirty="0"/>
          </a:p>
        </p:txBody>
      </p:sp>
      <p:sp>
        <p:nvSpPr>
          <p:cNvPr id="27" name="Text 25"/>
          <p:cNvSpPr/>
          <p:nvPr/>
        </p:nvSpPr>
        <p:spPr>
          <a:xfrm>
            <a:off x="4520184" y="4617720"/>
            <a:ext cx="3148584" cy="411480"/>
          </a:xfrm>
          <a:prstGeom prst="rect">
            <a:avLst/>
          </a:prstGeom>
          <a:noFill/>
        </p:spPr>
        <p:txBody>
          <a:bodyPr wrap="square" rtlCol="0" anchor="ctr"/>
          <a:lstStyle/>
          <a:p>
            <a:pPr marL="0" indent="0">
              <a:buNone/>
            </a:pPr>
            <a:r>
              <a:rPr lang="en-US" sz="1350" b="1" dirty="0">
                <a:solidFill>
                  <a:srgbClr val="024958"/>
                </a:solidFill>
                <a:latin typeface="Calibri" panose="020F0502020204030204" pitchFamily="34" charset="0"/>
                <a:ea typeface="Calibri" panose="020F0502020204030204" pitchFamily="34" charset="-122"/>
                <a:cs typeface="Calibri" panose="020F0502020204030204" pitchFamily="34" charset="-120"/>
              </a:rPr>
              <a:t>Calls Handled</a:t>
            </a:r>
            <a:endParaRPr lang="en-US" sz="1350" dirty="0"/>
          </a:p>
        </p:txBody>
      </p:sp>
      <p:sp>
        <p:nvSpPr>
          <p:cNvPr id="28" name="Text 26"/>
          <p:cNvSpPr/>
          <p:nvPr/>
        </p:nvSpPr>
        <p:spPr>
          <a:xfrm>
            <a:off x="4520184" y="5029200"/>
            <a:ext cx="3148584" cy="960120"/>
          </a:xfrm>
          <a:prstGeom prst="rect">
            <a:avLst/>
          </a:prstGeom>
          <a:noFill/>
        </p:spPr>
        <p:txBody>
          <a:bodyPr wrap="square" rtlCol="0" anchor="ctr"/>
          <a:lstStyle/>
          <a:p>
            <a:pPr marL="0" indent="0">
              <a:lnSpc>
                <a:spcPct val="120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Total calls successfully answered by agents.</a:t>
            </a:r>
            <a:endParaRPr lang="en-US" sz="1080" dirty="0"/>
          </a:p>
        </p:txBody>
      </p:sp>
      <p:sp>
        <p:nvSpPr>
          <p:cNvPr id="29" name="Shape 27"/>
          <p:cNvSpPr/>
          <p:nvPr/>
        </p:nvSpPr>
        <p:spPr>
          <a:xfrm>
            <a:off x="8080248" y="3749040"/>
            <a:ext cx="3605784" cy="2331720"/>
          </a:xfrm>
          <a:prstGeom prst="roundRect">
            <a:avLst>
              <a:gd name="adj" fmla="val 352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30" name="Shape 28"/>
          <p:cNvSpPr/>
          <p:nvPr/>
        </p:nvSpPr>
        <p:spPr>
          <a:xfrm>
            <a:off x="8308848" y="3977640"/>
            <a:ext cx="1371600" cy="457200"/>
          </a:xfrm>
          <a:prstGeom prst="roundRect">
            <a:avLst>
              <a:gd name="adj" fmla="val 14000"/>
            </a:avLst>
          </a:prstGeom>
          <a:solidFill>
            <a:srgbClr val="024958"/>
          </a:solidFill>
        </p:spPr>
      </p:sp>
      <p:sp>
        <p:nvSpPr>
          <p:cNvPr id="31" name="Text 29"/>
          <p:cNvSpPr/>
          <p:nvPr/>
        </p:nvSpPr>
        <p:spPr>
          <a:xfrm>
            <a:off x="8308848" y="3977640"/>
            <a:ext cx="13716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81.7 avg</a:t>
            </a:r>
            <a:endParaRPr lang="en-US" sz="1500" dirty="0"/>
          </a:p>
        </p:txBody>
      </p:sp>
      <p:sp>
        <p:nvSpPr>
          <p:cNvPr id="32" name="Text 30"/>
          <p:cNvSpPr/>
          <p:nvPr/>
        </p:nvSpPr>
        <p:spPr>
          <a:xfrm>
            <a:off x="8308848" y="4617720"/>
            <a:ext cx="3148584" cy="411480"/>
          </a:xfrm>
          <a:prstGeom prst="rect">
            <a:avLst/>
          </a:prstGeom>
          <a:noFill/>
        </p:spPr>
        <p:txBody>
          <a:bodyPr wrap="square" rtlCol="0" anchor="ctr"/>
          <a:lstStyle/>
          <a:p>
            <a:pPr marL="0" indent="0">
              <a:buNone/>
            </a:pPr>
            <a:r>
              <a:rPr lang="en-US" sz="1350" b="1" dirty="0">
                <a:solidFill>
                  <a:srgbClr val="024958"/>
                </a:solidFill>
                <a:latin typeface="Calibri" panose="020F0502020204030204" pitchFamily="34" charset="0"/>
                <a:ea typeface="Calibri" panose="020F0502020204030204" pitchFamily="34" charset="-122"/>
                <a:cs typeface="Calibri" panose="020F0502020204030204" pitchFamily="34" charset="-120"/>
              </a:rPr>
              <a:t>Project Performance Score</a:t>
            </a:r>
            <a:endParaRPr lang="en-US" sz="1350" dirty="0"/>
          </a:p>
        </p:txBody>
      </p:sp>
      <p:sp>
        <p:nvSpPr>
          <p:cNvPr id="33" name="Text 31"/>
          <p:cNvSpPr/>
          <p:nvPr/>
        </p:nvSpPr>
        <p:spPr>
          <a:xfrm>
            <a:off x="8308848" y="5029200"/>
            <a:ext cx="3148584" cy="960120"/>
          </a:xfrm>
          <a:prstGeom prst="rect">
            <a:avLst/>
          </a:prstGeom>
          <a:noFill/>
        </p:spPr>
        <p:txBody>
          <a:bodyPr wrap="square" rtlCol="0" anchor="ctr"/>
          <a:lstStyle/>
          <a:p>
            <a:pPr marL="0" indent="0">
              <a:lnSpc>
                <a:spcPct val="120000"/>
              </a:lnSpc>
              <a:buNone/>
            </a:pPr>
            <a:r>
              <a:rPr lang="en-US" sz="1080" dirty="0">
                <a:solidFill>
                  <a:srgbClr val="17262B"/>
                </a:solidFill>
                <a:latin typeface="Calibri" panose="020F0502020204030204" pitchFamily="34" charset="0"/>
                <a:ea typeface="Calibri" panose="020F0502020204030204" pitchFamily="34" charset="-122"/>
                <a:cs typeface="Calibri" panose="020F0502020204030204" pitchFamily="34" charset="-120"/>
              </a:rPr>
              <a:t>Composite score combining Service Level, ASA and Abandon Rate by project.</a:t>
            </a:r>
            <a:endParaRPr lang="en-US" sz="1080" dirty="0"/>
          </a:p>
        </p:txBody>
      </p:sp>
      <p:sp>
        <p:nvSpPr>
          <p:cNvPr id="34" name="Text 32"/>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06</a:t>
            </a:r>
            <a:endParaRPr lang="en-US" sz="1000" dirty="0"/>
          </a:p>
        </p:txBody>
      </p:sp>
      <p:sp>
        <p:nvSpPr>
          <p:cNvPr id="35" name="Text 33"/>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OPERATIONAL PERFORMANCE</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Overall Operational Performance — Feb to Apr 2022</a:t>
            </a:r>
            <a:endParaRPr lang="en-US" sz="2800" dirty="0"/>
          </a:p>
        </p:txBody>
      </p:sp>
      <p:sp>
        <p:nvSpPr>
          <p:cNvPr id="4" name="Shape 2"/>
          <p:cNvSpPr/>
          <p:nvPr/>
        </p:nvSpPr>
        <p:spPr>
          <a:xfrm>
            <a:off x="502920" y="1188720"/>
            <a:ext cx="2090318" cy="960120"/>
          </a:xfrm>
          <a:prstGeom prst="roundRect">
            <a:avLst>
              <a:gd name="adj" fmla="val 7619"/>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5" name="Text 3"/>
          <p:cNvSpPr/>
          <p:nvPr/>
        </p:nvSpPr>
        <p:spPr>
          <a:xfrm>
            <a:off x="594360" y="1361542"/>
            <a:ext cx="1907438" cy="480060"/>
          </a:xfrm>
          <a:prstGeom prst="rect">
            <a:avLst/>
          </a:prstGeom>
          <a:noFill/>
        </p:spPr>
        <p:txBody>
          <a:bodyPr wrap="square" rtlCol="0" anchor="ctr"/>
          <a:lstStyle/>
          <a:p>
            <a:pPr marL="0" indent="0" algn="ctr">
              <a:buNone/>
            </a:pPr>
            <a:r>
              <a:rPr lang="en-US" sz="1800" b="1" dirty="0">
                <a:solidFill>
                  <a:srgbClr val="024958"/>
                </a:solidFill>
                <a:latin typeface="Cambria" panose="02040503050406030204" pitchFamily="34" charset="0"/>
                <a:ea typeface="Cambria" panose="02040503050406030204" pitchFamily="34" charset="-122"/>
                <a:cs typeface="Cambria" panose="02040503050406030204" pitchFamily="34" charset="-120"/>
              </a:rPr>
              <a:t>1,744,885</a:t>
            </a:r>
            <a:endParaRPr lang="en-US" sz="1800" dirty="0"/>
          </a:p>
        </p:txBody>
      </p:sp>
      <p:sp>
        <p:nvSpPr>
          <p:cNvPr id="6" name="Text 4"/>
          <p:cNvSpPr/>
          <p:nvPr/>
        </p:nvSpPr>
        <p:spPr>
          <a:xfrm>
            <a:off x="576072" y="1841602"/>
            <a:ext cx="1944014" cy="268834"/>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CALLS OFFERED</a:t>
            </a:r>
            <a:endParaRPr lang="en-US" sz="950" dirty="0"/>
          </a:p>
        </p:txBody>
      </p:sp>
      <p:sp>
        <p:nvSpPr>
          <p:cNvPr id="7" name="Shape 5"/>
          <p:cNvSpPr/>
          <p:nvPr/>
        </p:nvSpPr>
        <p:spPr>
          <a:xfrm>
            <a:off x="2776118" y="1188720"/>
            <a:ext cx="2090318" cy="960120"/>
          </a:xfrm>
          <a:prstGeom prst="roundRect">
            <a:avLst>
              <a:gd name="adj" fmla="val 7619"/>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8" name="Text 6"/>
          <p:cNvSpPr/>
          <p:nvPr/>
        </p:nvSpPr>
        <p:spPr>
          <a:xfrm>
            <a:off x="2867558" y="1361542"/>
            <a:ext cx="1907438" cy="480060"/>
          </a:xfrm>
          <a:prstGeom prst="rect">
            <a:avLst/>
          </a:prstGeom>
          <a:noFill/>
        </p:spPr>
        <p:txBody>
          <a:bodyPr wrap="square" rtlCol="0" anchor="ctr"/>
          <a:lstStyle/>
          <a:p>
            <a:pPr marL="0" indent="0" algn="ctr">
              <a:buNone/>
            </a:pPr>
            <a:r>
              <a:rPr lang="en-US" sz="1800" b="1" dirty="0">
                <a:solidFill>
                  <a:srgbClr val="024958"/>
                </a:solidFill>
                <a:latin typeface="Cambria" panose="02040503050406030204" pitchFamily="34" charset="0"/>
                <a:ea typeface="Cambria" panose="02040503050406030204" pitchFamily="34" charset="-122"/>
                <a:cs typeface="Cambria" panose="02040503050406030204" pitchFamily="34" charset="-120"/>
              </a:rPr>
              <a:t>1,721,842</a:t>
            </a:r>
            <a:endParaRPr lang="en-US" sz="1800" dirty="0"/>
          </a:p>
        </p:txBody>
      </p:sp>
      <p:sp>
        <p:nvSpPr>
          <p:cNvPr id="9" name="Text 7"/>
          <p:cNvSpPr/>
          <p:nvPr/>
        </p:nvSpPr>
        <p:spPr>
          <a:xfrm>
            <a:off x="2849270" y="1841602"/>
            <a:ext cx="1944014" cy="268834"/>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CALLS HANDLED</a:t>
            </a:r>
            <a:endParaRPr lang="en-US" sz="950" dirty="0"/>
          </a:p>
        </p:txBody>
      </p:sp>
      <p:sp>
        <p:nvSpPr>
          <p:cNvPr id="10" name="Shape 8"/>
          <p:cNvSpPr/>
          <p:nvPr/>
        </p:nvSpPr>
        <p:spPr>
          <a:xfrm>
            <a:off x="5049317" y="1188720"/>
            <a:ext cx="2090318" cy="960120"/>
          </a:xfrm>
          <a:prstGeom prst="roundRect">
            <a:avLst>
              <a:gd name="adj" fmla="val 7619"/>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1" name="Text 9"/>
          <p:cNvSpPr/>
          <p:nvPr/>
        </p:nvSpPr>
        <p:spPr>
          <a:xfrm>
            <a:off x="5140757" y="1361542"/>
            <a:ext cx="1907438" cy="480060"/>
          </a:xfrm>
          <a:prstGeom prst="rect">
            <a:avLst/>
          </a:prstGeom>
          <a:noFill/>
        </p:spPr>
        <p:txBody>
          <a:bodyPr wrap="square" rtlCol="0" anchor="ctr"/>
          <a:lstStyle/>
          <a:p>
            <a:pPr marL="0" indent="0" algn="ctr">
              <a:buNone/>
            </a:pPr>
            <a:r>
              <a:rPr lang="en-US" sz="1800" b="1" dirty="0">
                <a:solidFill>
                  <a:srgbClr val="024958"/>
                </a:solidFill>
                <a:latin typeface="Cambria" panose="02040503050406030204" pitchFamily="34" charset="0"/>
                <a:ea typeface="Cambria" panose="02040503050406030204" pitchFamily="34" charset="-122"/>
                <a:cs typeface="Cambria" panose="02040503050406030204" pitchFamily="34" charset="-120"/>
              </a:rPr>
              <a:t>1,588,884</a:t>
            </a:r>
            <a:endParaRPr lang="en-US" sz="1800" dirty="0"/>
          </a:p>
        </p:txBody>
      </p:sp>
      <p:sp>
        <p:nvSpPr>
          <p:cNvPr id="12" name="Text 10"/>
          <p:cNvSpPr/>
          <p:nvPr/>
        </p:nvSpPr>
        <p:spPr>
          <a:xfrm>
            <a:off x="5122469" y="1841602"/>
            <a:ext cx="1944014" cy="268834"/>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HANDLED WITHIN THRESHOLD</a:t>
            </a:r>
            <a:endParaRPr lang="en-US" sz="950" dirty="0"/>
          </a:p>
        </p:txBody>
      </p:sp>
      <p:sp>
        <p:nvSpPr>
          <p:cNvPr id="13" name="Shape 11"/>
          <p:cNvSpPr/>
          <p:nvPr/>
        </p:nvSpPr>
        <p:spPr>
          <a:xfrm>
            <a:off x="7322515" y="1188720"/>
            <a:ext cx="2090318" cy="960120"/>
          </a:xfrm>
          <a:prstGeom prst="roundRect">
            <a:avLst>
              <a:gd name="adj" fmla="val 7619"/>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4" name="Text 12"/>
          <p:cNvSpPr/>
          <p:nvPr/>
        </p:nvSpPr>
        <p:spPr>
          <a:xfrm>
            <a:off x="7413955" y="1361542"/>
            <a:ext cx="1907438" cy="480060"/>
          </a:xfrm>
          <a:prstGeom prst="rect">
            <a:avLst/>
          </a:prstGeom>
          <a:noFill/>
        </p:spPr>
        <p:txBody>
          <a:bodyPr wrap="square" rtlCol="0" anchor="ctr"/>
          <a:lstStyle/>
          <a:p>
            <a:pPr marL="0" indent="0" algn="ctr">
              <a:buNone/>
            </a:pPr>
            <a:r>
              <a:rPr lang="en-US" sz="1800" b="1" dirty="0">
                <a:solidFill>
                  <a:srgbClr val="024958"/>
                </a:solidFill>
                <a:latin typeface="Cambria" panose="02040503050406030204" pitchFamily="34" charset="0"/>
                <a:ea typeface="Cambria" panose="02040503050406030204" pitchFamily="34" charset="-122"/>
                <a:cs typeface="Cambria" panose="02040503050406030204" pitchFamily="34" charset="-120"/>
              </a:rPr>
              <a:t>23,043</a:t>
            </a:r>
            <a:endParaRPr lang="en-US" sz="1800" dirty="0"/>
          </a:p>
        </p:txBody>
      </p:sp>
      <p:sp>
        <p:nvSpPr>
          <p:cNvPr id="15" name="Text 13"/>
          <p:cNvSpPr/>
          <p:nvPr/>
        </p:nvSpPr>
        <p:spPr>
          <a:xfrm>
            <a:off x="7395667" y="1841602"/>
            <a:ext cx="1944014" cy="268834"/>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CALLS ABANDONED</a:t>
            </a:r>
            <a:endParaRPr lang="en-US" sz="950" dirty="0"/>
          </a:p>
        </p:txBody>
      </p:sp>
      <p:sp>
        <p:nvSpPr>
          <p:cNvPr id="16" name="Shape 14"/>
          <p:cNvSpPr/>
          <p:nvPr/>
        </p:nvSpPr>
        <p:spPr>
          <a:xfrm>
            <a:off x="9595714" y="1188720"/>
            <a:ext cx="2090318" cy="960120"/>
          </a:xfrm>
          <a:prstGeom prst="roundRect">
            <a:avLst>
              <a:gd name="adj" fmla="val 7619"/>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7" name="Text 15"/>
          <p:cNvSpPr/>
          <p:nvPr/>
        </p:nvSpPr>
        <p:spPr>
          <a:xfrm>
            <a:off x="9687154" y="1361542"/>
            <a:ext cx="1907438" cy="480060"/>
          </a:xfrm>
          <a:prstGeom prst="rect">
            <a:avLst/>
          </a:prstGeom>
          <a:noFill/>
        </p:spPr>
        <p:txBody>
          <a:bodyPr wrap="square" rtlCol="0" anchor="ctr"/>
          <a:lstStyle/>
          <a:p>
            <a:pPr marL="0" indent="0" algn="ctr">
              <a:buNone/>
            </a:pPr>
            <a:r>
              <a:rPr lang="en-US" sz="1800" b="1" dirty="0">
                <a:solidFill>
                  <a:srgbClr val="024958"/>
                </a:solidFill>
                <a:latin typeface="Cambria" panose="02040503050406030204" pitchFamily="34" charset="0"/>
                <a:ea typeface="Cambria" panose="02040503050406030204" pitchFamily="34" charset="-122"/>
                <a:cs typeface="Cambria" panose="02040503050406030204" pitchFamily="34" charset="-120"/>
              </a:rPr>
              <a:t>9.63</a:t>
            </a:r>
            <a:endParaRPr lang="en-US" sz="1800" dirty="0"/>
          </a:p>
        </p:txBody>
      </p:sp>
      <p:sp>
        <p:nvSpPr>
          <p:cNvPr id="18" name="Text 16"/>
          <p:cNvSpPr/>
          <p:nvPr/>
        </p:nvSpPr>
        <p:spPr>
          <a:xfrm>
            <a:off x="9668866" y="1841602"/>
            <a:ext cx="1944014" cy="268834"/>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ASA SCORE</a:t>
            </a:r>
            <a:endParaRPr lang="en-US" sz="950" dirty="0"/>
          </a:p>
        </p:txBody>
      </p:sp>
      <p:sp>
        <p:nvSpPr>
          <p:cNvPr id="19" name="Shape 17"/>
          <p:cNvSpPr/>
          <p:nvPr/>
        </p:nvSpPr>
        <p:spPr>
          <a:xfrm>
            <a:off x="502920" y="2331720"/>
            <a:ext cx="6080760" cy="3977640"/>
          </a:xfrm>
          <a:prstGeom prst="roundRect">
            <a:avLst>
              <a:gd name="adj" fmla="val 206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0" name="Shape 18"/>
          <p:cNvSpPr/>
          <p:nvPr/>
        </p:nvSpPr>
        <p:spPr>
          <a:xfrm>
            <a:off x="731520" y="2542032"/>
            <a:ext cx="201168" cy="201168"/>
          </a:xfrm>
          <a:prstGeom prst="roundRect">
            <a:avLst>
              <a:gd name="adj" fmla="val 18182"/>
            </a:avLst>
          </a:prstGeom>
          <a:solidFill>
            <a:srgbClr val="2EC4B6"/>
          </a:solidFill>
        </p:spPr>
      </p:sp>
      <p:sp>
        <p:nvSpPr>
          <p:cNvPr id="21" name="Text 19"/>
          <p:cNvSpPr/>
          <p:nvPr/>
        </p:nvSpPr>
        <p:spPr>
          <a:xfrm>
            <a:off x="1024128" y="2487168"/>
            <a:ext cx="528523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Monthly Operational Trend</a:t>
            </a:r>
            <a:endParaRPr lang="en-US" sz="1500" dirty="0"/>
          </a:p>
        </p:txBody>
      </p:sp>
      <p:graphicFrame>
        <p:nvGraphicFramePr>
          <p:cNvPr id="22" name="Chart 0"/>
          <p:cNvGraphicFramePr/>
          <p:nvPr/>
        </p:nvGraphicFramePr>
        <p:xfrm>
          <a:off x="731520" y="2926080"/>
          <a:ext cx="5623560" cy="1600200"/>
        </p:xfrm>
        <a:graphic>
          <a:graphicData uri="http://schemas.openxmlformats.org/drawingml/2006/chart">
            <c:chart xmlns:c="http://schemas.openxmlformats.org/drawingml/2006/chart" xmlns:r="http://schemas.openxmlformats.org/officeDocument/2006/relationships" r:id="rId1"/>
          </a:graphicData>
        </a:graphic>
      </p:graphicFrame>
      <p:sp>
        <p:nvSpPr>
          <p:cNvPr id="23" name="Text 20"/>
          <p:cNvSpPr/>
          <p:nvPr/>
        </p:nvSpPr>
        <p:spPr>
          <a:xfrm>
            <a:off x="731520" y="2743200"/>
            <a:ext cx="4572000" cy="228600"/>
          </a:xfrm>
          <a:prstGeom prst="rect">
            <a:avLst/>
          </a:prstGeom>
          <a:noFill/>
        </p:spPr>
        <p:txBody>
          <a:bodyPr wrap="square" rtlCol="0" anchor="ctr"/>
          <a:lstStyle/>
          <a:p>
            <a:pPr marL="0" indent="0">
              <a:buNone/>
            </a:pPr>
            <a:r>
              <a:rPr lang="en-US" sz="1000" b="1" dirty="0">
                <a:solidFill>
                  <a:srgbClr val="5B6E73"/>
                </a:solidFill>
                <a:latin typeface="Calibri" panose="020F0502020204030204" pitchFamily="34" charset="0"/>
                <a:ea typeface="Calibri" panose="020F0502020204030204" pitchFamily="34" charset="-122"/>
                <a:cs typeface="Calibri" panose="020F0502020204030204" pitchFamily="34" charset="-120"/>
              </a:rPr>
              <a:t>Service Level % by Month</a:t>
            </a:r>
            <a:endParaRPr lang="en-US" sz="1000" dirty="0"/>
          </a:p>
        </p:txBody>
      </p:sp>
      <p:graphicFrame>
        <p:nvGraphicFramePr>
          <p:cNvPr id="24" name="Chart 1"/>
          <p:cNvGraphicFramePr/>
          <p:nvPr/>
        </p:nvGraphicFramePr>
        <p:xfrm>
          <a:off x="731520" y="4663440"/>
          <a:ext cx="5623560" cy="1508760"/>
        </p:xfrm>
        <a:graphic>
          <a:graphicData uri="http://schemas.openxmlformats.org/drawingml/2006/chart">
            <c:chart xmlns:c="http://schemas.openxmlformats.org/drawingml/2006/chart" xmlns:r="http://schemas.openxmlformats.org/officeDocument/2006/relationships" r:id="rId2"/>
          </a:graphicData>
        </a:graphic>
      </p:graphicFrame>
      <p:sp>
        <p:nvSpPr>
          <p:cNvPr id="25" name="Text 21"/>
          <p:cNvSpPr/>
          <p:nvPr/>
        </p:nvSpPr>
        <p:spPr>
          <a:xfrm>
            <a:off x="731520" y="4480560"/>
            <a:ext cx="4572000" cy="228600"/>
          </a:xfrm>
          <a:prstGeom prst="rect">
            <a:avLst/>
          </a:prstGeom>
          <a:noFill/>
        </p:spPr>
        <p:txBody>
          <a:bodyPr wrap="square" rtlCol="0" anchor="ctr"/>
          <a:lstStyle/>
          <a:p>
            <a:pPr marL="0" indent="0">
              <a:buNone/>
            </a:pPr>
            <a:r>
              <a:rPr lang="en-US" sz="1000" b="1" dirty="0">
                <a:solidFill>
                  <a:srgbClr val="5B6E73"/>
                </a:solidFill>
                <a:latin typeface="Calibri" panose="020F0502020204030204" pitchFamily="34" charset="0"/>
                <a:ea typeface="Calibri" panose="020F0502020204030204" pitchFamily="34" charset="-122"/>
                <a:cs typeface="Calibri" panose="020F0502020204030204" pitchFamily="34" charset="-120"/>
              </a:rPr>
              <a:t>Calls Offered by Month</a:t>
            </a:r>
            <a:endParaRPr lang="en-US" sz="1000" dirty="0"/>
          </a:p>
        </p:txBody>
      </p:sp>
      <p:sp>
        <p:nvSpPr>
          <p:cNvPr id="26" name="Shape 22"/>
          <p:cNvSpPr/>
          <p:nvPr/>
        </p:nvSpPr>
        <p:spPr>
          <a:xfrm>
            <a:off x="6766560" y="2331720"/>
            <a:ext cx="4937760" cy="3977640"/>
          </a:xfrm>
          <a:prstGeom prst="roundRect">
            <a:avLst>
              <a:gd name="adj" fmla="val 206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7" name="Shape 23"/>
          <p:cNvSpPr/>
          <p:nvPr/>
        </p:nvSpPr>
        <p:spPr>
          <a:xfrm>
            <a:off x="6995160" y="2542032"/>
            <a:ext cx="201168" cy="201168"/>
          </a:xfrm>
          <a:prstGeom prst="roundRect">
            <a:avLst>
              <a:gd name="adj" fmla="val 18182"/>
            </a:avLst>
          </a:prstGeom>
          <a:solidFill>
            <a:srgbClr val="2EC4B6"/>
          </a:solidFill>
        </p:spPr>
      </p:sp>
      <p:sp>
        <p:nvSpPr>
          <p:cNvPr id="28" name="Text 24"/>
          <p:cNvSpPr/>
          <p:nvPr/>
        </p:nvSpPr>
        <p:spPr>
          <a:xfrm>
            <a:off x="7287768" y="2487168"/>
            <a:ext cx="418795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Reading the Trend</a:t>
            </a:r>
            <a:endParaRPr lang="en-US" sz="1500" dirty="0"/>
          </a:p>
        </p:txBody>
      </p:sp>
      <p:sp>
        <p:nvSpPr>
          <p:cNvPr id="29" name="Text 25"/>
          <p:cNvSpPr/>
          <p:nvPr/>
        </p:nvSpPr>
        <p:spPr>
          <a:xfrm>
            <a:off x="6995160" y="2926080"/>
            <a:ext cx="4480560" cy="914400"/>
          </a:xfrm>
          <a:prstGeom prst="rect">
            <a:avLst/>
          </a:prstGeom>
          <a:noFill/>
        </p:spPr>
        <p:txBody>
          <a:bodyPr wrap="square" rtlCol="0" anchor="ctr"/>
          <a:lstStyle/>
          <a:p>
            <a:pPr marL="0" indent="0">
              <a:lnSpc>
                <a:spcPct val="125000"/>
              </a:lnSpc>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Call volume was heavily concentrated in March (876K offered vs. ~446K and ~422K in February and April), and Service Level dipped to 87.06% that same month while ASA rose to 14.4 seconds.</a:t>
            </a:r>
            <a:endParaRPr lang="en-US" sz="1150" dirty="0"/>
          </a:p>
        </p:txBody>
      </p:sp>
      <p:sp>
        <p:nvSpPr>
          <p:cNvPr id="30" name="Text 26"/>
          <p:cNvSpPr/>
          <p:nvPr/>
        </p:nvSpPr>
        <p:spPr>
          <a:xfrm>
            <a:off x="6995160" y="3931920"/>
            <a:ext cx="4480560" cy="777240"/>
          </a:xfrm>
          <a:prstGeom prst="rect">
            <a:avLst/>
          </a:prstGeom>
          <a:noFill/>
        </p:spPr>
        <p:txBody>
          <a:bodyPr wrap="square" rtlCol="0" anchor="ctr"/>
          <a:lstStyle/>
          <a:p>
            <a:pPr marL="0" indent="0">
              <a:lnSpc>
                <a:spcPct val="125000"/>
              </a:lnSpc>
              <a:buNone/>
            </a:pPr>
            <a:r>
              <a:rPr lang="en-US" sz="1150" dirty="0">
                <a:solidFill>
                  <a:srgbClr val="17262B"/>
                </a:solidFill>
                <a:latin typeface="Calibri" panose="020F0502020204030204" pitchFamily="34" charset="0"/>
                <a:ea typeface="Calibri" panose="020F0502020204030204" pitchFamily="34" charset="-122"/>
                <a:cs typeface="Calibri" panose="020F0502020204030204" pitchFamily="34" charset="-120"/>
              </a:rPr>
              <a:t>February and April, with lower and more moderate call volume, both maintained Service Level above 94% and abandon rates under 0.5%.</a:t>
            </a:r>
            <a:endParaRPr lang="en-US" sz="1150" dirty="0"/>
          </a:p>
        </p:txBody>
      </p:sp>
      <p:sp>
        <p:nvSpPr>
          <p:cNvPr id="31" name="Shape 27"/>
          <p:cNvSpPr/>
          <p:nvPr/>
        </p:nvSpPr>
        <p:spPr>
          <a:xfrm>
            <a:off x="6995160" y="4846320"/>
            <a:ext cx="4480560" cy="1188720"/>
          </a:xfrm>
          <a:prstGeom prst="roundRect">
            <a:avLst>
              <a:gd name="adj" fmla="val 6154"/>
            </a:avLst>
          </a:prstGeom>
          <a:solidFill>
            <a:srgbClr val="024958"/>
          </a:solidFill>
        </p:spPr>
      </p:sp>
      <p:sp>
        <p:nvSpPr>
          <p:cNvPr id="32" name="Text 28"/>
          <p:cNvSpPr/>
          <p:nvPr/>
        </p:nvSpPr>
        <p:spPr>
          <a:xfrm>
            <a:off x="7223760" y="4846320"/>
            <a:ext cx="4023360" cy="1188720"/>
          </a:xfrm>
          <a:prstGeom prst="rect">
            <a:avLst/>
          </a:prstGeom>
          <a:noFill/>
        </p:spPr>
        <p:txBody>
          <a:bodyPr wrap="square" rtlCol="0" anchor="ctr"/>
          <a:lstStyle/>
          <a:p>
            <a:pPr marL="0" indent="0">
              <a:lnSpc>
                <a:spcPct val="120000"/>
              </a:lnSpc>
              <a:buNone/>
            </a:pPr>
            <a:r>
              <a:rPr lang="en-US" sz="1100" i="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Operational read: Service Level moves inversely with call volume — March's demand spike is the primary driver of the quarter's weakest service performance.</a:t>
            </a:r>
            <a:endParaRPr lang="en-US" sz="1100" dirty="0"/>
          </a:p>
        </p:txBody>
      </p:sp>
      <p:sp>
        <p:nvSpPr>
          <p:cNvPr id="33" name="Text 29"/>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07</a:t>
            </a:r>
            <a:endParaRPr lang="en-US" sz="1000" dirty="0"/>
          </a:p>
        </p:txBody>
      </p:sp>
      <p:sp>
        <p:nvSpPr>
          <p:cNvPr id="34" name="Text 30"/>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PROJECT ANALYSIS</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Project Performance Analysis</a:t>
            </a:r>
            <a:endParaRPr lang="en-US" sz="2800" dirty="0"/>
          </a:p>
        </p:txBody>
      </p:sp>
      <p:sp>
        <p:nvSpPr>
          <p:cNvPr id="4" name="Shape 2"/>
          <p:cNvSpPr/>
          <p:nvPr/>
        </p:nvSpPr>
        <p:spPr>
          <a:xfrm>
            <a:off x="502920" y="1188720"/>
            <a:ext cx="2148840"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5" name="Text 3"/>
          <p:cNvSpPr/>
          <p:nvPr/>
        </p:nvSpPr>
        <p:spPr>
          <a:xfrm>
            <a:off x="594360" y="1345082"/>
            <a:ext cx="1965960" cy="434340"/>
          </a:xfrm>
          <a:prstGeom prst="rect">
            <a:avLst/>
          </a:prstGeom>
          <a:noFill/>
        </p:spPr>
        <p:txBody>
          <a:bodyPr wrap="square" rtlCol="0" anchor="ctr"/>
          <a:lstStyle/>
          <a:p>
            <a:pPr marL="0" indent="0" algn="ctr">
              <a:buNone/>
            </a:pPr>
            <a:r>
              <a:rPr lang="en-US" sz="1700" b="1" dirty="0">
                <a:solidFill>
                  <a:srgbClr val="1E8A6E"/>
                </a:solidFill>
                <a:latin typeface="Cambria" panose="02040503050406030204" pitchFamily="34" charset="0"/>
                <a:ea typeface="Cambria" panose="02040503050406030204" pitchFamily="34" charset="-122"/>
                <a:cs typeface="Cambria" panose="02040503050406030204" pitchFamily="34" charset="-120"/>
              </a:rPr>
              <a:t>Project C</a:t>
            </a:r>
            <a:endParaRPr lang="en-US" sz="1700" dirty="0"/>
          </a:p>
        </p:txBody>
      </p:sp>
      <p:sp>
        <p:nvSpPr>
          <p:cNvPr id="6" name="Text 4"/>
          <p:cNvSpPr/>
          <p:nvPr/>
        </p:nvSpPr>
        <p:spPr>
          <a:xfrm>
            <a:off x="576072" y="1779422"/>
            <a:ext cx="2002536"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BEST PROJECT</a:t>
            </a:r>
            <a:endParaRPr lang="en-US" sz="950" dirty="0"/>
          </a:p>
        </p:txBody>
      </p:sp>
      <p:sp>
        <p:nvSpPr>
          <p:cNvPr id="7" name="Shape 5"/>
          <p:cNvSpPr/>
          <p:nvPr/>
        </p:nvSpPr>
        <p:spPr>
          <a:xfrm>
            <a:off x="2724912" y="1188720"/>
            <a:ext cx="2148840"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8" name="Text 6"/>
          <p:cNvSpPr/>
          <p:nvPr/>
        </p:nvSpPr>
        <p:spPr>
          <a:xfrm>
            <a:off x="2816352" y="1345082"/>
            <a:ext cx="1965960" cy="434340"/>
          </a:xfrm>
          <a:prstGeom prst="rect">
            <a:avLst/>
          </a:prstGeom>
          <a:noFill/>
        </p:spPr>
        <p:txBody>
          <a:bodyPr wrap="square" rtlCol="0" anchor="ctr"/>
          <a:lstStyle/>
          <a:p>
            <a:pPr marL="0" indent="0" algn="ctr">
              <a:buNone/>
            </a:pPr>
            <a:r>
              <a:rPr lang="en-US" sz="1700" b="1" dirty="0">
                <a:solidFill>
                  <a:srgbClr val="B23A34"/>
                </a:solidFill>
                <a:latin typeface="Cambria" panose="02040503050406030204" pitchFamily="34" charset="0"/>
                <a:ea typeface="Cambria" panose="02040503050406030204" pitchFamily="34" charset="-122"/>
                <a:cs typeface="Cambria" panose="02040503050406030204" pitchFamily="34" charset="-120"/>
              </a:rPr>
              <a:t>Project B</a:t>
            </a:r>
            <a:endParaRPr lang="en-US" sz="1700" dirty="0"/>
          </a:p>
        </p:txBody>
      </p:sp>
      <p:sp>
        <p:nvSpPr>
          <p:cNvPr id="9" name="Text 7"/>
          <p:cNvSpPr/>
          <p:nvPr/>
        </p:nvSpPr>
        <p:spPr>
          <a:xfrm>
            <a:off x="2798064" y="1779422"/>
            <a:ext cx="2002536"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WORST PROJECT</a:t>
            </a:r>
            <a:endParaRPr lang="en-US" sz="950" dirty="0"/>
          </a:p>
        </p:txBody>
      </p:sp>
      <p:sp>
        <p:nvSpPr>
          <p:cNvPr id="10" name="Shape 8"/>
          <p:cNvSpPr/>
          <p:nvPr/>
        </p:nvSpPr>
        <p:spPr>
          <a:xfrm>
            <a:off x="4946904" y="1188720"/>
            <a:ext cx="2148840"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1" name="Text 9"/>
          <p:cNvSpPr/>
          <p:nvPr/>
        </p:nvSpPr>
        <p:spPr>
          <a:xfrm>
            <a:off x="5038344" y="1345082"/>
            <a:ext cx="1965960" cy="434340"/>
          </a:xfrm>
          <a:prstGeom prst="rect">
            <a:avLst/>
          </a:prstGeom>
          <a:noFill/>
        </p:spPr>
        <p:txBody>
          <a:bodyPr wrap="square" rtlCol="0" anchor="ctr"/>
          <a:lstStyle/>
          <a:p>
            <a:pPr marL="0" indent="0" algn="ctr">
              <a:buNone/>
            </a:pPr>
            <a:r>
              <a:rPr lang="en-US" sz="2000" b="1" dirty="0">
                <a:solidFill>
                  <a:srgbClr val="024958"/>
                </a:solidFill>
                <a:latin typeface="Cambria" panose="02040503050406030204" pitchFamily="34" charset="0"/>
                <a:ea typeface="Cambria" panose="02040503050406030204" pitchFamily="34" charset="-122"/>
                <a:cs typeface="Cambria" panose="02040503050406030204" pitchFamily="34" charset="-120"/>
              </a:rPr>
              <a:t>81.67</a:t>
            </a:r>
            <a:endParaRPr lang="en-US" sz="2000" dirty="0"/>
          </a:p>
        </p:txBody>
      </p:sp>
      <p:sp>
        <p:nvSpPr>
          <p:cNvPr id="12" name="Text 10"/>
          <p:cNvSpPr/>
          <p:nvPr/>
        </p:nvSpPr>
        <p:spPr>
          <a:xfrm>
            <a:off x="5020056" y="1779422"/>
            <a:ext cx="2002536"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AVG PERFORMANCE SCORE</a:t>
            </a:r>
            <a:endParaRPr lang="en-US" sz="950" dirty="0"/>
          </a:p>
        </p:txBody>
      </p:sp>
      <p:sp>
        <p:nvSpPr>
          <p:cNvPr id="13" name="Shape 11"/>
          <p:cNvSpPr/>
          <p:nvPr/>
        </p:nvSpPr>
        <p:spPr>
          <a:xfrm>
            <a:off x="7168896" y="1188720"/>
            <a:ext cx="2148840"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4" name="Text 12"/>
          <p:cNvSpPr/>
          <p:nvPr/>
        </p:nvSpPr>
        <p:spPr>
          <a:xfrm>
            <a:off x="7260336" y="1345082"/>
            <a:ext cx="1965960" cy="434340"/>
          </a:xfrm>
          <a:prstGeom prst="rect">
            <a:avLst/>
          </a:prstGeom>
          <a:noFill/>
        </p:spPr>
        <p:txBody>
          <a:bodyPr wrap="square" rtlCol="0" anchor="ctr"/>
          <a:lstStyle/>
          <a:p>
            <a:pPr marL="0" indent="0" algn="ctr">
              <a:buNone/>
            </a:pPr>
            <a:r>
              <a:rPr lang="en-US" sz="2000" b="1" dirty="0">
                <a:solidFill>
                  <a:srgbClr val="024958"/>
                </a:solidFill>
                <a:latin typeface="Cambria" panose="02040503050406030204" pitchFamily="34" charset="0"/>
                <a:ea typeface="Cambria" panose="02040503050406030204" pitchFamily="34" charset="-122"/>
                <a:cs typeface="Cambria" panose="02040503050406030204" pitchFamily="34" charset="-120"/>
              </a:rPr>
              <a:t>93.41%</a:t>
            </a:r>
            <a:endParaRPr lang="en-US" sz="2000" dirty="0"/>
          </a:p>
        </p:txBody>
      </p:sp>
      <p:sp>
        <p:nvSpPr>
          <p:cNvPr id="15" name="Text 13"/>
          <p:cNvSpPr/>
          <p:nvPr/>
        </p:nvSpPr>
        <p:spPr>
          <a:xfrm>
            <a:off x="7242048" y="1779422"/>
            <a:ext cx="2002536"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AVG SERVICE LEVEL</a:t>
            </a:r>
            <a:endParaRPr lang="en-US" sz="950" dirty="0"/>
          </a:p>
        </p:txBody>
      </p:sp>
      <p:sp>
        <p:nvSpPr>
          <p:cNvPr id="16" name="Shape 14"/>
          <p:cNvSpPr/>
          <p:nvPr/>
        </p:nvSpPr>
        <p:spPr>
          <a:xfrm>
            <a:off x="9390888" y="1188720"/>
            <a:ext cx="2295144"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7" name="Text 15"/>
          <p:cNvSpPr/>
          <p:nvPr/>
        </p:nvSpPr>
        <p:spPr>
          <a:xfrm>
            <a:off x="9482328" y="1345082"/>
            <a:ext cx="2112264" cy="434340"/>
          </a:xfrm>
          <a:prstGeom prst="rect">
            <a:avLst/>
          </a:prstGeom>
          <a:noFill/>
        </p:spPr>
        <p:txBody>
          <a:bodyPr wrap="square" rtlCol="0" anchor="ctr"/>
          <a:lstStyle/>
          <a:p>
            <a:pPr marL="0" indent="0" algn="ctr">
              <a:buNone/>
            </a:pPr>
            <a:r>
              <a:rPr lang="en-US" sz="2000" b="1" dirty="0">
                <a:solidFill>
                  <a:srgbClr val="024958"/>
                </a:solidFill>
                <a:latin typeface="Cambria" panose="02040503050406030204" pitchFamily="34" charset="0"/>
                <a:ea typeface="Cambria" panose="02040503050406030204" pitchFamily="34" charset="-122"/>
                <a:cs typeface="Cambria" panose="02040503050406030204" pitchFamily="34" charset="-120"/>
              </a:rPr>
              <a:t>1.16%</a:t>
            </a:r>
            <a:endParaRPr lang="en-US" sz="2000" dirty="0"/>
          </a:p>
        </p:txBody>
      </p:sp>
      <p:sp>
        <p:nvSpPr>
          <p:cNvPr id="18" name="Text 16"/>
          <p:cNvSpPr/>
          <p:nvPr/>
        </p:nvSpPr>
        <p:spPr>
          <a:xfrm>
            <a:off x="9464040" y="1779422"/>
            <a:ext cx="2148840"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AVG ABANDON RATE</a:t>
            </a:r>
            <a:endParaRPr lang="en-US" sz="950" dirty="0"/>
          </a:p>
        </p:txBody>
      </p:sp>
      <p:sp>
        <p:nvSpPr>
          <p:cNvPr id="19" name="Shape 17"/>
          <p:cNvSpPr/>
          <p:nvPr/>
        </p:nvSpPr>
        <p:spPr>
          <a:xfrm>
            <a:off x="502920" y="2212848"/>
            <a:ext cx="4206240" cy="4114800"/>
          </a:xfrm>
          <a:prstGeom prst="roundRect">
            <a:avLst>
              <a:gd name="adj" fmla="val 2000"/>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0" name="Shape 18"/>
          <p:cNvSpPr/>
          <p:nvPr/>
        </p:nvSpPr>
        <p:spPr>
          <a:xfrm>
            <a:off x="731520" y="2395728"/>
            <a:ext cx="201168" cy="201168"/>
          </a:xfrm>
          <a:prstGeom prst="roundRect">
            <a:avLst>
              <a:gd name="adj" fmla="val 18182"/>
            </a:avLst>
          </a:prstGeom>
          <a:solidFill>
            <a:srgbClr val="2EC4B6"/>
          </a:solidFill>
        </p:spPr>
      </p:sp>
      <p:sp>
        <p:nvSpPr>
          <p:cNvPr id="21" name="Text 19"/>
          <p:cNvSpPr/>
          <p:nvPr/>
        </p:nvSpPr>
        <p:spPr>
          <a:xfrm>
            <a:off x="1024128" y="2340864"/>
            <a:ext cx="345643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Performance Score by Project</a:t>
            </a:r>
            <a:endParaRPr lang="en-US" sz="1500" dirty="0"/>
          </a:p>
        </p:txBody>
      </p:sp>
      <p:graphicFrame>
        <p:nvGraphicFramePr>
          <p:cNvPr id="22" name="Chart 0"/>
          <p:cNvGraphicFramePr/>
          <p:nvPr/>
        </p:nvGraphicFramePr>
        <p:xfrm>
          <a:off x="731520" y="2788920"/>
          <a:ext cx="3703320" cy="3337560"/>
        </p:xfrm>
        <a:graphic>
          <a:graphicData uri="http://schemas.openxmlformats.org/drawingml/2006/chart">
            <c:chart xmlns:c="http://schemas.openxmlformats.org/drawingml/2006/chart" xmlns:r="http://schemas.openxmlformats.org/officeDocument/2006/relationships" r:id="rId1"/>
          </a:graphicData>
        </a:graphic>
      </p:graphicFrame>
      <p:sp>
        <p:nvSpPr>
          <p:cNvPr id="23" name="Shape 20"/>
          <p:cNvSpPr/>
          <p:nvPr/>
        </p:nvSpPr>
        <p:spPr>
          <a:xfrm>
            <a:off x="4892040" y="2212848"/>
            <a:ext cx="6793992" cy="2331720"/>
          </a:xfrm>
          <a:prstGeom prst="roundRect">
            <a:avLst>
              <a:gd name="adj" fmla="val 3529"/>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4" name="Shape 21"/>
          <p:cNvSpPr/>
          <p:nvPr/>
        </p:nvSpPr>
        <p:spPr>
          <a:xfrm>
            <a:off x="5120640" y="2395728"/>
            <a:ext cx="201168" cy="201168"/>
          </a:xfrm>
          <a:prstGeom prst="roundRect">
            <a:avLst>
              <a:gd name="adj" fmla="val 18182"/>
            </a:avLst>
          </a:prstGeom>
          <a:solidFill>
            <a:srgbClr val="2EC4B6"/>
          </a:solidFill>
        </p:spPr>
      </p:sp>
      <p:sp>
        <p:nvSpPr>
          <p:cNvPr id="25" name="Text 22"/>
          <p:cNvSpPr/>
          <p:nvPr/>
        </p:nvSpPr>
        <p:spPr>
          <a:xfrm>
            <a:off x="5413248" y="2340864"/>
            <a:ext cx="601675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Project Scorecard</a:t>
            </a:r>
            <a:endParaRPr lang="en-US" sz="1500" dirty="0"/>
          </a:p>
        </p:txBody>
      </p:sp>
      <p:graphicFrame>
        <p:nvGraphicFramePr>
          <p:cNvPr id="26" name="Table 0"/>
          <p:cNvGraphicFramePr>
            <a:graphicFrameLocks noGrp="1"/>
          </p:cNvGraphicFramePr>
          <p:nvPr/>
        </p:nvGraphicFramePr>
        <p:xfrm>
          <a:off x="5120640" y="2788920"/>
          <a:ext cx="6309360" cy="1600200"/>
        </p:xfrm>
        <a:graphic>
          <a:graphicData uri="http://schemas.openxmlformats.org/drawingml/2006/table">
            <a:tbl>
              <a:tblPr/>
              <a:tblGrid>
                <a:gridCol w="1234440"/>
                <a:gridCol w="1051560"/>
                <a:gridCol w="1097280"/>
                <a:gridCol w="1097280"/>
                <a:gridCol w="914400"/>
                <a:gridCol w="914400"/>
              </a:tblGrid>
              <a:tr h="320040">
                <a:tc>
                  <a:txBody>
                    <a:bodyPr/>
                    <a:lstStyle/>
                    <a:p>
                      <a:pPr marL="0" indent="0" algn="ctr">
                        <a:buNone/>
                      </a:pPr>
                      <a:r>
                        <a:rPr lang="en-US" sz="1050" b="1" dirty="0">
                          <a:solidFill>
                            <a:srgbClr val="FFFFFF"/>
                          </a:solidFill>
                        </a:rPr>
                        <a:t>Project</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50" b="1" dirty="0">
                          <a:solidFill>
                            <a:srgbClr val="FFFFFF"/>
                          </a:solidFill>
                        </a:rPr>
                        <a:t>Offered</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50" b="1" dirty="0">
                          <a:solidFill>
                            <a:srgbClr val="FFFFFF"/>
                          </a:solidFill>
                        </a:rPr>
                        <a:t>Service Level</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50" b="1" dirty="0">
                          <a:solidFill>
                            <a:srgbClr val="FFFFFF"/>
                          </a:solidFill>
                        </a:rPr>
                        <a:t>Abandon Rate</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50" b="1" dirty="0">
                          <a:solidFill>
                            <a:srgbClr val="FFFFFF"/>
                          </a:solidFill>
                        </a:rPr>
                        <a:t>Avg ASA</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50" b="1" dirty="0">
                          <a:solidFill>
                            <a:srgbClr val="FFFFFF"/>
                          </a:solidFill>
                        </a:rPr>
                        <a:t>Score</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r>
              <a:tr h="320040">
                <a:tc>
                  <a:txBody>
                    <a:bodyPr/>
                    <a:lstStyle/>
                    <a:p>
                      <a:pPr marL="0" indent="0" algn="l">
                        <a:buNone/>
                      </a:pPr>
                      <a:r>
                        <a:rPr lang="en-US" sz="1050" b="1" dirty="0">
                          <a:solidFill>
                            <a:srgbClr val="17262B"/>
                          </a:solidFill>
                        </a:rPr>
                        <a:t>Project C</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78,020</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96%</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1%</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5.84s</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88</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r>
              <a:tr h="320040">
                <a:tc>
                  <a:txBody>
                    <a:bodyPr/>
                    <a:lstStyle/>
                    <a:p>
                      <a:pPr marL="0" indent="0" algn="l">
                        <a:buNone/>
                      </a:pPr>
                      <a:r>
                        <a:rPr lang="en-US" sz="1050" b="1" dirty="0">
                          <a:solidFill>
                            <a:srgbClr val="17262B"/>
                          </a:solidFill>
                        </a:rPr>
                        <a:t>Project A</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262B"/>
                          </a:solidFill>
                        </a:rPr>
                        <a:t>767,109</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262B"/>
                          </a:solidFill>
                        </a:rPr>
                        <a:t>92%</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262B"/>
                          </a:solidFill>
                        </a:rPr>
                        <a:t>1%</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262B"/>
                          </a:solidFill>
                        </a:rPr>
                        <a:t>10.14s</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262B"/>
                          </a:solidFill>
                        </a:rPr>
                        <a:t>80</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r>
              <a:tr h="320040">
                <a:tc>
                  <a:txBody>
                    <a:bodyPr/>
                    <a:lstStyle/>
                    <a:p>
                      <a:pPr marL="0" indent="0" algn="l">
                        <a:buNone/>
                      </a:pPr>
                      <a:r>
                        <a:rPr lang="en-US" sz="1050" b="1" dirty="0">
                          <a:solidFill>
                            <a:srgbClr val="17262B"/>
                          </a:solidFill>
                        </a:rPr>
                        <a:t>Project B</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899,756</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92%</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2%</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11.68s</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50" dirty="0">
                          <a:solidFill>
                            <a:srgbClr val="17262B"/>
                          </a:solidFill>
                        </a:rPr>
                        <a:t>77</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r>
              <a:tr h="320040">
                <a:tc>
                  <a:txBody>
                    <a:bodyPr/>
                    <a:lstStyle/>
                    <a:p>
                      <a:pPr marL="0" indent="0" algn="l">
                        <a:buNone/>
                      </a:pPr>
                      <a:r>
                        <a:rPr lang="en-US" sz="1050" b="1" dirty="0">
                          <a:solidFill>
                            <a:srgbClr val="17262B"/>
                          </a:solidFill>
                        </a:rPr>
                        <a:t>Total</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50" b="1" dirty="0">
                          <a:solidFill>
                            <a:srgbClr val="17262B"/>
                          </a:solidFill>
                        </a:rPr>
                        <a:t>1,744,885</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50" b="1" dirty="0">
                          <a:solidFill>
                            <a:srgbClr val="17262B"/>
                          </a:solidFill>
                        </a:rPr>
                        <a:t>92%</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50" b="1" dirty="0">
                          <a:solidFill>
                            <a:srgbClr val="17262B"/>
                          </a:solidFill>
                        </a:rPr>
                        <a:t>1%</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50" b="1" dirty="0">
                          <a:solidFill>
                            <a:srgbClr val="17262B"/>
                          </a:solidFill>
                        </a:rPr>
                        <a:t>9.22s</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50" b="1" dirty="0">
                          <a:solidFill>
                            <a:srgbClr val="17262B"/>
                          </a:solidFill>
                        </a:rPr>
                        <a:t>81</a:t>
                      </a:r>
                      <a:endParaRPr lang="en-US" sz="105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r>
            </a:tbl>
          </a:graphicData>
        </a:graphic>
      </p:graphicFrame>
      <p:sp>
        <p:nvSpPr>
          <p:cNvPr id="27" name="Shape 23"/>
          <p:cNvSpPr/>
          <p:nvPr/>
        </p:nvSpPr>
        <p:spPr>
          <a:xfrm>
            <a:off x="4892040" y="4709160"/>
            <a:ext cx="6793992" cy="1618488"/>
          </a:xfrm>
          <a:prstGeom prst="roundRect">
            <a:avLst>
              <a:gd name="adj" fmla="val 5085"/>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8" name="Shape 24"/>
          <p:cNvSpPr/>
          <p:nvPr/>
        </p:nvSpPr>
        <p:spPr>
          <a:xfrm>
            <a:off x="5120640" y="4892040"/>
            <a:ext cx="201168" cy="201168"/>
          </a:xfrm>
          <a:prstGeom prst="roundRect">
            <a:avLst>
              <a:gd name="adj" fmla="val 18182"/>
            </a:avLst>
          </a:prstGeom>
          <a:solidFill>
            <a:srgbClr val="2EC4B6"/>
          </a:solidFill>
        </p:spPr>
      </p:sp>
      <p:sp>
        <p:nvSpPr>
          <p:cNvPr id="29" name="Text 25"/>
          <p:cNvSpPr/>
          <p:nvPr/>
        </p:nvSpPr>
        <p:spPr>
          <a:xfrm>
            <a:off x="5413248" y="4837176"/>
            <a:ext cx="601675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Business Reading</a:t>
            </a:r>
            <a:endParaRPr lang="en-US" sz="1500" dirty="0"/>
          </a:p>
        </p:txBody>
      </p:sp>
      <p:sp>
        <p:nvSpPr>
          <p:cNvPr id="30" name="Text 26"/>
          <p:cNvSpPr/>
          <p:nvPr/>
        </p:nvSpPr>
        <p:spPr>
          <a:xfrm>
            <a:off x="5120640" y="5193792"/>
            <a:ext cx="6309360" cy="1051560"/>
          </a:xfrm>
          <a:prstGeom prst="rect">
            <a:avLst/>
          </a:prstGeom>
          <a:noFill/>
        </p:spPr>
        <p:txBody>
          <a:bodyPr wrap="square" rtlCol="0" anchor="ctr"/>
          <a:lstStyle/>
          <a:p>
            <a:pPr marL="0" indent="0">
              <a:lnSpc>
                <a:spcPct val="122000"/>
              </a:lnSpc>
              <a:buNone/>
            </a:pPr>
            <a:r>
              <a:rPr lang="en-US" sz="1130" dirty="0">
                <a:solidFill>
                  <a:srgbClr val="17262B"/>
                </a:solidFill>
                <a:latin typeface="Calibri" panose="020F0502020204030204" pitchFamily="34" charset="0"/>
                <a:ea typeface="Calibri" panose="020F0502020204030204" pitchFamily="34" charset="-122"/>
                <a:cs typeface="Calibri" panose="020F0502020204030204" pitchFamily="34" charset="-120"/>
              </a:rPr>
              <a:t>Project C is small in volume (78K calls, 4.5% of total) but sets the operational benchmark: 96% Service Level and the fastest response time (5.8s). Project B carries the largest share of demand (52% of offered calls) yet posts the weakest Service Level (92%) and slowest ASA (11.7s) — the primary driver of the quarter's operational risk.</a:t>
            </a:r>
            <a:endParaRPr lang="en-US" sz="1130" dirty="0"/>
          </a:p>
        </p:txBody>
      </p:sp>
      <p:sp>
        <p:nvSpPr>
          <p:cNvPr id="31" name="Text 27"/>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08</a:t>
            </a:r>
            <a:endParaRPr lang="en-US" sz="1000" dirty="0"/>
          </a:p>
        </p:txBody>
      </p:sp>
      <p:sp>
        <p:nvSpPr>
          <p:cNvPr id="32" name="Text 28"/>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AGENT ANALYSIS</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Agent Performance Analysis</a:t>
            </a:r>
            <a:endParaRPr lang="en-US" sz="2800" dirty="0"/>
          </a:p>
        </p:txBody>
      </p:sp>
      <p:sp>
        <p:nvSpPr>
          <p:cNvPr id="4" name="Shape 2"/>
          <p:cNvSpPr/>
          <p:nvPr/>
        </p:nvSpPr>
        <p:spPr>
          <a:xfrm>
            <a:off x="502920" y="1188720"/>
            <a:ext cx="2743200"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5" name="Text 3"/>
          <p:cNvSpPr/>
          <p:nvPr/>
        </p:nvSpPr>
        <p:spPr>
          <a:xfrm>
            <a:off x="594360" y="1345082"/>
            <a:ext cx="2560320" cy="434340"/>
          </a:xfrm>
          <a:prstGeom prst="rect">
            <a:avLst/>
          </a:prstGeom>
          <a:noFill/>
        </p:spPr>
        <p:txBody>
          <a:bodyPr wrap="square" rtlCol="0" anchor="ctr"/>
          <a:lstStyle/>
          <a:p>
            <a:pPr marL="0" indent="0" algn="ctr">
              <a:buNone/>
            </a:pPr>
            <a:r>
              <a:rPr lang="en-US" sz="2000" b="1" dirty="0">
                <a:solidFill>
                  <a:srgbClr val="1E8A6E"/>
                </a:solidFill>
                <a:latin typeface="Cambria" panose="02040503050406030204" pitchFamily="34" charset="0"/>
                <a:ea typeface="Cambria" panose="02040503050406030204" pitchFamily="34" charset="-122"/>
                <a:cs typeface="Cambria" panose="02040503050406030204" pitchFamily="34" charset="-120"/>
              </a:rPr>
              <a:t>Ali</a:t>
            </a:r>
            <a:endParaRPr lang="en-US" sz="2000" dirty="0"/>
          </a:p>
        </p:txBody>
      </p:sp>
      <p:sp>
        <p:nvSpPr>
          <p:cNvPr id="6" name="Text 4"/>
          <p:cNvSpPr/>
          <p:nvPr/>
        </p:nvSpPr>
        <p:spPr>
          <a:xfrm>
            <a:off x="576072" y="1779422"/>
            <a:ext cx="2596896"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BEST AGENT (OVERALL)</a:t>
            </a:r>
            <a:endParaRPr lang="en-US" sz="950" dirty="0"/>
          </a:p>
        </p:txBody>
      </p:sp>
      <p:sp>
        <p:nvSpPr>
          <p:cNvPr id="7" name="Shape 5"/>
          <p:cNvSpPr/>
          <p:nvPr/>
        </p:nvSpPr>
        <p:spPr>
          <a:xfrm>
            <a:off x="3337560" y="1188720"/>
            <a:ext cx="2743200"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8" name="Text 6"/>
          <p:cNvSpPr/>
          <p:nvPr/>
        </p:nvSpPr>
        <p:spPr>
          <a:xfrm>
            <a:off x="3429000" y="1345082"/>
            <a:ext cx="2560320" cy="434340"/>
          </a:xfrm>
          <a:prstGeom prst="rect">
            <a:avLst/>
          </a:prstGeom>
          <a:noFill/>
        </p:spPr>
        <p:txBody>
          <a:bodyPr wrap="square" rtlCol="0" anchor="ctr"/>
          <a:lstStyle/>
          <a:p>
            <a:pPr marL="0" indent="0" algn="ctr">
              <a:buNone/>
            </a:pPr>
            <a:r>
              <a:rPr lang="en-US" sz="2000" b="1" dirty="0">
                <a:solidFill>
                  <a:srgbClr val="B23A34"/>
                </a:solidFill>
                <a:latin typeface="Cambria" panose="02040503050406030204" pitchFamily="34" charset="0"/>
                <a:ea typeface="Cambria" panose="02040503050406030204" pitchFamily="34" charset="-122"/>
                <a:cs typeface="Cambria" panose="02040503050406030204" pitchFamily="34" charset="-120"/>
              </a:rPr>
              <a:t>Nour</a:t>
            </a:r>
            <a:endParaRPr lang="en-US" sz="2000" dirty="0"/>
          </a:p>
        </p:txBody>
      </p:sp>
      <p:sp>
        <p:nvSpPr>
          <p:cNvPr id="9" name="Text 7"/>
          <p:cNvSpPr/>
          <p:nvPr/>
        </p:nvSpPr>
        <p:spPr>
          <a:xfrm>
            <a:off x="3410712" y="1779422"/>
            <a:ext cx="2596896"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WORST AGENT (OVERALL)</a:t>
            </a:r>
            <a:endParaRPr lang="en-US" sz="950" dirty="0"/>
          </a:p>
        </p:txBody>
      </p:sp>
      <p:sp>
        <p:nvSpPr>
          <p:cNvPr id="10" name="Shape 8"/>
          <p:cNvSpPr/>
          <p:nvPr/>
        </p:nvSpPr>
        <p:spPr>
          <a:xfrm>
            <a:off x="6172200" y="1188720"/>
            <a:ext cx="2743200"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1" name="Text 9"/>
          <p:cNvSpPr/>
          <p:nvPr/>
        </p:nvSpPr>
        <p:spPr>
          <a:xfrm>
            <a:off x="6263640" y="1345082"/>
            <a:ext cx="2560320" cy="434340"/>
          </a:xfrm>
          <a:prstGeom prst="rect">
            <a:avLst/>
          </a:prstGeom>
          <a:noFill/>
        </p:spPr>
        <p:txBody>
          <a:bodyPr wrap="square" rtlCol="0" anchor="ctr"/>
          <a:lstStyle/>
          <a:p>
            <a:pPr marL="0" indent="0" algn="ctr">
              <a:buNone/>
            </a:pPr>
            <a:r>
              <a:rPr lang="en-US" sz="2400" b="1" dirty="0">
                <a:solidFill>
                  <a:srgbClr val="024958"/>
                </a:solidFill>
                <a:latin typeface="Cambria" panose="02040503050406030204" pitchFamily="34" charset="0"/>
                <a:ea typeface="Cambria" panose="02040503050406030204" pitchFamily="34" charset="-122"/>
                <a:cs typeface="Cambria" panose="02040503050406030204" pitchFamily="34" charset="-120"/>
              </a:rPr>
              <a:t>1.72M</a:t>
            </a:r>
            <a:endParaRPr lang="en-US" sz="2400" dirty="0"/>
          </a:p>
        </p:txBody>
      </p:sp>
      <p:sp>
        <p:nvSpPr>
          <p:cNvPr id="12" name="Text 10"/>
          <p:cNvSpPr/>
          <p:nvPr/>
        </p:nvSpPr>
        <p:spPr>
          <a:xfrm>
            <a:off x="6245352" y="1779422"/>
            <a:ext cx="2596896"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TOTAL CALLS HANDLED</a:t>
            </a:r>
            <a:endParaRPr lang="en-US" sz="950" dirty="0"/>
          </a:p>
        </p:txBody>
      </p:sp>
      <p:sp>
        <p:nvSpPr>
          <p:cNvPr id="13" name="Shape 11"/>
          <p:cNvSpPr/>
          <p:nvPr/>
        </p:nvSpPr>
        <p:spPr>
          <a:xfrm>
            <a:off x="9006840" y="1188720"/>
            <a:ext cx="2679192" cy="868680"/>
          </a:xfrm>
          <a:prstGeom prst="roundRect">
            <a:avLst>
              <a:gd name="adj" fmla="val 8421"/>
            </a:avLst>
          </a:prstGeom>
          <a:solidFill>
            <a:srgbClr val="FFFFFF"/>
          </a:solidFill>
          <a:ln w="12700">
            <a:solidFill>
              <a:srgbClr val="DCE7E8"/>
            </a:solidFill>
            <a:prstDash val="solid"/>
          </a:ln>
          <a:effectLst>
            <a:outerShdw blurRad="76200" dist="25400" dir="5400000" algn="bl" rotWithShape="0">
              <a:srgbClr val="1A2A2E">
                <a:alpha val="12000"/>
              </a:srgbClr>
            </a:outerShdw>
          </a:effectLst>
        </p:spPr>
      </p:sp>
      <p:sp>
        <p:nvSpPr>
          <p:cNvPr id="14" name="Text 12"/>
          <p:cNvSpPr/>
          <p:nvPr/>
        </p:nvSpPr>
        <p:spPr>
          <a:xfrm>
            <a:off x="9098280" y="1345082"/>
            <a:ext cx="2496312" cy="434340"/>
          </a:xfrm>
          <a:prstGeom prst="rect">
            <a:avLst/>
          </a:prstGeom>
          <a:noFill/>
        </p:spPr>
        <p:txBody>
          <a:bodyPr wrap="square" rtlCol="0" anchor="ctr"/>
          <a:lstStyle/>
          <a:p>
            <a:pPr marL="0" indent="0" algn="ctr">
              <a:buNone/>
            </a:pPr>
            <a:r>
              <a:rPr lang="en-US" sz="2400" b="1" dirty="0">
                <a:solidFill>
                  <a:srgbClr val="024958"/>
                </a:solidFill>
                <a:latin typeface="Cambria" panose="02040503050406030204" pitchFamily="34" charset="0"/>
                <a:ea typeface="Cambria" panose="02040503050406030204" pitchFamily="34" charset="-122"/>
                <a:cs typeface="Cambria" panose="02040503050406030204" pitchFamily="34" charset="-120"/>
              </a:rPr>
              <a:t>1.3%</a:t>
            </a:r>
            <a:endParaRPr lang="en-US" sz="2400" dirty="0"/>
          </a:p>
        </p:txBody>
      </p:sp>
      <p:sp>
        <p:nvSpPr>
          <p:cNvPr id="15" name="Text 13"/>
          <p:cNvSpPr/>
          <p:nvPr/>
        </p:nvSpPr>
        <p:spPr>
          <a:xfrm>
            <a:off x="9079992" y="1779422"/>
            <a:ext cx="2532888" cy="243230"/>
          </a:xfrm>
          <a:prstGeom prst="rect">
            <a:avLst/>
          </a:prstGeom>
          <a:noFill/>
        </p:spPr>
        <p:txBody>
          <a:bodyPr wrap="square" rtlCol="0" anchor="t"/>
          <a:lstStyle/>
          <a:p>
            <a:pPr marL="0" indent="0" algn="ctr">
              <a:buNone/>
            </a:pPr>
            <a:r>
              <a:rPr lang="en-US" sz="950" b="1" kern="0" spc="50" dirty="0">
                <a:solidFill>
                  <a:srgbClr val="5B6E73"/>
                </a:solidFill>
                <a:latin typeface="Calibri" panose="020F0502020204030204" pitchFamily="34" charset="0"/>
                <a:ea typeface="Calibri" panose="020F0502020204030204" pitchFamily="34" charset="-122"/>
                <a:cs typeface="Calibri" panose="020F0502020204030204" pitchFamily="34" charset="-120"/>
              </a:rPr>
              <a:t>ABANDON RATE %</a:t>
            </a:r>
            <a:endParaRPr lang="en-US" sz="950" dirty="0"/>
          </a:p>
        </p:txBody>
      </p:sp>
      <p:sp>
        <p:nvSpPr>
          <p:cNvPr id="16" name="Shape 14"/>
          <p:cNvSpPr/>
          <p:nvPr/>
        </p:nvSpPr>
        <p:spPr>
          <a:xfrm>
            <a:off x="502920" y="2212848"/>
            <a:ext cx="5532120" cy="4114800"/>
          </a:xfrm>
          <a:prstGeom prst="roundRect">
            <a:avLst>
              <a:gd name="adj" fmla="val 2000"/>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17" name="Shape 15"/>
          <p:cNvSpPr/>
          <p:nvPr/>
        </p:nvSpPr>
        <p:spPr>
          <a:xfrm>
            <a:off x="731520" y="2395728"/>
            <a:ext cx="201168" cy="201168"/>
          </a:xfrm>
          <a:prstGeom prst="roundRect">
            <a:avLst>
              <a:gd name="adj" fmla="val 18182"/>
            </a:avLst>
          </a:prstGeom>
          <a:solidFill>
            <a:srgbClr val="2EC4B6"/>
          </a:solidFill>
        </p:spPr>
      </p:sp>
      <p:sp>
        <p:nvSpPr>
          <p:cNvPr id="18" name="Text 16"/>
          <p:cNvSpPr/>
          <p:nvPr/>
        </p:nvSpPr>
        <p:spPr>
          <a:xfrm>
            <a:off x="1024128" y="2340864"/>
            <a:ext cx="473659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Service Level by Agent — Top &amp; Bottom</a:t>
            </a:r>
            <a:endParaRPr lang="en-US" sz="1500" dirty="0"/>
          </a:p>
        </p:txBody>
      </p:sp>
      <p:graphicFrame>
        <p:nvGraphicFramePr>
          <p:cNvPr id="19" name="Chart 0"/>
          <p:cNvGraphicFramePr/>
          <p:nvPr/>
        </p:nvGraphicFramePr>
        <p:xfrm>
          <a:off x="731520" y="2788920"/>
          <a:ext cx="5074920" cy="3337560"/>
        </p:xfrm>
        <a:graphic>
          <a:graphicData uri="http://schemas.openxmlformats.org/drawingml/2006/chart">
            <c:chart xmlns:c="http://schemas.openxmlformats.org/drawingml/2006/chart" xmlns:r="http://schemas.openxmlformats.org/officeDocument/2006/relationships" r:id="rId1"/>
          </a:graphicData>
        </a:graphic>
      </p:graphicFrame>
      <p:sp>
        <p:nvSpPr>
          <p:cNvPr id="20" name="Shape 17"/>
          <p:cNvSpPr/>
          <p:nvPr/>
        </p:nvSpPr>
        <p:spPr>
          <a:xfrm>
            <a:off x="6172200" y="2212848"/>
            <a:ext cx="5513832" cy="1965960"/>
          </a:xfrm>
          <a:prstGeom prst="roundRect">
            <a:avLst>
              <a:gd name="adj" fmla="val 4186"/>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1" name="Shape 18"/>
          <p:cNvSpPr/>
          <p:nvPr/>
        </p:nvSpPr>
        <p:spPr>
          <a:xfrm>
            <a:off x="6400800" y="2395728"/>
            <a:ext cx="201168" cy="201168"/>
          </a:xfrm>
          <a:prstGeom prst="roundRect">
            <a:avLst>
              <a:gd name="adj" fmla="val 18182"/>
            </a:avLst>
          </a:prstGeom>
          <a:solidFill>
            <a:srgbClr val="2EC4B6"/>
          </a:solidFill>
        </p:spPr>
      </p:sp>
      <p:sp>
        <p:nvSpPr>
          <p:cNvPr id="22" name="Text 19"/>
          <p:cNvSpPr/>
          <p:nvPr/>
        </p:nvSpPr>
        <p:spPr>
          <a:xfrm>
            <a:off x="6693408" y="2340864"/>
            <a:ext cx="473659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Highest-Volume Agents (Calls Handled)</a:t>
            </a:r>
            <a:endParaRPr lang="en-US" sz="1500" dirty="0"/>
          </a:p>
        </p:txBody>
      </p:sp>
      <p:sp>
        <p:nvSpPr>
          <p:cNvPr id="23" name="Shape 20"/>
          <p:cNvSpPr/>
          <p:nvPr/>
        </p:nvSpPr>
        <p:spPr>
          <a:xfrm>
            <a:off x="6400800" y="2788920"/>
            <a:ext cx="987552" cy="1188720"/>
          </a:xfrm>
          <a:prstGeom prst="roundRect">
            <a:avLst>
              <a:gd name="adj" fmla="val 5556"/>
            </a:avLst>
          </a:prstGeom>
          <a:solidFill>
            <a:srgbClr val="F5F9F9"/>
          </a:solidFill>
          <a:ln w="12700">
            <a:solidFill>
              <a:srgbClr val="DCE7E8"/>
            </a:solidFill>
            <a:prstDash val="solid"/>
          </a:ln>
        </p:spPr>
      </p:sp>
      <p:sp>
        <p:nvSpPr>
          <p:cNvPr id="24" name="Text 21"/>
          <p:cNvSpPr/>
          <p:nvPr/>
        </p:nvSpPr>
        <p:spPr>
          <a:xfrm>
            <a:off x="6400800" y="2852928"/>
            <a:ext cx="987552" cy="457200"/>
          </a:xfrm>
          <a:prstGeom prst="rect">
            <a:avLst/>
          </a:prstGeom>
          <a:noFill/>
        </p:spPr>
        <p:txBody>
          <a:bodyPr wrap="square" rtlCol="0" anchor="ctr"/>
          <a:lstStyle/>
          <a:p>
            <a:pPr marL="0" indent="0" algn="ctr">
              <a:buNone/>
            </a:pPr>
            <a:r>
              <a:rPr lang="en-US" sz="1500" b="1" dirty="0">
                <a:solidFill>
                  <a:srgbClr val="0B7285"/>
                </a:solidFill>
                <a:latin typeface="Cambria" panose="02040503050406030204" pitchFamily="34" charset="0"/>
                <a:ea typeface="Cambria" panose="02040503050406030204" pitchFamily="34" charset="-122"/>
                <a:cs typeface="Cambria" panose="02040503050406030204" pitchFamily="34" charset="-120"/>
              </a:rPr>
              <a:t>172K</a:t>
            </a:r>
            <a:endParaRPr lang="en-US" sz="1500" dirty="0"/>
          </a:p>
        </p:txBody>
      </p:sp>
      <p:sp>
        <p:nvSpPr>
          <p:cNvPr id="25" name="Text 22"/>
          <p:cNvSpPr/>
          <p:nvPr/>
        </p:nvSpPr>
        <p:spPr>
          <a:xfrm>
            <a:off x="6400800" y="3383280"/>
            <a:ext cx="987552" cy="502920"/>
          </a:xfrm>
          <a:prstGeom prst="rect">
            <a:avLst/>
          </a:prstGeom>
          <a:noFill/>
        </p:spPr>
        <p:txBody>
          <a:bodyPr wrap="square" rtlCol="0" anchor="ctr"/>
          <a:lstStyle/>
          <a:p>
            <a:pPr marL="0" indent="0" algn="ctr">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Dina</a:t>
            </a:r>
            <a:endParaRPr lang="en-US" sz="1050" dirty="0"/>
          </a:p>
        </p:txBody>
      </p:sp>
      <p:sp>
        <p:nvSpPr>
          <p:cNvPr id="26" name="Shape 23"/>
          <p:cNvSpPr/>
          <p:nvPr/>
        </p:nvSpPr>
        <p:spPr>
          <a:xfrm>
            <a:off x="7498080" y="2788920"/>
            <a:ext cx="987552" cy="1188720"/>
          </a:xfrm>
          <a:prstGeom prst="roundRect">
            <a:avLst>
              <a:gd name="adj" fmla="val 5556"/>
            </a:avLst>
          </a:prstGeom>
          <a:solidFill>
            <a:srgbClr val="F5F9F9"/>
          </a:solidFill>
          <a:ln w="12700">
            <a:solidFill>
              <a:srgbClr val="DCE7E8"/>
            </a:solidFill>
            <a:prstDash val="solid"/>
          </a:ln>
        </p:spPr>
      </p:sp>
      <p:sp>
        <p:nvSpPr>
          <p:cNvPr id="27" name="Text 24"/>
          <p:cNvSpPr/>
          <p:nvPr/>
        </p:nvSpPr>
        <p:spPr>
          <a:xfrm>
            <a:off x="7498080" y="2852928"/>
            <a:ext cx="987552" cy="457200"/>
          </a:xfrm>
          <a:prstGeom prst="rect">
            <a:avLst/>
          </a:prstGeom>
          <a:noFill/>
        </p:spPr>
        <p:txBody>
          <a:bodyPr wrap="square" rtlCol="0" anchor="ctr"/>
          <a:lstStyle/>
          <a:p>
            <a:pPr marL="0" indent="0" algn="ctr">
              <a:buNone/>
            </a:pPr>
            <a:r>
              <a:rPr lang="en-US" sz="1500" b="1" dirty="0">
                <a:solidFill>
                  <a:srgbClr val="0B7285"/>
                </a:solidFill>
                <a:latin typeface="Cambria" panose="02040503050406030204" pitchFamily="34" charset="0"/>
                <a:ea typeface="Cambria" panose="02040503050406030204" pitchFamily="34" charset="-122"/>
                <a:cs typeface="Cambria" panose="02040503050406030204" pitchFamily="34" charset="-120"/>
              </a:rPr>
              <a:t>157K</a:t>
            </a:r>
            <a:endParaRPr lang="en-US" sz="1500" dirty="0"/>
          </a:p>
        </p:txBody>
      </p:sp>
      <p:sp>
        <p:nvSpPr>
          <p:cNvPr id="28" name="Text 25"/>
          <p:cNvSpPr/>
          <p:nvPr/>
        </p:nvSpPr>
        <p:spPr>
          <a:xfrm>
            <a:off x="7498080" y="3383280"/>
            <a:ext cx="987552" cy="502920"/>
          </a:xfrm>
          <a:prstGeom prst="rect">
            <a:avLst/>
          </a:prstGeom>
          <a:noFill/>
        </p:spPr>
        <p:txBody>
          <a:bodyPr wrap="square" rtlCol="0" anchor="ctr"/>
          <a:lstStyle/>
          <a:p>
            <a:pPr marL="0" indent="0" algn="ctr">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Tariq</a:t>
            </a:r>
            <a:endParaRPr lang="en-US" sz="1050" dirty="0"/>
          </a:p>
        </p:txBody>
      </p:sp>
      <p:sp>
        <p:nvSpPr>
          <p:cNvPr id="29" name="Shape 26"/>
          <p:cNvSpPr/>
          <p:nvPr/>
        </p:nvSpPr>
        <p:spPr>
          <a:xfrm>
            <a:off x="8595360" y="2788920"/>
            <a:ext cx="987552" cy="1188720"/>
          </a:xfrm>
          <a:prstGeom prst="roundRect">
            <a:avLst>
              <a:gd name="adj" fmla="val 5556"/>
            </a:avLst>
          </a:prstGeom>
          <a:solidFill>
            <a:srgbClr val="F5F9F9"/>
          </a:solidFill>
          <a:ln w="12700">
            <a:solidFill>
              <a:srgbClr val="DCE7E8"/>
            </a:solidFill>
            <a:prstDash val="solid"/>
          </a:ln>
        </p:spPr>
      </p:sp>
      <p:sp>
        <p:nvSpPr>
          <p:cNvPr id="30" name="Text 27"/>
          <p:cNvSpPr/>
          <p:nvPr/>
        </p:nvSpPr>
        <p:spPr>
          <a:xfrm>
            <a:off x="8595360" y="2852928"/>
            <a:ext cx="987552" cy="457200"/>
          </a:xfrm>
          <a:prstGeom prst="rect">
            <a:avLst/>
          </a:prstGeom>
          <a:noFill/>
        </p:spPr>
        <p:txBody>
          <a:bodyPr wrap="square" rtlCol="0" anchor="ctr"/>
          <a:lstStyle/>
          <a:p>
            <a:pPr marL="0" indent="0" algn="ctr">
              <a:buNone/>
            </a:pPr>
            <a:r>
              <a:rPr lang="en-US" sz="1500" b="1" dirty="0">
                <a:solidFill>
                  <a:srgbClr val="0B7285"/>
                </a:solidFill>
                <a:latin typeface="Cambria" panose="02040503050406030204" pitchFamily="34" charset="0"/>
                <a:ea typeface="Cambria" panose="02040503050406030204" pitchFamily="34" charset="-122"/>
                <a:cs typeface="Cambria" panose="02040503050406030204" pitchFamily="34" charset="-120"/>
              </a:rPr>
              <a:t>150K</a:t>
            </a:r>
            <a:endParaRPr lang="en-US" sz="1500" dirty="0"/>
          </a:p>
        </p:txBody>
      </p:sp>
      <p:sp>
        <p:nvSpPr>
          <p:cNvPr id="31" name="Text 28"/>
          <p:cNvSpPr/>
          <p:nvPr/>
        </p:nvSpPr>
        <p:spPr>
          <a:xfrm>
            <a:off x="8595360" y="3383280"/>
            <a:ext cx="987552" cy="502920"/>
          </a:xfrm>
          <a:prstGeom prst="rect">
            <a:avLst/>
          </a:prstGeom>
          <a:noFill/>
        </p:spPr>
        <p:txBody>
          <a:bodyPr wrap="square" rtlCol="0" anchor="ctr"/>
          <a:lstStyle/>
          <a:p>
            <a:pPr marL="0" indent="0" algn="ctr">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Huda</a:t>
            </a:r>
            <a:endParaRPr lang="en-US" sz="1050" dirty="0"/>
          </a:p>
        </p:txBody>
      </p:sp>
      <p:sp>
        <p:nvSpPr>
          <p:cNvPr id="32" name="Shape 29"/>
          <p:cNvSpPr/>
          <p:nvPr/>
        </p:nvSpPr>
        <p:spPr>
          <a:xfrm>
            <a:off x="9692640" y="2788920"/>
            <a:ext cx="987552" cy="1188720"/>
          </a:xfrm>
          <a:prstGeom prst="roundRect">
            <a:avLst>
              <a:gd name="adj" fmla="val 5556"/>
            </a:avLst>
          </a:prstGeom>
          <a:solidFill>
            <a:srgbClr val="F5F9F9"/>
          </a:solidFill>
          <a:ln w="12700">
            <a:solidFill>
              <a:srgbClr val="DCE7E8"/>
            </a:solidFill>
            <a:prstDash val="solid"/>
          </a:ln>
        </p:spPr>
      </p:sp>
      <p:sp>
        <p:nvSpPr>
          <p:cNvPr id="33" name="Text 30"/>
          <p:cNvSpPr/>
          <p:nvPr/>
        </p:nvSpPr>
        <p:spPr>
          <a:xfrm>
            <a:off x="9692640" y="2852928"/>
            <a:ext cx="987552" cy="457200"/>
          </a:xfrm>
          <a:prstGeom prst="rect">
            <a:avLst/>
          </a:prstGeom>
          <a:noFill/>
        </p:spPr>
        <p:txBody>
          <a:bodyPr wrap="square" rtlCol="0" anchor="ctr"/>
          <a:lstStyle/>
          <a:p>
            <a:pPr marL="0" indent="0" algn="ctr">
              <a:buNone/>
            </a:pPr>
            <a:r>
              <a:rPr lang="en-US" sz="1500" b="1" dirty="0">
                <a:solidFill>
                  <a:srgbClr val="0B7285"/>
                </a:solidFill>
                <a:latin typeface="Cambria" panose="02040503050406030204" pitchFamily="34" charset="0"/>
                <a:ea typeface="Cambria" panose="02040503050406030204" pitchFamily="34" charset="-122"/>
                <a:cs typeface="Cambria" panose="02040503050406030204" pitchFamily="34" charset="-120"/>
              </a:rPr>
              <a:t>149K</a:t>
            </a:r>
            <a:endParaRPr lang="en-US" sz="1500" dirty="0"/>
          </a:p>
        </p:txBody>
      </p:sp>
      <p:sp>
        <p:nvSpPr>
          <p:cNvPr id="34" name="Text 31"/>
          <p:cNvSpPr/>
          <p:nvPr/>
        </p:nvSpPr>
        <p:spPr>
          <a:xfrm>
            <a:off x="9692640" y="3383280"/>
            <a:ext cx="987552" cy="502920"/>
          </a:xfrm>
          <a:prstGeom prst="rect">
            <a:avLst/>
          </a:prstGeom>
          <a:noFill/>
        </p:spPr>
        <p:txBody>
          <a:bodyPr wrap="square" rtlCol="0" anchor="ctr"/>
          <a:lstStyle/>
          <a:p>
            <a:pPr marL="0" indent="0" algn="ctr">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Ali</a:t>
            </a:r>
            <a:endParaRPr lang="en-US" sz="1050" dirty="0"/>
          </a:p>
        </p:txBody>
      </p:sp>
      <p:sp>
        <p:nvSpPr>
          <p:cNvPr id="35" name="Shape 32"/>
          <p:cNvSpPr/>
          <p:nvPr/>
        </p:nvSpPr>
        <p:spPr>
          <a:xfrm>
            <a:off x="10789920" y="2788920"/>
            <a:ext cx="987552" cy="1188720"/>
          </a:xfrm>
          <a:prstGeom prst="roundRect">
            <a:avLst>
              <a:gd name="adj" fmla="val 5556"/>
            </a:avLst>
          </a:prstGeom>
          <a:solidFill>
            <a:srgbClr val="F5F9F9"/>
          </a:solidFill>
          <a:ln w="12700">
            <a:solidFill>
              <a:srgbClr val="DCE7E8"/>
            </a:solidFill>
            <a:prstDash val="solid"/>
          </a:ln>
        </p:spPr>
      </p:sp>
      <p:sp>
        <p:nvSpPr>
          <p:cNvPr id="36" name="Text 33"/>
          <p:cNvSpPr/>
          <p:nvPr/>
        </p:nvSpPr>
        <p:spPr>
          <a:xfrm>
            <a:off x="10789920" y="2852928"/>
            <a:ext cx="987552" cy="457200"/>
          </a:xfrm>
          <a:prstGeom prst="rect">
            <a:avLst/>
          </a:prstGeom>
          <a:noFill/>
        </p:spPr>
        <p:txBody>
          <a:bodyPr wrap="square" rtlCol="0" anchor="ctr"/>
          <a:lstStyle/>
          <a:p>
            <a:pPr marL="0" indent="0" algn="ctr">
              <a:buNone/>
            </a:pPr>
            <a:r>
              <a:rPr lang="en-US" sz="1500" b="1" dirty="0">
                <a:solidFill>
                  <a:srgbClr val="0B7285"/>
                </a:solidFill>
                <a:latin typeface="Cambria" panose="02040503050406030204" pitchFamily="34" charset="0"/>
                <a:ea typeface="Cambria" panose="02040503050406030204" pitchFamily="34" charset="-122"/>
                <a:cs typeface="Cambria" panose="02040503050406030204" pitchFamily="34" charset="-120"/>
              </a:rPr>
              <a:t>143K</a:t>
            </a:r>
            <a:endParaRPr lang="en-US" sz="1500" dirty="0"/>
          </a:p>
        </p:txBody>
      </p:sp>
      <p:sp>
        <p:nvSpPr>
          <p:cNvPr id="37" name="Text 34"/>
          <p:cNvSpPr/>
          <p:nvPr/>
        </p:nvSpPr>
        <p:spPr>
          <a:xfrm>
            <a:off x="10789920" y="3383280"/>
            <a:ext cx="987552" cy="502920"/>
          </a:xfrm>
          <a:prstGeom prst="rect">
            <a:avLst/>
          </a:prstGeom>
          <a:noFill/>
        </p:spPr>
        <p:txBody>
          <a:bodyPr wrap="square" rtlCol="0" anchor="ctr"/>
          <a:lstStyle/>
          <a:p>
            <a:pPr marL="0" indent="0" algn="ctr">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Rania</a:t>
            </a:r>
            <a:endParaRPr lang="en-US" sz="1050" dirty="0"/>
          </a:p>
        </p:txBody>
      </p:sp>
      <p:sp>
        <p:nvSpPr>
          <p:cNvPr id="38" name="Shape 35"/>
          <p:cNvSpPr/>
          <p:nvPr/>
        </p:nvSpPr>
        <p:spPr>
          <a:xfrm>
            <a:off x="6172200" y="4315968"/>
            <a:ext cx="5513832" cy="2011680"/>
          </a:xfrm>
          <a:prstGeom prst="roundRect">
            <a:avLst>
              <a:gd name="adj" fmla="val 4091"/>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39" name="Shape 36"/>
          <p:cNvSpPr/>
          <p:nvPr/>
        </p:nvSpPr>
        <p:spPr>
          <a:xfrm>
            <a:off x="6400800" y="4498848"/>
            <a:ext cx="201168" cy="201168"/>
          </a:xfrm>
          <a:prstGeom prst="roundRect">
            <a:avLst>
              <a:gd name="adj" fmla="val 18182"/>
            </a:avLst>
          </a:prstGeom>
          <a:solidFill>
            <a:srgbClr val="2EC4B6"/>
          </a:solidFill>
        </p:spPr>
      </p:sp>
      <p:sp>
        <p:nvSpPr>
          <p:cNvPr id="40" name="Text 37"/>
          <p:cNvSpPr/>
          <p:nvPr/>
        </p:nvSpPr>
        <p:spPr>
          <a:xfrm>
            <a:off x="6693408" y="4443984"/>
            <a:ext cx="473659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Business Reading</a:t>
            </a:r>
            <a:endParaRPr lang="en-US" sz="1500" dirty="0"/>
          </a:p>
        </p:txBody>
      </p:sp>
      <p:sp>
        <p:nvSpPr>
          <p:cNvPr id="41" name="Text 38"/>
          <p:cNvSpPr/>
          <p:nvPr/>
        </p:nvSpPr>
        <p:spPr>
          <a:xfrm>
            <a:off x="6400800" y="4800600"/>
            <a:ext cx="5074920" cy="1417320"/>
          </a:xfrm>
          <a:prstGeom prst="rect">
            <a:avLst/>
          </a:prstGeom>
          <a:noFill/>
        </p:spPr>
        <p:txBody>
          <a:bodyPr wrap="square" rtlCol="0" anchor="ctr"/>
          <a:lstStyle/>
          <a:p>
            <a:pPr marL="0" indent="0">
              <a:lnSpc>
                <a:spcPct val="120000"/>
              </a:lnSpc>
              <a:buNone/>
            </a:pPr>
            <a:r>
              <a:rPr lang="en-US" sz="1100" dirty="0">
                <a:solidFill>
                  <a:srgbClr val="17262B"/>
                </a:solidFill>
                <a:latin typeface="Calibri" panose="020F0502020204030204" pitchFamily="34" charset="0"/>
                <a:ea typeface="Calibri" panose="020F0502020204030204" pitchFamily="34" charset="-122"/>
                <a:cs typeface="Calibri" panose="020F0502020204030204" pitchFamily="34" charset="-120"/>
              </a:rPr>
              <a:t>Service Level across agents ranges from 99.5% (Laila) down to 77.5% (Youssef) and 78.1% (Dina) — a 21+ point spread. Dina is also the highest-volume agent (172K calls, ASA 17.97s), suggesting workload pressure may be contributing to her comparatively lower Service Level, alongside Youssef, Huda and Rania, who also combine high call volume with elevated ASA.</a:t>
            </a:r>
            <a:endParaRPr lang="en-US" sz="1100" dirty="0"/>
          </a:p>
        </p:txBody>
      </p:sp>
      <p:sp>
        <p:nvSpPr>
          <p:cNvPr id="42" name="Text 39"/>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09</a:t>
            </a:r>
            <a:endParaRPr lang="en-US" sz="1000" dirty="0"/>
          </a:p>
        </p:txBody>
      </p:sp>
      <p:sp>
        <p:nvSpPr>
          <p:cNvPr id="43" name="Text 40"/>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TREND &amp; ROOT-CAUSE ANALYSIS</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From What Happened to Why It Happened</a:t>
            </a:r>
            <a:endParaRPr lang="en-US" sz="2800" dirty="0"/>
          </a:p>
        </p:txBody>
      </p:sp>
      <p:sp>
        <p:nvSpPr>
          <p:cNvPr id="4" name="Shape 2"/>
          <p:cNvSpPr/>
          <p:nvPr/>
        </p:nvSpPr>
        <p:spPr>
          <a:xfrm>
            <a:off x="502920" y="1234440"/>
            <a:ext cx="5532120" cy="3840480"/>
          </a:xfrm>
          <a:prstGeom prst="roundRect">
            <a:avLst>
              <a:gd name="adj" fmla="val 214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 name="Shape 3"/>
          <p:cNvSpPr/>
          <p:nvPr/>
        </p:nvSpPr>
        <p:spPr>
          <a:xfrm>
            <a:off x="731520" y="1444752"/>
            <a:ext cx="201168" cy="201168"/>
          </a:xfrm>
          <a:prstGeom prst="roundRect">
            <a:avLst>
              <a:gd name="adj" fmla="val 18182"/>
            </a:avLst>
          </a:prstGeom>
          <a:solidFill>
            <a:srgbClr val="2EC4B6"/>
          </a:solidFill>
        </p:spPr>
      </p:sp>
      <p:sp>
        <p:nvSpPr>
          <p:cNvPr id="6" name="Text 4"/>
          <p:cNvSpPr/>
          <p:nvPr/>
        </p:nvSpPr>
        <p:spPr>
          <a:xfrm>
            <a:off x="1024128" y="1389888"/>
            <a:ext cx="473659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Forecast Variance by Month</a:t>
            </a:r>
            <a:endParaRPr lang="en-US" sz="1500" dirty="0"/>
          </a:p>
        </p:txBody>
      </p:sp>
      <p:graphicFrame>
        <p:nvGraphicFramePr>
          <p:cNvPr id="7" name="Chart 0"/>
          <p:cNvGraphicFramePr/>
          <p:nvPr/>
        </p:nvGraphicFramePr>
        <p:xfrm>
          <a:off x="731520" y="1828800"/>
          <a:ext cx="5074920" cy="3063240"/>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 5"/>
          <p:cNvSpPr/>
          <p:nvPr/>
        </p:nvSpPr>
        <p:spPr>
          <a:xfrm>
            <a:off x="731520" y="4892040"/>
            <a:ext cx="5074920" cy="274320"/>
          </a:xfrm>
          <a:prstGeom prst="rect">
            <a:avLst/>
          </a:prstGeom>
          <a:noFill/>
        </p:spPr>
        <p:txBody>
          <a:bodyPr wrap="square" rtlCol="0" anchor="ctr"/>
          <a:lstStyle/>
          <a:p>
            <a:pPr marL="0" indent="0">
              <a:buNone/>
            </a:pPr>
            <a:r>
              <a:rPr lang="en-US" sz="950" i="1" dirty="0">
                <a:solidFill>
                  <a:srgbClr val="5B6E73"/>
                </a:solidFill>
                <a:latin typeface="Calibri" panose="020F0502020204030204" pitchFamily="34" charset="0"/>
                <a:ea typeface="Calibri" panose="020F0502020204030204" pitchFamily="34" charset="-122"/>
                <a:cs typeface="Calibri" panose="020F0502020204030204" pitchFamily="34" charset="-120"/>
              </a:rPr>
              <a:t>Negative = Forecasted Calls exceeded Calls Offered (over-forecast)</a:t>
            </a:r>
            <a:endParaRPr lang="en-US" sz="950" dirty="0"/>
          </a:p>
        </p:txBody>
      </p:sp>
      <p:sp>
        <p:nvSpPr>
          <p:cNvPr id="9" name="Shape 6"/>
          <p:cNvSpPr/>
          <p:nvPr/>
        </p:nvSpPr>
        <p:spPr>
          <a:xfrm>
            <a:off x="6172200" y="1234440"/>
            <a:ext cx="5513832" cy="3840480"/>
          </a:xfrm>
          <a:prstGeom prst="roundRect">
            <a:avLst>
              <a:gd name="adj" fmla="val 214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10" name="Shape 7"/>
          <p:cNvSpPr/>
          <p:nvPr/>
        </p:nvSpPr>
        <p:spPr>
          <a:xfrm>
            <a:off x="6400800" y="1444752"/>
            <a:ext cx="201168" cy="201168"/>
          </a:xfrm>
          <a:prstGeom prst="roundRect">
            <a:avLst>
              <a:gd name="adj" fmla="val 18182"/>
            </a:avLst>
          </a:prstGeom>
          <a:solidFill>
            <a:srgbClr val="2EC4B6"/>
          </a:solidFill>
        </p:spPr>
      </p:sp>
      <p:sp>
        <p:nvSpPr>
          <p:cNvPr id="11" name="Text 8"/>
          <p:cNvSpPr/>
          <p:nvPr/>
        </p:nvSpPr>
        <p:spPr>
          <a:xfrm>
            <a:off x="6693408" y="1389888"/>
            <a:ext cx="473659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Root-Cause Indicators</a:t>
            </a:r>
            <a:endParaRPr lang="en-US" sz="1500" dirty="0"/>
          </a:p>
        </p:txBody>
      </p:sp>
      <p:sp>
        <p:nvSpPr>
          <p:cNvPr id="12" name="Text 9"/>
          <p:cNvSpPr/>
          <p:nvPr/>
        </p:nvSpPr>
        <p:spPr>
          <a:xfrm>
            <a:off x="6400800" y="1828800"/>
            <a:ext cx="5029200" cy="27432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Volume concentration</a:t>
            </a:r>
            <a:endParaRPr lang="en-US" sz="1200" dirty="0"/>
          </a:p>
        </p:txBody>
      </p:sp>
      <p:sp>
        <p:nvSpPr>
          <p:cNvPr id="13" name="Text 10"/>
          <p:cNvSpPr/>
          <p:nvPr/>
        </p:nvSpPr>
        <p:spPr>
          <a:xfrm>
            <a:off x="6400800" y="2103120"/>
            <a:ext cx="5029200" cy="777240"/>
          </a:xfrm>
          <a:prstGeom prst="rect">
            <a:avLst/>
          </a:prstGeom>
          <a:noFill/>
        </p:spPr>
        <p:txBody>
          <a:bodyPr wrap="square" rtlCol="0" anchor="ctr"/>
          <a:lstStyle/>
          <a:p>
            <a:pPr marL="0" indent="0">
              <a:lnSpc>
                <a:spcPct val="120000"/>
              </a:lnSpc>
              <a:buNone/>
            </a:pPr>
            <a:r>
              <a:rPr lang="en-US" sz="1070" dirty="0">
                <a:solidFill>
                  <a:srgbClr val="17262B"/>
                </a:solidFill>
                <a:latin typeface="Calibri" panose="020F0502020204030204" pitchFamily="34" charset="0"/>
                <a:ea typeface="Calibri" panose="020F0502020204030204" pitchFamily="34" charset="-122"/>
                <a:cs typeface="Calibri" panose="020F0502020204030204" pitchFamily="34" charset="-120"/>
              </a:rPr>
              <a:t>76% of the quarter's total abandon count occurred in March, the month with the highest call volume — abandon rate rose to 2.15% that month versus under 0.5% in Feb/Apr.</a:t>
            </a:r>
            <a:endParaRPr lang="en-US" sz="1070" dirty="0"/>
          </a:p>
        </p:txBody>
      </p:sp>
      <p:sp>
        <p:nvSpPr>
          <p:cNvPr id="14" name="Text 11"/>
          <p:cNvSpPr/>
          <p:nvPr/>
        </p:nvSpPr>
        <p:spPr>
          <a:xfrm>
            <a:off x="6400800" y="2944368"/>
            <a:ext cx="5029200" cy="27432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Project-level pressure</a:t>
            </a:r>
            <a:endParaRPr lang="en-US" sz="1200" dirty="0"/>
          </a:p>
        </p:txBody>
      </p:sp>
      <p:sp>
        <p:nvSpPr>
          <p:cNvPr id="15" name="Text 12"/>
          <p:cNvSpPr/>
          <p:nvPr/>
        </p:nvSpPr>
        <p:spPr>
          <a:xfrm>
            <a:off x="6400800" y="3218688"/>
            <a:ext cx="5029200" cy="777240"/>
          </a:xfrm>
          <a:prstGeom prst="rect">
            <a:avLst/>
          </a:prstGeom>
          <a:noFill/>
        </p:spPr>
        <p:txBody>
          <a:bodyPr wrap="square" rtlCol="0" anchor="ctr"/>
          <a:lstStyle/>
          <a:p>
            <a:pPr marL="0" indent="0">
              <a:lnSpc>
                <a:spcPct val="120000"/>
              </a:lnSpc>
              <a:buNone/>
            </a:pPr>
            <a:r>
              <a:rPr lang="en-US" sz="1070" dirty="0">
                <a:solidFill>
                  <a:srgbClr val="17262B"/>
                </a:solidFill>
                <a:latin typeface="Calibri" panose="020F0502020204030204" pitchFamily="34" charset="0"/>
                <a:ea typeface="Calibri" panose="020F0502020204030204" pitchFamily="34" charset="-122"/>
                <a:cs typeface="Calibri" panose="020F0502020204030204" pitchFamily="34" charset="-120"/>
              </a:rPr>
              <a:t>Project B combines the largest call volume (900K offered) with the slowest ASA (11.68s) and highest abandon rate (2%) — indicating capacity may be a potential operational driver.</a:t>
            </a:r>
            <a:endParaRPr lang="en-US" sz="1070" dirty="0"/>
          </a:p>
        </p:txBody>
      </p:sp>
      <p:sp>
        <p:nvSpPr>
          <p:cNvPr id="16" name="Text 13"/>
          <p:cNvSpPr/>
          <p:nvPr/>
        </p:nvSpPr>
        <p:spPr>
          <a:xfrm>
            <a:off x="6400800" y="4059936"/>
            <a:ext cx="5029200" cy="27432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Agent workload</a:t>
            </a:r>
            <a:endParaRPr lang="en-US" sz="1200" dirty="0"/>
          </a:p>
        </p:txBody>
      </p:sp>
      <p:sp>
        <p:nvSpPr>
          <p:cNvPr id="17" name="Text 14"/>
          <p:cNvSpPr/>
          <p:nvPr/>
        </p:nvSpPr>
        <p:spPr>
          <a:xfrm>
            <a:off x="6400800" y="4334256"/>
            <a:ext cx="5029200" cy="777240"/>
          </a:xfrm>
          <a:prstGeom prst="rect">
            <a:avLst/>
          </a:prstGeom>
          <a:noFill/>
        </p:spPr>
        <p:txBody>
          <a:bodyPr wrap="square" rtlCol="0" anchor="ctr"/>
          <a:lstStyle/>
          <a:p>
            <a:pPr marL="0" indent="0">
              <a:lnSpc>
                <a:spcPct val="120000"/>
              </a:lnSpc>
              <a:buNone/>
            </a:pPr>
            <a:r>
              <a:rPr lang="en-US" sz="1070" dirty="0">
                <a:solidFill>
                  <a:srgbClr val="17262B"/>
                </a:solidFill>
                <a:latin typeface="Calibri" panose="020F0502020204030204" pitchFamily="34" charset="0"/>
                <a:ea typeface="Calibri" panose="020F0502020204030204" pitchFamily="34" charset="-122"/>
                <a:cs typeface="Calibri" panose="020F0502020204030204" pitchFamily="34" charset="-120"/>
              </a:rPr>
              <a:t>The two highest-volume agents (Dina, Youssef) also post the lowest Service Level and highest ASA in the team — a pattern consistent with workload-driven service pressure.</a:t>
            </a:r>
            <a:endParaRPr lang="en-US" sz="1070" dirty="0"/>
          </a:p>
        </p:txBody>
      </p:sp>
      <p:sp>
        <p:nvSpPr>
          <p:cNvPr id="18" name="Shape 15"/>
          <p:cNvSpPr/>
          <p:nvPr/>
        </p:nvSpPr>
        <p:spPr>
          <a:xfrm>
            <a:off x="502920" y="5257800"/>
            <a:ext cx="11183112" cy="1051560"/>
          </a:xfrm>
          <a:prstGeom prst="roundRect">
            <a:avLst>
              <a:gd name="adj" fmla="val 7826"/>
            </a:avLst>
          </a:prstGeom>
          <a:solidFill>
            <a:srgbClr val="024958"/>
          </a:solidFill>
          <a:ln w="12700">
            <a:solidFill>
              <a:srgbClr val="DCE7E8"/>
            </a:solidFill>
            <a:prstDash val="solid"/>
          </a:ln>
        </p:spPr>
      </p:sp>
      <p:sp>
        <p:nvSpPr>
          <p:cNvPr id="19" name="Text 16"/>
          <p:cNvSpPr/>
          <p:nvPr/>
        </p:nvSpPr>
        <p:spPr>
          <a:xfrm>
            <a:off x="777240" y="5257800"/>
            <a:ext cx="10607040" cy="1051560"/>
          </a:xfrm>
          <a:prstGeom prst="rect">
            <a:avLst/>
          </a:prstGeom>
          <a:noFill/>
        </p:spPr>
        <p:txBody>
          <a:bodyPr wrap="square" rtlCol="0" anchor="ctr"/>
          <a:lstStyle/>
          <a:p>
            <a:pPr marL="0" indent="0">
              <a:lnSpc>
                <a:spcPct val="125000"/>
              </a:lnSpc>
              <a:buNone/>
            </a:pPr>
            <a:r>
              <a:rPr lang="en-US" sz="1150" i="1" dirty="0">
                <a:solidFill>
                  <a:srgbClr val="FFFFFF"/>
                </a:solidFill>
                <a:latin typeface="Calibri" panose="020F0502020204030204" pitchFamily="34" charset="0"/>
                <a:ea typeface="Calibri" panose="020F0502020204030204" pitchFamily="34" charset="-122"/>
                <a:cs typeface="Calibri" panose="020F0502020204030204" pitchFamily="34" charset="-120"/>
              </a:rPr>
              <a:t>These indicators suggest that elevated call volume, whether at the monthly, project, or agent level, may contribute to declining Service Level and rising ASA — they are not proof of statistical causality, but they are consistent, repeatable operational patterns across the three-month dataset.</a:t>
            </a:r>
            <a:endParaRPr lang="en-US" sz="1150" dirty="0"/>
          </a:p>
        </p:txBody>
      </p:sp>
      <p:sp>
        <p:nvSpPr>
          <p:cNvPr id="20" name="Text 17"/>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
        <p:nvSpPr>
          <p:cNvPr id="21" name="Text 18"/>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SCENARIO SIMULATION</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What-If Analysis: Simulating a Call-Volume Surge</a:t>
            </a:r>
            <a:endParaRPr lang="en-US" sz="2800" dirty="0"/>
          </a:p>
        </p:txBody>
      </p:sp>
      <p:sp>
        <p:nvSpPr>
          <p:cNvPr id="4" name="Text 2"/>
          <p:cNvSpPr/>
          <p:nvPr/>
        </p:nvSpPr>
        <p:spPr>
          <a:xfrm>
            <a:off x="502920" y="1051560"/>
            <a:ext cx="11155680" cy="457200"/>
          </a:xfrm>
          <a:prstGeom prst="rect">
            <a:avLst/>
          </a:prstGeom>
          <a:noFill/>
        </p:spPr>
        <p:txBody>
          <a:bodyPr wrap="square" rtlCol="0" anchor="ctr"/>
          <a:lstStyle/>
          <a:p>
            <a:pPr marL="0" indent="0">
              <a:lnSpc>
                <a:spcPct val="120000"/>
              </a:lnSpc>
              <a:buNone/>
            </a:pPr>
            <a:r>
              <a:rPr lang="en-US" sz="1200" dirty="0">
                <a:solidFill>
                  <a:srgbClr val="17262B"/>
                </a:solidFill>
                <a:latin typeface="Calibri" panose="020F0502020204030204" pitchFamily="34" charset="0"/>
                <a:ea typeface="Calibri" panose="020F0502020204030204" pitchFamily="34" charset="-122"/>
                <a:cs typeface="Calibri" panose="020F0502020204030204" pitchFamily="34" charset="-120"/>
              </a:rPr>
              <a:t>The dashboard includes a Call Volume parameter that lets management test the operational impact of demand changes. The scenario below reflects a +35% increase in call volume.</a:t>
            </a:r>
            <a:endParaRPr lang="en-US" sz="1200" dirty="0"/>
          </a:p>
        </p:txBody>
      </p:sp>
      <p:sp>
        <p:nvSpPr>
          <p:cNvPr id="5" name="Shape 3"/>
          <p:cNvSpPr/>
          <p:nvPr/>
        </p:nvSpPr>
        <p:spPr>
          <a:xfrm>
            <a:off x="502920" y="1645920"/>
            <a:ext cx="5394960" cy="1965960"/>
          </a:xfrm>
          <a:prstGeom prst="roundRect">
            <a:avLst>
              <a:gd name="adj" fmla="val 4186"/>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6" name="Shape 4"/>
          <p:cNvSpPr/>
          <p:nvPr/>
        </p:nvSpPr>
        <p:spPr>
          <a:xfrm>
            <a:off x="731520" y="1828800"/>
            <a:ext cx="201168" cy="201168"/>
          </a:xfrm>
          <a:prstGeom prst="roundRect">
            <a:avLst>
              <a:gd name="adj" fmla="val 18182"/>
            </a:avLst>
          </a:prstGeom>
          <a:solidFill>
            <a:srgbClr val="2EC4B6"/>
          </a:solidFill>
        </p:spPr>
      </p:sp>
      <p:sp>
        <p:nvSpPr>
          <p:cNvPr id="7" name="Text 5"/>
          <p:cNvSpPr/>
          <p:nvPr/>
        </p:nvSpPr>
        <p:spPr>
          <a:xfrm>
            <a:off x="1024128" y="1773936"/>
            <a:ext cx="464515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Current State (Baseline)</a:t>
            </a:r>
            <a:endParaRPr lang="en-US" sz="1500" dirty="0"/>
          </a:p>
        </p:txBody>
      </p:sp>
      <p:sp>
        <p:nvSpPr>
          <p:cNvPr id="8" name="Text 6"/>
          <p:cNvSpPr/>
          <p:nvPr/>
        </p:nvSpPr>
        <p:spPr>
          <a:xfrm>
            <a:off x="731520" y="2194560"/>
            <a:ext cx="1234440" cy="457200"/>
          </a:xfrm>
          <a:prstGeom prst="rect">
            <a:avLst/>
          </a:prstGeom>
          <a:noFill/>
        </p:spPr>
        <p:txBody>
          <a:bodyPr wrap="square" rtlCol="0" anchor="ctr"/>
          <a:lstStyle/>
          <a:p>
            <a:pPr marL="0" indent="0" algn="ctr">
              <a:buNone/>
            </a:pPr>
            <a:r>
              <a:rPr lang="en-US" sz="1700" b="1" dirty="0">
                <a:solidFill>
                  <a:srgbClr val="1E8A6E"/>
                </a:solidFill>
                <a:latin typeface="Cambria" panose="02040503050406030204" pitchFamily="34" charset="0"/>
                <a:ea typeface="Cambria" panose="02040503050406030204" pitchFamily="34" charset="-122"/>
                <a:cs typeface="Cambria" panose="02040503050406030204" pitchFamily="34" charset="-120"/>
              </a:rPr>
              <a:t>1.74M</a:t>
            </a:r>
            <a:endParaRPr lang="en-US" sz="1700" dirty="0"/>
          </a:p>
        </p:txBody>
      </p:sp>
      <p:sp>
        <p:nvSpPr>
          <p:cNvPr id="9" name="Text 7"/>
          <p:cNvSpPr/>
          <p:nvPr/>
        </p:nvSpPr>
        <p:spPr>
          <a:xfrm>
            <a:off x="731520" y="2651760"/>
            <a:ext cx="1234440" cy="548640"/>
          </a:xfrm>
          <a:prstGeom prst="rect">
            <a:avLst/>
          </a:prstGeom>
          <a:noFill/>
        </p:spPr>
        <p:txBody>
          <a:bodyPr wrap="square" rtlCol="0" anchor="ctr"/>
          <a:lstStyle/>
          <a:p>
            <a:pPr marL="0" indent="0" algn="ctr">
              <a:buNone/>
            </a:pPr>
            <a:r>
              <a:rPr lang="en-US" sz="900" dirty="0">
                <a:solidFill>
                  <a:srgbClr val="5B6E73"/>
                </a:solidFill>
                <a:latin typeface="Calibri" panose="020F0502020204030204" pitchFamily="34" charset="0"/>
                <a:ea typeface="Calibri" panose="020F0502020204030204" pitchFamily="34" charset="-122"/>
                <a:cs typeface="Calibri" panose="020F0502020204030204" pitchFamily="34" charset="-120"/>
              </a:rPr>
              <a:t>Offered Calls</a:t>
            </a:r>
            <a:endParaRPr lang="en-US" sz="900" dirty="0"/>
          </a:p>
        </p:txBody>
      </p:sp>
      <p:sp>
        <p:nvSpPr>
          <p:cNvPr id="10" name="Text 8"/>
          <p:cNvSpPr/>
          <p:nvPr/>
        </p:nvSpPr>
        <p:spPr>
          <a:xfrm>
            <a:off x="2029968" y="2194560"/>
            <a:ext cx="1234440" cy="457200"/>
          </a:xfrm>
          <a:prstGeom prst="rect">
            <a:avLst/>
          </a:prstGeom>
          <a:noFill/>
        </p:spPr>
        <p:txBody>
          <a:bodyPr wrap="square" rtlCol="0" anchor="ctr"/>
          <a:lstStyle/>
          <a:p>
            <a:pPr marL="0" indent="0" algn="ctr">
              <a:buNone/>
            </a:pPr>
            <a:r>
              <a:rPr lang="en-US" sz="1700" b="1" dirty="0">
                <a:solidFill>
                  <a:srgbClr val="1E8A6E"/>
                </a:solidFill>
                <a:latin typeface="Cambria" panose="02040503050406030204" pitchFamily="34" charset="0"/>
                <a:ea typeface="Cambria" panose="02040503050406030204" pitchFamily="34" charset="-122"/>
                <a:cs typeface="Cambria" panose="02040503050406030204" pitchFamily="34" charset="-120"/>
              </a:rPr>
              <a:t>92.28%</a:t>
            </a:r>
            <a:endParaRPr lang="en-US" sz="1700" dirty="0"/>
          </a:p>
        </p:txBody>
      </p:sp>
      <p:sp>
        <p:nvSpPr>
          <p:cNvPr id="11" name="Text 9"/>
          <p:cNvSpPr/>
          <p:nvPr/>
        </p:nvSpPr>
        <p:spPr>
          <a:xfrm>
            <a:off x="2029968" y="2651760"/>
            <a:ext cx="1234440" cy="548640"/>
          </a:xfrm>
          <a:prstGeom prst="rect">
            <a:avLst/>
          </a:prstGeom>
          <a:noFill/>
        </p:spPr>
        <p:txBody>
          <a:bodyPr wrap="square" rtlCol="0" anchor="ctr"/>
          <a:lstStyle/>
          <a:p>
            <a:pPr marL="0" indent="0" algn="ctr">
              <a:buNone/>
            </a:pPr>
            <a:r>
              <a:rPr lang="en-US" sz="900" dirty="0">
                <a:solidFill>
                  <a:srgbClr val="5B6E73"/>
                </a:solidFill>
                <a:latin typeface="Calibri" panose="020F0502020204030204" pitchFamily="34" charset="0"/>
                <a:ea typeface="Calibri" panose="020F0502020204030204" pitchFamily="34" charset="-122"/>
                <a:cs typeface="Calibri" panose="020F0502020204030204" pitchFamily="34" charset="-120"/>
              </a:rPr>
              <a:t>Service Level</a:t>
            </a:r>
            <a:endParaRPr lang="en-US" sz="900" dirty="0"/>
          </a:p>
        </p:txBody>
      </p:sp>
      <p:sp>
        <p:nvSpPr>
          <p:cNvPr id="12" name="Text 10"/>
          <p:cNvSpPr/>
          <p:nvPr/>
        </p:nvSpPr>
        <p:spPr>
          <a:xfrm>
            <a:off x="3328416" y="2194560"/>
            <a:ext cx="1234440" cy="457200"/>
          </a:xfrm>
          <a:prstGeom prst="rect">
            <a:avLst/>
          </a:prstGeom>
          <a:noFill/>
        </p:spPr>
        <p:txBody>
          <a:bodyPr wrap="square" rtlCol="0" anchor="ctr"/>
          <a:lstStyle/>
          <a:p>
            <a:pPr marL="0" indent="0" algn="ctr">
              <a:buNone/>
            </a:pPr>
            <a:r>
              <a:rPr lang="en-US" sz="1700" b="1" dirty="0">
                <a:solidFill>
                  <a:srgbClr val="1E8A6E"/>
                </a:solidFill>
                <a:latin typeface="Cambria" panose="02040503050406030204" pitchFamily="34" charset="0"/>
                <a:ea typeface="Cambria" panose="02040503050406030204" pitchFamily="34" charset="-122"/>
                <a:cs typeface="Cambria" panose="02040503050406030204" pitchFamily="34" charset="-120"/>
              </a:rPr>
              <a:t>9.22s</a:t>
            </a:r>
            <a:endParaRPr lang="en-US" sz="1700" dirty="0"/>
          </a:p>
        </p:txBody>
      </p:sp>
      <p:sp>
        <p:nvSpPr>
          <p:cNvPr id="13" name="Text 11"/>
          <p:cNvSpPr/>
          <p:nvPr/>
        </p:nvSpPr>
        <p:spPr>
          <a:xfrm>
            <a:off x="3328416" y="2651760"/>
            <a:ext cx="1234440" cy="548640"/>
          </a:xfrm>
          <a:prstGeom prst="rect">
            <a:avLst/>
          </a:prstGeom>
          <a:noFill/>
        </p:spPr>
        <p:txBody>
          <a:bodyPr wrap="square" rtlCol="0" anchor="ctr"/>
          <a:lstStyle/>
          <a:p>
            <a:pPr marL="0" indent="0" algn="ctr">
              <a:buNone/>
            </a:pPr>
            <a:r>
              <a:rPr lang="en-US" sz="900" dirty="0">
                <a:solidFill>
                  <a:srgbClr val="5B6E73"/>
                </a:solidFill>
                <a:latin typeface="Calibri" panose="020F0502020204030204" pitchFamily="34" charset="0"/>
                <a:ea typeface="Calibri" panose="020F0502020204030204" pitchFamily="34" charset="-122"/>
                <a:cs typeface="Calibri" panose="020F0502020204030204" pitchFamily="34" charset="-120"/>
              </a:rPr>
              <a:t>Avg ASA</a:t>
            </a:r>
            <a:endParaRPr lang="en-US" sz="900" dirty="0"/>
          </a:p>
        </p:txBody>
      </p:sp>
      <p:sp>
        <p:nvSpPr>
          <p:cNvPr id="14" name="Text 12"/>
          <p:cNvSpPr/>
          <p:nvPr/>
        </p:nvSpPr>
        <p:spPr>
          <a:xfrm>
            <a:off x="4626864" y="2194560"/>
            <a:ext cx="1234440" cy="457200"/>
          </a:xfrm>
          <a:prstGeom prst="rect">
            <a:avLst/>
          </a:prstGeom>
          <a:noFill/>
        </p:spPr>
        <p:txBody>
          <a:bodyPr wrap="square" rtlCol="0" anchor="ctr"/>
          <a:lstStyle/>
          <a:p>
            <a:pPr marL="0" indent="0" algn="ctr">
              <a:buNone/>
            </a:pPr>
            <a:r>
              <a:rPr lang="en-US" sz="1700" b="1" dirty="0">
                <a:solidFill>
                  <a:srgbClr val="1E8A6E"/>
                </a:solidFill>
                <a:latin typeface="Cambria" panose="02040503050406030204" pitchFamily="34" charset="0"/>
                <a:ea typeface="Cambria" panose="02040503050406030204" pitchFamily="34" charset="-122"/>
                <a:cs typeface="Cambria" panose="02040503050406030204" pitchFamily="34" charset="-120"/>
              </a:rPr>
              <a:t>Low</a:t>
            </a:r>
            <a:endParaRPr lang="en-US" sz="1700" dirty="0"/>
          </a:p>
        </p:txBody>
      </p:sp>
      <p:sp>
        <p:nvSpPr>
          <p:cNvPr id="15" name="Text 13"/>
          <p:cNvSpPr/>
          <p:nvPr/>
        </p:nvSpPr>
        <p:spPr>
          <a:xfrm>
            <a:off x="4626864" y="2651760"/>
            <a:ext cx="1234440" cy="548640"/>
          </a:xfrm>
          <a:prstGeom prst="rect">
            <a:avLst/>
          </a:prstGeom>
          <a:noFill/>
        </p:spPr>
        <p:txBody>
          <a:bodyPr wrap="square" rtlCol="0" anchor="ctr"/>
          <a:lstStyle/>
          <a:p>
            <a:pPr marL="0" indent="0" algn="ctr">
              <a:buNone/>
            </a:pPr>
            <a:r>
              <a:rPr lang="en-US" sz="900" dirty="0">
                <a:solidFill>
                  <a:srgbClr val="5B6E73"/>
                </a:solidFill>
                <a:latin typeface="Calibri" panose="020F0502020204030204" pitchFamily="34" charset="0"/>
                <a:ea typeface="Calibri" panose="020F0502020204030204" pitchFamily="34" charset="-122"/>
                <a:cs typeface="Calibri" panose="020F0502020204030204" pitchFamily="34" charset="-120"/>
              </a:rPr>
              <a:t>Operational Risk</a:t>
            </a:r>
            <a:endParaRPr lang="en-US" sz="900" dirty="0"/>
          </a:p>
        </p:txBody>
      </p:sp>
      <p:sp>
        <p:nvSpPr>
          <p:cNvPr id="16" name="Shape 14"/>
          <p:cNvSpPr/>
          <p:nvPr/>
        </p:nvSpPr>
        <p:spPr>
          <a:xfrm>
            <a:off x="6080760" y="1645920"/>
            <a:ext cx="5605272" cy="1965960"/>
          </a:xfrm>
          <a:prstGeom prst="roundRect">
            <a:avLst>
              <a:gd name="adj" fmla="val 4186"/>
            </a:avLst>
          </a:prstGeom>
          <a:solidFill>
            <a:srgbClr val="FCEFEE"/>
          </a:solidFill>
          <a:ln w="12700">
            <a:solidFill>
              <a:srgbClr val="DCE7E8"/>
            </a:solidFill>
            <a:prstDash val="solid"/>
          </a:ln>
          <a:effectLst>
            <a:outerShdw blurRad="88900" dist="25400" dir="5400000" algn="bl" rotWithShape="0">
              <a:srgbClr val="1A2A2E">
                <a:alpha val="10000"/>
              </a:srgbClr>
            </a:outerShdw>
          </a:effectLst>
        </p:spPr>
      </p:sp>
      <p:sp>
        <p:nvSpPr>
          <p:cNvPr id="17" name="Shape 15"/>
          <p:cNvSpPr/>
          <p:nvPr/>
        </p:nvSpPr>
        <p:spPr>
          <a:xfrm>
            <a:off x="6309360" y="1828800"/>
            <a:ext cx="201168" cy="201168"/>
          </a:xfrm>
          <a:prstGeom prst="roundRect">
            <a:avLst>
              <a:gd name="adj" fmla="val 18182"/>
            </a:avLst>
          </a:prstGeom>
          <a:solidFill>
            <a:srgbClr val="B23A34"/>
          </a:solidFill>
        </p:spPr>
      </p:sp>
      <p:sp>
        <p:nvSpPr>
          <p:cNvPr id="18" name="Text 16"/>
          <p:cNvSpPr/>
          <p:nvPr/>
        </p:nvSpPr>
        <p:spPr>
          <a:xfrm>
            <a:off x="6601968" y="1773936"/>
            <a:ext cx="482803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Scenario: +35% Call Volume</a:t>
            </a:r>
            <a:endParaRPr lang="en-US" sz="1500" dirty="0"/>
          </a:p>
        </p:txBody>
      </p:sp>
      <p:sp>
        <p:nvSpPr>
          <p:cNvPr id="19" name="Text 17"/>
          <p:cNvSpPr/>
          <p:nvPr/>
        </p:nvSpPr>
        <p:spPr>
          <a:xfrm>
            <a:off x="6309360" y="2194560"/>
            <a:ext cx="1280160" cy="457200"/>
          </a:xfrm>
          <a:prstGeom prst="rect">
            <a:avLst/>
          </a:prstGeom>
          <a:noFill/>
        </p:spPr>
        <p:txBody>
          <a:bodyPr wrap="square" rtlCol="0" anchor="ctr"/>
          <a:lstStyle/>
          <a:p>
            <a:pPr marL="0" indent="0" algn="ctr">
              <a:buNone/>
            </a:pPr>
            <a:r>
              <a:rPr lang="en-US" sz="1700" b="1" dirty="0">
                <a:solidFill>
                  <a:srgbClr val="B23A34"/>
                </a:solidFill>
                <a:latin typeface="Cambria" panose="02040503050406030204" pitchFamily="34" charset="0"/>
                <a:ea typeface="Cambria" panose="02040503050406030204" pitchFamily="34" charset="-122"/>
                <a:cs typeface="Cambria" panose="02040503050406030204" pitchFamily="34" charset="-120"/>
              </a:rPr>
              <a:t>2.36M</a:t>
            </a:r>
            <a:endParaRPr lang="en-US" sz="1700" dirty="0"/>
          </a:p>
        </p:txBody>
      </p:sp>
      <p:sp>
        <p:nvSpPr>
          <p:cNvPr id="20" name="Text 18"/>
          <p:cNvSpPr/>
          <p:nvPr/>
        </p:nvSpPr>
        <p:spPr>
          <a:xfrm>
            <a:off x="6309360" y="2651760"/>
            <a:ext cx="1280160" cy="548640"/>
          </a:xfrm>
          <a:prstGeom prst="rect">
            <a:avLst/>
          </a:prstGeom>
          <a:noFill/>
        </p:spPr>
        <p:txBody>
          <a:bodyPr wrap="square" rtlCol="0" anchor="ctr"/>
          <a:lstStyle/>
          <a:p>
            <a:pPr marL="0" indent="0" algn="ctr">
              <a:buNone/>
            </a:pPr>
            <a:r>
              <a:rPr lang="en-US" sz="900" dirty="0">
                <a:solidFill>
                  <a:srgbClr val="5B6E73"/>
                </a:solidFill>
                <a:latin typeface="Calibri" panose="020F0502020204030204" pitchFamily="34" charset="0"/>
                <a:ea typeface="Calibri" panose="020F0502020204030204" pitchFamily="34" charset="-122"/>
                <a:cs typeface="Calibri" panose="020F0502020204030204" pitchFamily="34" charset="-120"/>
              </a:rPr>
              <a:t>Offered Calls</a:t>
            </a:r>
            <a:endParaRPr lang="en-US" sz="900" dirty="0"/>
          </a:p>
        </p:txBody>
      </p:sp>
      <p:sp>
        <p:nvSpPr>
          <p:cNvPr id="21" name="Text 19"/>
          <p:cNvSpPr/>
          <p:nvPr/>
        </p:nvSpPr>
        <p:spPr>
          <a:xfrm>
            <a:off x="7662672" y="2194560"/>
            <a:ext cx="1280160" cy="457200"/>
          </a:xfrm>
          <a:prstGeom prst="rect">
            <a:avLst/>
          </a:prstGeom>
          <a:noFill/>
        </p:spPr>
        <p:txBody>
          <a:bodyPr wrap="square" rtlCol="0" anchor="ctr"/>
          <a:lstStyle/>
          <a:p>
            <a:pPr marL="0" indent="0" algn="ctr">
              <a:buNone/>
            </a:pPr>
            <a:r>
              <a:rPr lang="en-US" sz="1700" b="1" dirty="0">
                <a:solidFill>
                  <a:srgbClr val="B23A34"/>
                </a:solidFill>
                <a:latin typeface="Cambria" panose="02040503050406030204" pitchFamily="34" charset="0"/>
                <a:ea typeface="Cambria" panose="02040503050406030204" pitchFamily="34" charset="-122"/>
                <a:cs typeface="Cambria" panose="02040503050406030204" pitchFamily="34" charset="-120"/>
              </a:rPr>
              <a:t>83.53%</a:t>
            </a:r>
            <a:endParaRPr lang="en-US" sz="1700" dirty="0"/>
          </a:p>
        </p:txBody>
      </p:sp>
      <p:sp>
        <p:nvSpPr>
          <p:cNvPr id="22" name="Text 20"/>
          <p:cNvSpPr/>
          <p:nvPr/>
        </p:nvSpPr>
        <p:spPr>
          <a:xfrm>
            <a:off x="7662672" y="2651760"/>
            <a:ext cx="1280160" cy="548640"/>
          </a:xfrm>
          <a:prstGeom prst="rect">
            <a:avLst/>
          </a:prstGeom>
          <a:noFill/>
        </p:spPr>
        <p:txBody>
          <a:bodyPr wrap="square" rtlCol="0" anchor="ctr"/>
          <a:lstStyle/>
          <a:p>
            <a:pPr marL="0" indent="0" algn="ctr">
              <a:buNone/>
            </a:pPr>
            <a:r>
              <a:rPr lang="en-US" sz="900" dirty="0">
                <a:solidFill>
                  <a:srgbClr val="5B6E73"/>
                </a:solidFill>
                <a:latin typeface="Calibri" panose="020F0502020204030204" pitchFamily="34" charset="0"/>
                <a:ea typeface="Calibri" panose="020F0502020204030204" pitchFamily="34" charset="-122"/>
                <a:cs typeface="Calibri" panose="020F0502020204030204" pitchFamily="34" charset="-120"/>
              </a:rPr>
              <a:t>Service Level</a:t>
            </a:r>
            <a:endParaRPr lang="en-US" sz="900" dirty="0"/>
          </a:p>
        </p:txBody>
      </p:sp>
      <p:sp>
        <p:nvSpPr>
          <p:cNvPr id="23" name="Text 21"/>
          <p:cNvSpPr/>
          <p:nvPr/>
        </p:nvSpPr>
        <p:spPr>
          <a:xfrm>
            <a:off x="9015984" y="2194560"/>
            <a:ext cx="1280160" cy="457200"/>
          </a:xfrm>
          <a:prstGeom prst="rect">
            <a:avLst/>
          </a:prstGeom>
          <a:noFill/>
        </p:spPr>
        <p:txBody>
          <a:bodyPr wrap="square" rtlCol="0" anchor="ctr"/>
          <a:lstStyle/>
          <a:p>
            <a:pPr marL="0" indent="0" algn="ctr">
              <a:buNone/>
            </a:pPr>
            <a:r>
              <a:rPr lang="en-US" sz="1700" b="1" dirty="0">
                <a:solidFill>
                  <a:srgbClr val="B23A34"/>
                </a:solidFill>
                <a:latin typeface="Cambria" panose="02040503050406030204" pitchFamily="34" charset="0"/>
                <a:ea typeface="Cambria" panose="02040503050406030204" pitchFamily="34" charset="-122"/>
                <a:cs typeface="Cambria" panose="02040503050406030204" pitchFamily="34" charset="-120"/>
              </a:rPr>
              <a:t>10.83s</a:t>
            </a:r>
            <a:endParaRPr lang="en-US" sz="1700" dirty="0"/>
          </a:p>
        </p:txBody>
      </p:sp>
      <p:sp>
        <p:nvSpPr>
          <p:cNvPr id="24" name="Text 22"/>
          <p:cNvSpPr/>
          <p:nvPr/>
        </p:nvSpPr>
        <p:spPr>
          <a:xfrm>
            <a:off x="9015984" y="2651760"/>
            <a:ext cx="1280160" cy="548640"/>
          </a:xfrm>
          <a:prstGeom prst="rect">
            <a:avLst/>
          </a:prstGeom>
          <a:noFill/>
        </p:spPr>
        <p:txBody>
          <a:bodyPr wrap="square" rtlCol="0" anchor="ctr"/>
          <a:lstStyle/>
          <a:p>
            <a:pPr marL="0" indent="0" algn="ctr">
              <a:buNone/>
            </a:pPr>
            <a:r>
              <a:rPr lang="en-US" sz="900" dirty="0">
                <a:solidFill>
                  <a:srgbClr val="5B6E73"/>
                </a:solidFill>
                <a:latin typeface="Calibri" panose="020F0502020204030204" pitchFamily="34" charset="0"/>
                <a:ea typeface="Calibri" panose="020F0502020204030204" pitchFamily="34" charset="-122"/>
                <a:cs typeface="Calibri" panose="020F0502020204030204" pitchFamily="34" charset="-120"/>
              </a:rPr>
              <a:t>Avg ASA</a:t>
            </a:r>
            <a:endParaRPr lang="en-US" sz="900" dirty="0"/>
          </a:p>
        </p:txBody>
      </p:sp>
      <p:sp>
        <p:nvSpPr>
          <p:cNvPr id="25" name="Text 23"/>
          <p:cNvSpPr/>
          <p:nvPr/>
        </p:nvSpPr>
        <p:spPr>
          <a:xfrm>
            <a:off x="10369296" y="2194560"/>
            <a:ext cx="1280160" cy="457200"/>
          </a:xfrm>
          <a:prstGeom prst="rect">
            <a:avLst/>
          </a:prstGeom>
          <a:noFill/>
        </p:spPr>
        <p:txBody>
          <a:bodyPr wrap="square" rtlCol="0" anchor="ctr"/>
          <a:lstStyle/>
          <a:p>
            <a:pPr marL="0" indent="0" algn="ctr">
              <a:buNone/>
            </a:pPr>
            <a:r>
              <a:rPr lang="en-US" sz="1700" b="1" dirty="0">
                <a:solidFill>
                  <a:srgbClr val="B23A34"/>
                </a:solidFill>
                <a:latin typeface="Cambria" panose="02040503050406030204" pitchFamily="34" charset="0"/>
                <a:ea typeface="Cambria" panose="02040503050406030204" pitchFamily="34" charset="-122"/>
                <a:cs typeface="Cambria" panose="02040503050406030204" pitchFamily="34" charset="-120"/>
              </a:rPr>
              <a:t>High</a:t>
            </a:r>
            <a:endParaRPr lang="en-US" sz="1700" dirty="0"/>
          </a:p>
        </p:txBody>
      </p:sp>
      <p:sp>
        <p:nvSpPr>
          <p:cNvPr id="26" name="Text 24"/>
          <p:cNvSpPr/>
          <p:nvPr/>
        </p:nvSpPr>
        <p:spPr>
          <a:xfrm>
            <a:off x="10369296" y="2651760"/>
            <a:ext cx="1280160" cy="548640"/>
          </a:xfrm>
          <a:prstGeom prst="rect">
            <a:avLst/>
          </a:prstGeom>
          <a:noFill/>
        </p:spPr>
        <p:txBody>
          <a:bodyPr wrap="square" rtlCol="0" anchor="ctr"/>
          <a:lstStyle/>
          <a:p>
            <a:pPr marL="0" indent="0" algn="ctr">
              <a:buNone/>
            </a:pPr>
            <a:r>
              <a:rPr lang="en-US" sz="900" dirty="0">
                <a:solidFill>
                  <a:srgbClr val="5B6E73"/>
                </a:solidFill>
                <a:latin typeface="Calibri" panose="020F0502020204030204" pitchFamily="34" charset="0"/>
                <a:ea typeface="Calibri" panose="020F0502020204030204" pitchFamily="34" charset="-122"/>
                <a:cs typeface="Calibri" panose="020F0502020204030204" pitchFamily="34" charset="-120"/>
              </a:rPr>
              <a:t>Operational Risk</a:t>
            </a:r>
            <a:endParaRPr lang="en-US" sz="900" dirty="0"/>
          </a:p>
        </p:txBody>
      </p:sp>
      <p:sp>
        <p:nvSpPr>
          <p:cNvPr id="27" name="Shape 25"/>
          <p:cNvSpPr/>
          <p:nvPr/>
        </p:nvSpPr>
        <p:spPr>
          <a:xfrm>
            <a:off x="502920" y="3767328"/>
            <a:ext cx="11183112" cy="1828800"/>
          </a:xfrm>
          <a:prstGeom prst="roundRect">
            <a:avLst>
              <a:gd name="adj" fmla="val 4500"/>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8" name="Shape 26"/>
          <p:cNvSpPr/>
          <p:nvPr/>
        </p:nvSpPr>
        <p:spPr>
          <a:xfrm>
            <a:off x="731520" y="3931920"/>
            <a:ext cx="201168" cy="201168"/>
          </a:xfrm>
          <a:prstGeom prst="roundRect">
            <a:avLst>
              <a:gd name="adj" fmla="val 18182"/>
            </a:avLst>
          </a:prstGeom>
          <a:solidFill>
            <a:srgbClr val="2EC4B6"/>
          </a:solidFill>
        </p:spPr>
      </p:sp>
      <p:sp>
        <p:nvSpPr>
          <p:cNvPr id="29" name="Text 27"/>
          <p:cNvSpPr/>
          <p:nvPr/>
        </p:nvSpPr>
        <p:spPr>
          <a:xfrm>
            <a:off x="1024128" y="3877056"/>
            <a:ext cx="1031443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Scenario Impact by Project (+35% Call Volume)</a:t>
            </a:r>
            <a:endParaRPr lang="en-US" sz="1500" dirty="0"/>
          </a:p>
        </p:txBody>
      </p:sp>
      <p:graphicFrame>
        <p:nvGraphicFramePr>
          <p:cNvPr id="30" name="Table 0"/>
          <p:cNvGraphicFramePr>
            <a:graphicFrameLocks noGrp="1"/>
          </p:cNvGraphicFramePr>
          <p:nvPr/>
        </p:nvGraphicFramePr>
        <p:xfrm>
          <a:off x="731520" y="4315968"/>
          <a:ext cx="10607040" cy="1188720"/>
        </p:xfrm>
        <a:graphic>
          <a:graphicData uri="http://schemas.openxmlformats.org/drawingml/2006/table">
            <a:tbl>
              <a:tblPr/>
              <a:tblGrid>
                <a:gridCol w="1600200"/>
                <a:gridCol w="1600200"/>
                <a:gridCol w="1691640"/>
                <a:gridCol w="1463040"/>
                <a:gridCol w="1463040"/>
                <a:gridCol w="1463040"/>
                <a:gridCol w="1325880"/>
              </a:tblGrid>
              <a:tr h="237744">
                <a:tc>
                  <a:txBody>
                    <a:bodyPr/>
                    <a:lstStyle/>
                    <a:p>
                      <a:pPr marL="0" indent="0" algn="ctr">
                        <a:buNone/>
                      </a:pPr>
                      <a:r>
                        <a:rPr lang="en-US" sz="1000" b="1" dirty="0">
                          <a:solidFill>
                            <a:srgbClr val="FFFFFF"/>
                          </a:solidFill>
                        </a:rPr>
                        <a:t>Project</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00" b="1" dirty="0">
                          <a:solidFill>
                            <a:srgbClr val="FFFFFF"/>
                          </a:solidFill>
                        </a:rPr>
                        <a:t>Scenario Calls</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00" b="1" dirty="0">
                          <a:solidFill>
                            <a:srgbClr val="FFFFFF"/>
                          </a:solidFill>
                        </a:rPr>
                        <a:t>Calls Difference</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00" b="1" dirty="0">
                          <a:solidFill>
                            <a:srgbClr val="FFFFFF"/>
                          </a:solidFill>
                        </a:rPr>
                        <a:t>Scenario SL</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00" b="1" dirty="0">
                          <a:solidFill>
                            <a:srgbClr val="FFFFFF"/>
                          </a:solidFill>
                        </a:rPr>
                        <a:t>Scenario ASA</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00" b="1" dirty="0">
                          <a:solidFill>
                            <a:srgbClr val="FFFFFF"/>
                          </a:solidFill>
                        </a:rPr>
                        <a:t>Abandon Rate</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c>
                  <a:txBody>
                    <a:bodyPr/>
                    <a:lstStyle/>
                    <a:p>
                      <a:pPr marL="0" indent="0" algn="ctr">
                        <a:buNone/>
                      </a:pPr>
                      <a:r>
                        <a:rPr lang="en-US" sz="1000" b="1" dirty="0">
                          <a:solidFill>
                            <a:srgbClr val="FFFFFF"/>
                          </a:solidFill>
                        </a:rPr>
                        <a:t>Risk</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024958"/>
                    </a:solidFill>
                  </a:tcPr>
                </a:tc>
              </a:tr>
              <a:tr h="237744">
                <a:tc>
                  <a:txBody>
                    <a:bodyPr/>
                    <a:lstStyle/>
                    <a:p>
                      <a:pPr marL="0" indent="0" algn="l">
                        <a:buNone/>
                      </a:pPr>
                      <a:r>
                        <a:rPr lang="en-US" sz="1000" b="1" dirty="0">
                          <a:solidFill>
                            <a:srgbClr val="17262B"/>
                          </a:solidFill>
                        </a:rPr>
                        <a:t>Project A</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1,035,600</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+268,488</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83.65%</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11.91s</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0.04</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B23A34"/>
                          </a:solidFill>
                        </a:rPr>
                        <a:t>High</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r>
              <a:tr h="237744">
                <a:tc>
                  <a:txBody>
                    <a:bodyPr/>
                    <a:lstStyle/>
                    <a:p>
                      <a:pPr marL="0" indent="0" algn="l">
                        <a:buNone/>
                      </a:pPr>
                      <a:r>
                        <a:rPr lang="en-US" sz="1000" b="1" dirty="0">
                          <a:solidFill>
                            <a:srgbClr val="17262B"/>
                          </a:solidFill>
                        </a:rPr>
                        <a:t>Project B</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7262B"/>
                          </a:solidFill>
                        </a:rPr>
                        <a:t>1,214,670</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7262B"/>
                          </a:solidFill>
                        </a:rPr>
                        <a:t>+314,915</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7262B"/>
                          </a:solidFill>
                        </a:rPr>
                        <a:t>83.10%</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7262B"/>
                          </a:solidFill>
                        </a:rPr>
                        <a:t>13.72s</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7262B"/>
                          </a:solidFill>
                        </a:rPr>
                        <a:t>0.04</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B23A34"/>
                          </a:solidFill>
                        </a:rPr>
                        <a:t>High</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FFFFF"/>
                    </a:solidFill>
                  </a:tcPr>
                </a:tc>
              </a:tr>
              <a:tr h="237744">
                <a:tc>
                  <a:txBody>
                    <a:bodyPr/>
                    <a:lstStyle/>
                    <a:p>
                      <a:pPr marL="0" indent="0" algn="l">
                        <a:buNone/>
                      </a:pPr>
                      <a:r>
                        <a:rPr lang="en-US" sz="1000" b="1" dirty="0">
                          <a:solidFill>
                            <a:srgbClr val="17262B"/>
                          </a:solidFill>
                        </a:rPr>
                        <a:t>Project C</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105,330</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+27,307</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87.23%</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6.87s</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17262B"/>
                          </a:solidFill>
                        </a:rPr>
                        <a:t>0.04</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c>
                  <a:txBody>
                    <a:bodyPr/>
                    <a:lstStyle/>
                    <a:p>
                      <a:pPr marL="0" indent="0" algn="ctr">
                        <a:buNone/>
                      </a:pPr>
                      <a:r>
                        <a:rPr lang="en-US" sz="1000" dirty="0">
                          <a:solidFill>
                            <a:srgbClr val="C99A3C"/>
                          </a:solidFill>
                        </a:rPr>
                        <a:t>Medium</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F2F7F7"/>
                    </a:solidFill>
                  </a:tcPr>
                </a:tc>
              </a:tr>
              <a:tr h="237744">
                <a:tc>
                  <a:txBody>
                    <a:bodyPr/>
                    <a:lstStyle/>
                    <a:p>
                      <a:pPr marL="0" indent="0" algn="l">
                        <a:buNone/>
                      </a:pPr>
                      <a:r>
                        <a:rPr lang="en-US" sz="1000" b="1" dirty="0">
                          <a:solidFill>
                            <a:srgbClr val="17262B"/>
                          </a:solidFill>
                        </a:rPr>
                        <a:t>Total</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00" b="1" dirty="0">
                          <a:solidFill>
                            <a:srgbClr val="17262B"/>
                          </a:solidFill>
                        </a:rPr>
                        <a:t>2,355,590</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00" b="1" dirty="0">
                          <a:solidFill>
                            <a:srgbClr val="17262B"/>
                          </a:solidFill>
                        </a:rPr>
                        <a:t>+610,710</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00" b="1" dirty="0">
                          <a:solidFill>
                            <a:srgbClr val="17262B"/>
                          </a:solidFill>
                        </a:rPr>
                        <a:t>83.53%</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00" b="1" dirty="0">
                          <a:solidFill>
                            <a:srgbClr val="17262B"/>
                          </a:solidFill>
                        </a:rPr>
                        <a:t>10.83s</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00" b="1" dirty="0">
                          <a:solidFill>
                            <a:srgbClr val="17262B"/>
                          </a:solidFill>
                        </a:rPr>
                        <a:t>0.04</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c>
                  <a:txBody>
                    <a:bodyPr/>
                    <a:lstStyle/>
                    <a:p>
                      <a:pPr marL="0" indent="0" algn="ctr">
                        <a:buNone/>
                      </a:pPr>
                      <a:r>
                        <a:rPr lang="en-US" sz="1000" b="1" dirty="0">
                          <a:solidFill>
                            <a:srgbClr val="B23A34"/>
                          </a:solidFill>
                        </a:rPr>
                        <a:t>High</a:t>
                      </a:r>
                      <a:endParaRPr lang="en-US" sz="1000" dirty="0"/>
                    </a:p>
                  </a:txBody>
                  <a:tcPr anchor="ctr">
                    <a:lnL w="6350" cap="flat" cmpd="sng" algn="ctr">
                      <a:solidFill>
                        <a:srgbClr val="DCE7E8"/>
                      </a:solidFill>
                      <a:prstDash val="solid"/>
                      <a:round/>
                      <a:headEnd type="none" w="med" len="med"/>
                      <a:tailEnd type="none" w="med" len="med"/>
                    </a:lnL>
                    <a:lnR w="6350" cap="flat" cmpd="sng" algn="ctr">
                      <a:solidFill>
                        <a:srgbClr val="DCE7E8"/>
                      </a:solidFill>
                      <a:prstDash val="solid"/>
                      <a:round/>
                      <a:headEnd type="none" w="med" len="med"/>
                      <a:tailEnd type="none" w="med" len="med"/>
                    </a:lnR>
                    <a:lnT w="6350" cap="flat" cmpd="sng" algn="ctr">
                      <a:solidFill>
                        <a:srgbClr val="DCE7E8"/>
                      </a:solidFill>
                      <a:prstDash val="solid"/>
                      <a:round/>
                      <a:headEnd type="none" w="med" len="med"/>
                      <a:tailEnd type="none" w="med" len="med"/>
                    </a:lnT>
                    <a:lnB w="6350" cap="flat" cmpd="sng" algn="ctr">
                      <a:solidFill>
                        <a:srgbClr val="DCE7E8"/>
                      </a:solidFill>
                      <a:prstDash val="solid"/>
                      <a:round/>
                      <a:headEnd type="none" w="med" len="med"/>
                      <a:tailEnd type="none" w="med" len="med"/>
                    </a:lnB>
                    <a:solidFill>
                      <a:srgbClr val="E7EFEF"/>
                    </a:solidFill>
                  </a:tcPr>
                </a:tc>
              </a:tr>
            </a:tbl>
          </a:graphicData>
        </a:graphic>
      </p:graphicFrame>
      <p:sp>
        <p:nvSpPr>
          <p:cNvPr id="31" name="Shape 28"/>
          <p:cNvSpPr/>
          <p:nvPr/>
        </p:nvSpPr>
        <p:spPr>
          <a:xfrm>
            <a:off x="502920" y="5742432"/>
            <a:ext cx="11183112" cy="713232"/>
          </a:xfrm>
          <a:prstGeom prst="roundRect">
            <a:avLst>
              <a:gd name="adj" fmla="val 11538"/>
            </a:avLst>
          </a:prstGeom>
          <a:solidFill>
            <a:srgbClr val="01313C"/>
          </a:solidFill>
          <a:ln w="12700">
            <a:solidFill>
              <a:srgbClr val="DCE7E8"/>
            </a:solidFill>
            <a:prstDash val="solid"/>
          </a:ln>
        </p:spPr>
      </p:sp>
      <p:sp>
        <p:nvSpPr>
          <p:cNvPr id="32" name="Text 29"/>
          <p:cNvSpPr/>
          <p:nvPr/>
        </p:nvSpPr>
        <p:spPr>
          <a:xfrm>
            <a:off x="731520" y="5742432"/>
            <a:ext cx="10698480" cy="713232"/>
          </a:xfrm>
          <a:prstGeom prst="rect">
            <a:avLst/>
          </a:prstGeom>
          <a:noFill/>
        </p:spPr>
        <p:txBody>
          <a:bodyPr wrap="square" rtlCol="0" anchor="ctr"/>
          <a:lstStyle/>
          <a:p>
            <a:pPr marL="0" indent="0">
              <a:buNone/>
            </a:pPr>
            <a:r>
              <a:rPr lang="en-US" sz="1050" i="1" dirty="0">
                <a:solidFill>
                  <a:srgbClr val="FFFFFF"/>
                </a:solidFill>
                <a:latin typeface="Calibri" panose="020F0502020204030204" pitchFamily="34" charset="0"/>
                <a:ea typeface="Calibri" panose="020F0502020204030204" pitchFamily="34" charset="-122"/>
                <a:cs typeface="Calibri" panose="020F0502020204030204" pitchFamily="34" charset="-120"/>
              </a:rPr>
              <a:t>Scenario recommendation (dashboard): "Increase staffing during peak periods and closely monitor service level performance." Decision use: staffing, workforce allocation, and peak-period planning.</a:t>
            </a:r>
            <a:endParaRPr lang="en-US" sz="1050" dirty="0"/>
          </a:p>
        </p:txBody>
      </p:sp>
      <p:sp>
        <p:nvSpPr>
          <p:cNvPr id="33" name="Text 30"/>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11</a:t>
            </a:r>
            <a:endParaRPr lang="en-US" sz="1000" dirty="0"/>
          </a:p>
        </p:txBody>
      </p:sp>
      <p:sp>
        <p:nvSpPr>
          <p:cNvPr id="34" name="Text 31"/>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DECISION SUPPORT</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From Reporting Dashboard to Decision-Support Solution</a:t>
            </a:r>
            <a:endParaRPr lang="en-US" sz="2800" dirty="0"/>
          </a:p>
        </p:txBody>
      </p:sp>
      <p:sp>
        <p:nvSpPr>
          <p:cNvPr id="4" name="Shape 2"/>
          <p:cNvSpPr/>
          <p:nvPr/>
        </p:nvSpPr>
        <p:spPr>
          <a:xfrm>
            <a:off x="502920" y="1234440"/>
            <a:ext cx="11183112" cy="1371600"/>
          </a:xfrm>
          <a:prstGeom prst="roundRect">
            <a:avLst>
              <a:gd name="adj" fmla="val 6000"/>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 name="Text 3"/>
          <p:cNvSpPr/>
          <p:nvPr/>
        </p:nvSpPr>
        <p:spPr>
          <a:xfrm>
            <a:off x="822960" y="1417320"/>
            <a:ext cx="2743200" cy="274320"/>
          </a:xfrm>
          <a:prstGeom prst="rect">
            <a:avLst/>
          </a:prstGeom>
          <a:noFill/>
        </p:spPr>
        <p:txBody>
          <a:bodyPr wrap="square" rtlCol="0" anchor="ctr"/>
          <a:lstStyle/>
          <a:p>
            <a:pPr marL="0" indent="0">
              <a:buNone/>
            </a:pPr>
            <a:r>
              <a:rPr lang="en-US" sz="1000" b="1"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TRADITIONAL DASHBOARD</a:t>
            </a:r>
            <a:endParaRPr lang="en-US" sz="1000" dirty="0"/>
          </a:p>
        </p:txBody>
      </p:sp>
      <p:sp>
        <p:nvSpPr>
          <p:cNvPr id="6" name="Shape 4"/>
          <p:cNvSpPr/>
          <p:nvPr/>
        </p:nvSpPr>
        <p:spPr>
          <a:xfrm>
            <a:off x="822960" y="1783080"/>
            <a:ext cx="1371600" cy="502920"/>
          </a:xfrm>
          <a:prstGeom prst="roundRect">
            <a:avLst>
              <a:gd name="adj" fmla="val 12727"/>
            </a:avLst>
          </a:prstGeom>
          <a:solidFill>
            <a:srgbClr val="F5F9F9"/>
          </a:solidFill>
          <a:ln w="12700">
            <a:solidFill>
              <a:srgbClr val="DCE7E8"/>
            </a:solidFill>
            <a:prstDash val="solid"/>
          </a:ln>
        </p:spPr>
      </p:sp>
      <p:sp>
        <p:nvSpPr>
          <p:cNvPr id="7" name="Text 5"/>
          <p:cNvSpPr/>
          <p:nvPr/>
        </p:nvSpPr>
        <p:spPr>
          <a:xfrm>
            <a:off x="822960" y="1783080"/>
            <a:ext cx="1371600" cy="502920"/>
          </a:xfrm>
          <a:prstGeom prst="rect">
            <a:avLst/>
          </a:prstGeom>
          <a:noFill/>
        </p:spPr>
        <p:txBody>
          <a:bodyPr wrap="square" rtlCol="0" anchor="ctr"/>
          <a:lstStyle/>
          <a:p>
            <a:pPr marL="0" indent="0" algn="ctr">
              <a:buNone/>
            </a:pPr>
            <a:r>
              <a:rPr lang="en-US" sz="1200" dirty="0">
                <a:solidFill>
                  <a:srgbClr val="5B6E73"/>
                </a:solidFill>
                <a:latin typeface="Calibri" panose="020F0502020204030204" pitchFamily="34" charset="0"/>
                <a:ea typeface="Calibri" panose="020F0502020204030204" pitchFamily="34" charset="-122"/>
                <a:cs typeface="Calibri" panose="020F0502020204030204" pitchFamily="34" charset="-120"/>
              </a:rPr>
              <a:t>Data</a:t>
            </a:r>
            <a:endParaRPr lang="en-US" sz="1200" dirty="0"/>
          </a:p>
        </p:txBody>
      </p:sp>
      <p:sp>
        <p:nvSpPr>
          <p:cNvPr id="8" name="Text 6"/>
          <p:cNvSpPr/>
          <p:nvPr/>
        </p:nvSpPr>
        <p:spPr>
          <a:xfrm>
            <a:off x="2194560" y="1783080"/>
            <a:ext cx="365760" cy="502920"/>
          </a:xfrm>
          <a:prstGeom prst="rect">
            <a:avLst/>
          </a:prstGeom>
          <a:noFill/>
        </p:spPr>
        <p:txBody>
          <a:bodyPr wrap="square" rtlCol="0" anchor="ctr"/>
          <a:lstStyle/>
          <a:p>
            <a:pPr marL="0" indent="0" algn="ctr">
              <a:buNone/>
            </a:pPr>
            <a:r>
              <a:rPr lang="en-US" sz="1600" dirty="0">
                <a:solidFill>
                  <a:srgbClr val="5B6E73"/>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9" name="Shape 7"/>
          <p:cNvSpPr/>
          <p:nvPr/>
        </p:nvSpPr>
        <p:spPr>
          <a:xfrm>
            <a:off x="2560320" y="1783080"/>
            <a:ext cx="1371600" cy="502920"/>
          </a:xfrm>
          <a:prstGeom prst="roundRect">
            <a:avLst>
              <a:gd name="adj" fmla="val 12727"/>
            </a:avLst>
          </a:prstGeom>
          <a:solidFill>
            <a:srgbClr val="F5F9F9"/>
          </a:solidFill>
          <a:ln w="12700">
            <a:solidFill>
              <a:srgbClr val="DCE7E8"/>
            </a:solidFill>
            <a:prstDash val="solid"/>
          </a:ln>
        </p:spPr>
      </p:sp>
      <p:sp>
        <p:nvSpPr>
          <p:cNvPr id="10" name="Text 8"/>
          <p:cNvSpPr/>
          <p:nvPr/>
        </p:nvSpPr>
        <p:spPr>
          <a:xfrm>
            <a:off x="2560320" y="1783080"/>
            <a:ext cx="1371600" cy="502920"/>
          </a:xfrm>
          <a:prstGeom prst="rect">
            <a:avLst/>
          </a:prstGeom>
          <a:noFill/>
        </p:spPr>
        <p:txBody>
          <a:bodyPr wrap="square" rtlCol="0" anchor="ctr"/>
          <a:lstStyle/>
          <a:p>
            <a:pPr marL="0" indent="0" algn="ctr">
              <a:buNone/>
            </a:pPr>
            <a:r>
              <a:rPr lang="en-US" sz="1200" dirty="0">
                <a:solidFill>
                  <a:srgbClr val="5B6E73"/>
                </a:solidFill>
                <a:latin typeface="Calibri" panose="020F0502020204030204" pitchFamily="34" charset="0"/>
                <a:ea typeface="Calibri" panose="020F0502020204030204" pitchFamily="34" charset="-122"/>
                <a:cs typeface="Calibri" panose="020F0502020204030204" pitchFamily="34" charset="-120"/>
              </a:rPr>
              <a:t>Report</a:t>
            </a:r>
            <a:endParaRPr lang="en-US" sz="1200" dirty="0"/>
          </a:p>
        </p:txBody>
      </p:sp>
      <p:sp>
        <p:nvSpPr>
          <p:cNvPr id="11" name="Text 9"/>
          <p:cNvSpPr/>
          <p:nvPr/>
        </p:nvSpPr>
        <p:spPr>
          <a:xfrm>
            <a:off x="5760720" y="1417320"/>
            <a:ext cx="2743200" cy="274320"/>
          </a:xfrm>
          <a:prstGeom prst="rect">
            <a:avLst/>
          </a:prstGeom>
          <a:noFill/>
        </p:spPr>
        <p:txBody>
          <a:bodyPr wrap="square" rtlCol="0" anchor="ctr"/>
          <a:lstStyle/>
          <a:p>
            <a:pPr marL="0" indent="0">
              <a:buNone/>
            </a:pPr>
            <a:r>
              <a:rPr lang="en-US" sz="1000" b="1" kern="0" spc="100" dirty="0">
                <a:solidFill>
                  <a:srgbClr val="2EC4B6"/>
                </a:solidFill>
                <a:latin typeface="Calibri" panose="020F0502020204030204" pitchFamily="34" charset="0"/>
                <a:ea typeface="Calibri" panose="020F0502020204030204" pitchFamily="34" charset="-122"/>
                <a:cs typeface="Calibri" panose="020F0502020204030204" pitchFamily="34" charset="-120"/>
              </a:rPr>
              <a:t>THIS PROJECT</a:t>
            </a:r>
            <a:endParaRPr lang="en-US" sz="1000" dirty="0"/>
          </a:p>
        </p:txBody>
      </p:sp>
      <p:sp>
        <p:nvSpPr>
          <p:cNvPr id="12" name="Shape 10"/>
          <p:cNvSpPr/>
          <p:nvPr/>
        </p:nvSpPr>
        <p:spPr>
          <a:xfrm>
            <a:off x="5760720" y="1783080"/>
            <a:ext cx="960120" cy="502920"/>
          </a:xfrm>
          <a:prstGeom prst="roundRect">
            <a:avLst>
              <a:gd name="adj" fmla="val 12727"/>
            </a:avLst>
          </a:prstGeom>
          <a:solidFill>
            <a:srgbClr val="024958"/>
          </a:solidFill>
        </p:spPr>
      </p:sp>
      <p:sp>
        <p:nvSpPr>
          <p:cNvPr id="13" name="Text 11"/>
          <p:cNvSpPr/>
          <p:nvPr/>
        </p:nvSpPr>
        <p:spPr>
          <a:xfrm>
            <a:off x="5760720" y="1783080"/>
            <a:ext cx="960120" cy="502920"/>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a:t>
            </a:r>
            <a:endParaRPr lang="en-US" sz="1050" dirty="0"/>
          </a:p>
        </p:txBody>
      </p:sp>
      <p:sp>
        <p:nvSpPr>
          <p:cNvPr id="14" name="Text 12"/>
          <p:cNvSpPr/>
          <p:nvPr/>
        </p:nvSpPr>
        <p:spPr>
          <a:xfrm>
            <a:off x="6720840" y="1783080"/>
            <a:ext cx="256032" cy="502920"/>
          </a:xfrm>
          <a:prstGeom prst="rect">
            <a:avLst/>
          </a:prstGeom>
          <a:noFill/>
        </p:spPr>
        <p:txBody>
          <a:bodyPr wrap="square" rtlCol="0" anchor="ctr"/>
          <a:lstStyle/>
          <a:p>
            <a:pPr marL="0" indent="0" algn="ctr">
              <a:buNone/>
            </a:pPr>
            <a:r>
              <a:rPr lang="en-US" sz="1400" dirty="0">
                <a:solidFill>
                  <a:srgbClr val="2EC4B6"/>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5" name="Shape 13"/>
          <p:cNvSpPr/>
          <p:nvPr/>
        </p:nvSpPr>
        <p:spPr>
          <a:xfrm>
            <a:off x="6976872" y="1783080"/>
            <a:ext cx="960120" cy="502920"/>
          </a:xfrm>
          <a:prstGeom prst="roundRect">
            <a:avLst>
              <a:gd name="adj" fmla="val 12727"/>
            </a:avLst>
          </a:prstGeom>
          <a:solidFill>
            <a:srgbClr val="024958"/>
          </a:solidFill>
        </p:spPr>
      </p:sp>
      <p:sp>
        <p:nvSpPr>
          <p:cNvPr id="16" name="Text 14"/>
          <p:cNvSpPr/>
          <p:nvPr/>
        </p:nvSpPr>
        <p:spPr>
          <a:xfrm>
            <a:off x="6976872" y="1783080"/>
            <a:ext cx="960120" cy="502920"/>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Analysis</a:t>
            </a:r>
            <a:endParaRPr lang="en-US" sz="1050" dirty="0"/>
          </a:p>
        </p:txBody>
      </p:sp>
      <p:sp>
        <p:nvSpPr>
          <p:cNvPr id="17" name="Text 15"/>
          <p:cNvSpPr/>
          <p:nvPr/>
        </p:nvSpPr>
        <p:spPr>
          <a:xfrm>
            <a:off x="7936992" y="1783080"/>
            <a:ext cx="256032" cy="502920"/>
          </a:xfrm>
          <a:prstGeom prst="rect">
            <a:avLst/>
          </a:prstGeom>
          <a:noFill/>
        </p:spPr>
        <p:txBody>
          <a:bodyPr wrap="square" rtlCol="0" anchor="ctr"/>
          <a:lstStyle/>
          <a:p>
            <a:pPr marL="0" indent="0" algn="ctr">
              <a:buNone/>
            </a:pPr>
            <a:r>
              <a:rPr lang="en-US" sz="1400" dirty="0">
                <a:solidFill>
                  <a:srgbClr val="2EC4B6"/>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8" name="Shape 16"/>
          <p:cNvSpPr/>
          <p:nvPr/>
        </p:nvSpPr>
        <p:spPr>
          <a:xfrm>
            <a:off x="8193024" y="1783080"/>
            <a:ext cx="960120" cy="502920"/>
          </a:xfrm>
          <a:prstGeom prst="roundRect">
            <a:avLst>
              <a:gd name="adj" fmla="val 12727"/>
            </a:avLst>
          </a:prstGeom>
          <a:solidFill>
            <a:srgbClr val="024958"/>
          </a:solidFill>
        </p:spPr>
      </p:sp>
      <p:sp>
        <p:nvSpPr>
          <p:cNvPr id="19" name="Text 17"/>
          <p:cNvSpPr/>
          <p:nvPr/>
        </p:nvSpPr>
        <p:spPr>
          <a:xfrm>
            <a:off x="8193024" y="1783080"/>
            <a:ext cx="960120" cy="502920"/>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Insight</a:t>
            </a:r>
            <a:endParaRPr lang="en-US" sz="1050" dirty="0"/>
          </a:p>
        </p:txBody>
      </p:sp>
      <p:sp>
        <p:nvSpPr>
          <p:cNvPr id="20" name="Text 18"/>
          <p:cNvSpPr/>
          <p:nvPr/>
        </p:nvSpPr>
        <p:spPr>
          <a:xfrm>
            <a:off x="9153144" y="1783080"/>
            <a:ext cx="256032" cy="502920"/>
          </a:xfrm>
          <a:prstGeom prst="rect">
            <a:avLst/>
          </a:prstGeom>
          <a:noFill/>
        </p:spPr>
        <p:txBody>
          <a:bodyPr wrap="square" rtlCol="0" anchor="ctr"/>
          <a:lstStyle/>
          <a:p>
            <a:pPr marL="0" indent="0" algn="ctr">
              <a:buNone/>
            </a:pPr>
            <a:r>
              <a:rPr lang="en-US" sz="1400" dirty="0">
                <a:solidFill>
                  <a:srgbClr val="2EC4B6"/>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1" name="Shape 19"/>
          <p:cNvSpPr/>
          <p:nvPr/>
        </p:nvSpPr>
        <p:spPr>
          <a:xfrm>
            <a:off x="9409176" y="1783080"/>
            <a:ext cx="960120" cy="502920"/>
          </a:xfrm>
          <a:prstGeom prst="roundRect">
            <a:avLst>
              <a:gd name="adj" fmla="val 12727"/>
            </a:avLst>
          </a:prstGeom>
          <a:solidFill>
            <a:srgbClr val="024958"/>
          </a:solidFill>
        </p:spPr>
      </p:sp>
      <p:sp>
        <p:nvSpPr>
          <p:cNvPr id="22" name="Text 20"/>
          <p:cNvSpPr/>
          <p:nvPr/>
        </p:nvSpPr>
        <p:spPr>
          <a:xfrm>
            <a:off x="9409176" y="1783080"/>
            <a:ext cx="960120" cy="502920"/>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Scenario</a:t>
            </a:r>
            <a:endParaRPr lang="en-US" sz="1050" dirty="0"/>
          </a:p>
        </p:txBody>
      </p:sp>
      <p:sp>
        <p:nvSpPr>
          <p:cNvPr id="23" name="Text 21"/>
          <p:cNvSpPr/>
          <p:nvPr/>
        </p:nvSpPr>
        <p:spPr>
          <a:xfrm>
            <a:off x="10369296" y="1783080"/>
            <a:ext cx="256032" cy="502920"/>
          </a:xfrm>
          <a:prstGeom prst="rect">
            <a:avLst/>
          </a:prstGeom>
          <a:noFill/>
        </p:spPr>
        <p:txBody>
          <a:bodyPr wrap="square" rtlCol="0" anchor="ctr"/>
          <a:lstStyle/>
          <a:p>
            <a:pPr marL="0" indent="0" algn="ctr">
              <a:buNone/>
            </a:pPr>
            <a:r>
              <a:rPr lang="en-US" sz="1400" dirty="0">
                <a:solidFill>
                  <a:srgbClr val="2EC4B6"/>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4" name="Shape 22"/>
          <p:cNvSpPr/>
          <p:nvPr/>
        </p:nvSpPr>
        <p:spPr>
          <a:xfrm>
            <a:off x="10625328" y="1783080"/>
            <a:ext cx="960120" cy="502920"/>
          </a:xfrm>
          <a:prstGeom prst="roundRect">
            <a:avLst>
              <a:gd name="adj" fmla="val 12727"/>
            </a:avLst>
          </a:prstGeom>
          <a:solidFill>
            <a:srgbClr val="024958"/>
          </a:solidFill>
        </p:spPr>
      </p:sp>
      <p:sp>
        <p:nvSpPr>
          <p:cNvPr id="25" name="Text 23"/>
          <p:cNvSpPr/>
          <p:nvPr/>
        </p:nvSpPr>
        <p:spPr>
          <a:xfrm>
            <a:off x="10625328" y="1783080"/>
            <a:ext cx="960120" cy="502920"/>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Decision</a:t>
            </a:r>
            <a:endParaRPr lang="en-US" sz="1050" dirty="0"/>
          </a:p>
        </p:txBody>
      </p:sp>
      <p:sp>
        <p:nvSpPr>
          <p:cNvPr id="26" name="Shape 24"/>
          <p:cNvSpPr/>
          <p:nvPr/>
        </p:nvSpPr>
        <p:spPr>
          <a:xfrm>
            <a:off x="502920" y="2788920"/>
            <a:ext cx="5394960" cy="3520440"/>
          </a:xfrm>
          <a:prstGeom prst="roundRect">
            <a:avLst>
              <a:gd name="adj" fmla="val 2338"/>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7" name="Shape 25"/>
          <p:cNvSpPr/>
          <p:nvPr/>
        </p:nvSpPr>
        <p:spPr>
          <a:xfrm>
            <a:off x="731520" y="2999232"/>
            <a:ext cx="201168" cy="201168"/>
          </a:xfrm>
          <a:prstGeom prst="roundRect">
            <a:avLst>
              <a:gd name="adj" fmla="val 18182"/>
            </a:avLst>
          </a:prstGeom>
          <a:solidFill>
            <a:srgbClr val="2EC4B6"/>
          </a:solidFill>
        </p:spPr>
      </p:sp>
      <p:sp>
        <p:nvSpPr>
          <p:cNvPr id="28" name="Text 26"/>
          <p:cNvSpPr/>
          <p:nvPr/>
        </p:nvSpPr>
        <p:spPr>
          <a:xfrm>
            <a:off x="1024128" y="2944368"/>
            <a:ext cx="4645152" cy="310896"/>
          </a:xfrm>
          <a:prstGeom prst="rect">
            <a:avLst/>
          </a:prstGeom>
          <a:noFill/>
        </p:spPr>
        <p:txBody>
          <a:bodyPr wrap="square" rtlCol="0" anchor="ctr"/>
          <a:lstStyle/>
          <a:p>
            <a:pPr marL="0" indent="0">
              <a:buNone/>
            </a:pPr>
            <a:r>
              <a:rPr lang="en-US" sz="1500" b="1" dirty="0">
                <a:solidFill>
                  <a:srgbClr val="024958"/>
                </a:solidFill>
                <a:latin typeface="Cambria" panose="02040503050406030204" pitchFamily="34" charset="0"/>
                <a:ea typeface="Cambria" panose="02040503050406030204" pitchFamily="34" charset="-122"/>
                <a:cs typeface="Cambria" panose="02040503050406030204" pitchFamily="34" charset="-120"/>
              </a:rPr>
              <a:t>What the Model Answers</a:t>
            </a:r>
            <a:endParaRPr lang="en-US" sz="1500" dirty="0"/>
          </a:p>
        </p:txBody>
      </p:sp>
      <p:sp>
        <p:nvSpPr>
          <p:cNvPr id="29" name="Shape 27"/>
          <p:cNvSpPr/>
          <p:nvPr/>
        </p:nvSpPr>
        <p:spPr>
          <a:xfrm>
            <a:off x="777240" y="3483864"/>
            <a:ext cx="82296" cy="82296"/>
          </a:xfrm>
          <a:prstGeom prst="ellipse">
            <a:avLst/>
          </a:prstGeom>
          <a:solidFill>
            <a:srgbClr val="2EC4B6"/>
          </a:solidFill>
        </p:spPr>
      </p:sp>
      <p:sp>
        <p:nvSpPr>
          <p:cNvPr id="30" name="Text 28"/>
          <p:cNvSpPr/>
          <p:nvPr/>
        </p:nvSpPr>
        <p:spPr>
          <a:xfrm>
            <a:off x="1005840" y="3337560"/>
            <a:ext cx="4663440" cy="502920"/>
          </a:xfrm>
          <a:prstGeom prst="rect">
            <a:avLst/>
          </a:prstGeom>
          <a:noFill/>
        </p:spPr>
        <p:txBody>
          <a:bodyPr wrap="square" rtlCol="0" anchor="ctr"/>
          <a:lstStyle/>
          <a:p>
            <a:pPr marL="0" indent="0">
              <a:lnSpc>
                <a:spcPct val="115000"/>
              </a:lnSpc>
              <a:buNone/>
            </a:pPr>
            <a:r>
              <a:rPr lang="en-US" sz="1130" dirty="0">
                <a:solidFill>
                  <a:srgbClr val="17262B"/>
                </a:solidFill>
                <a:latin typeface="Calibri" panose="020F0502020204030204" pitchFamily="34" charset="0"/>
                <a:ea typeface="Calibri" panose="020F0502020204030204" pitchFamily="34" charset="-122"/>
                <a:cs typeface="Calibri" panose="020F0502020204030204" pitchFamily="34" charset="-120"/>
              </a:rPr>
              <a:t>Current operational condition — real-time KPIs by project, agent, and month</a:t>
            </a:r>
            <a:endParaRPr lang="en-US" sz="1130" dirty="0"/>
          </a:p>
        </p:txBody>
      </p:sp>
      <p:sp>
        <p:nvSpPr>
          <p:cNvPr id="31" name="Shape 29"/>
          <p:cNvSpPr/>
          <p:nvPr/>
        </p:nvSpPr>
        <p:spPr>
          <a:xfrm>
            <a:off x="777240" y="4050792"/>
            <a:ext cx="82296" cy="82296"/>
          </a:xfrm>
          <a:prstGeom prst="ellipse">
            <a:avLst/>
          </a:prstGeom>
          <a:solidFill>
            <a:srgbClr val="2EC4B6"/>
          </a:solidFill>
        </p:spPr>
      </p:sp>
      <p:sp>
        <p:nvSpPr>
          <p:cNvPr id="32" name="Text 30"/>
          <p:cNvSpPr/>
          <p:nvPr/>
        </p:nvSpPr>
        <p:spPr>
          <a:xfrm>
            <a:off x="1005840" y="3904488"/>
            <a:ext cx="4663440" cy="502920"/>
          </a:xfrm>
          <a:prstGeom prst="rect">
            <a:avLst/>
          </a:prstGeom>
          <a:noFill/>
        </p:spPr>
        <p:txBody>
          <a:bodyPr wrap="square" rtlCol="0" anchor="ctr"/>
          <a:lstStyle/>
          <a:p>
            <a:pPr marL="0" indent="0">
              <a:lnSpc>
                <a:spcPct val="115000"/>
              </a:lnSpc>
              <a:buNone/>
            </a:pPr>
            <a:r>
              <a:rPr lang="en-US" sz="1130" dirty="0">
                <a:solidFill>
                  <a:srgbClr val="17262B"/>
                </a:solidFill>
                <a:latin typeface="Calibri" panose="020F0502020204030204" pitchFamily="34" charset="0"/>
                <a:ea typeface="Calibri" panose="020F0502020204030204" pitchFamily="34" charset="-122"/>
                <a:cs typeface="Calibri" panose="020F0502020204030204" pitchFamily="34" charset="-120"/>
              </a:rPr>
              <a:t>Main performance issues — Project B and high-volume agents flagged automatically</a:t>
            </a:r>
            <a:endParaRPr lang="en-US" sz="1130" dirty="0"/>
          </a:p>
        </p:txBody>
      </p:sp>
      <p:sp>
        <p:nvSpPr>
          <p:cNvPr id="33" name="Shape 31"/>
          <p:cNvSpPr/>
          <p:nvPr/>
        </p:nvSpPr>
        <p:spPr>
          <a:xfrm>
            <a:off x="777240" y="4617720"/>
            <a:ext cx="82296" cy="82296"/>
          </a:xfrm>
          <a:prstGeom prst="ellipse">
            <a:avLst/>
          </a:prstGeom>
          <a:solidFill>
            <a:srgbClr val="2EC4B6"/>
          </a:solidFill>
        </p:spPr>
      </p:sp>
      <p:sp>
        <p:nvSpPr>
          <p:cNvPr id="34" name="Text 32"/>
          <p:cNvSpPr/>
          <p:nvPr/>
        </p:nvSpPr>
        <p:spPr>
          <a:xfrm>
            <a:off x="1005840" y="4471416"/>
            <a:ext cx="4663440" cy="502920"/>
          </a:xfrm>
          <a:prstGeom prst="rect">
            <a:avLst/>
          </a:prstGeom>
          <a:noFill/>
        </p:spPr>
        <p:txBody>
          <a:bodyPr wrap="square" rtlCol="0" anchor="ctr"/>
          <a:lstStyle/>
          <a:p>
            <a:pPr marL="0" indent="0">
              <a:lnSpc>
                <a:spcPct val="115000"/>
              </a:lnSpc>
              <a:buNone/>
            </a:pPr>
            <a:r>
              <a:rPr lang="en-US" sz="1130" dirty="0">
                <a:solidFill>
                  <a:srgbClr val="17262B"/>
                </a:solidFill>
                <a:latin typeface="Calibri" panose="020F0502020204030204" pitchFamily="34" charset="0"/>
                <a:ea typeface="Calibri" panose="020F0502020204030204" pitchFamily="34" charset="-122"/>
                <a:cs typeface="Calibri" panose="020F0502020204030204" pitchFamily="34" charset="-120"/>
              </a:rPr>
              <a:t>Potential causes — root-cause indicators linking volume to service quality</a:t>
            </a:r>
            <a:endParaRPr lang="en-US" sz="1130" dirty="0"/>
          </a:p>
        </p:txBody>
      </p:sp>
      <p:sp>
        <p:nvSpPr>
          <p:cNvPr id="35" name="Shape 33"/>
          <p:cNvSpPr/>
          <p:nvPr/>
        </p:nvSpPr>
        <p:spPr>
          <a:xfrm>
            <a:off x="777240" y="5184648"/>
            <a:ext cx="82296" cy="82296"/>
          </a:xfrm>
          <a:prstGeom prst="ellipse">
            <a:avLst/>
          </a:prstGeom>
          <a:solidFill>
            <a:srgbClr val="2EC4B6"/>
          </a:solidFill>
        </p:spPr>
      </p:sp>
      <p:sp>
        <p:nvSpPr>
          <p:cNvPr id="36" name="Text 34"/>
          <p:cNvSpPr/>
          <p:nvPr/>
        </p:nvSpPr>
        <p:spPr>
          <a:xfrm>
            <a:off x="1005840" y="5038344"/>
            <a:ext cx="4663440" cy="502920"/>
          </a:xfrm>
          <a:prstGeom prst="rect">
            <a:avLst/>
          </a:prstGeom>
          <a:noFill/>
        </p:spPr>
        <p:txBody>
          <a:bodyPr wrap="square" rtlCol="0" anchor="ctr"/>
          <a:lstStyle/>
          <a:p>
            <a:pPr marL="0" indent="0">
              <a:lnSpc>
                <a:spcPct val="115000"/>
              </a:lnSpc>
              <a:buNone/>
            </a:pPr>
            <a:r>
              <a:rPr lang="en-US" sz="1130" dirty="0">
                <a:solidFill>
                  <a:srgbClr val="17262B"/>
                </a:solidFill>
                <a:latin typeface="Calibri" panose="020F0502020204030204" pitchFamily="34" charset="0"/>
                <a:ea typeface="Calibri" panose="020F0502020204030204" pitchFamily="34" charset="-122"/>
                <a:cs typeface="Calibri" panose="020F0502020204030204" pitchFamily="34" charset="-120"/>
              </a:rPr>
              <a:t>Future scenario impact — What-If simulator quantifies a demand surge</a:t>
            </a:r>
            <a:endParaRPr lang="en-US" sz="1130" dirty="0"/>
          </a:p>
        </p:txBody>
      </p:sp>
      <p:sp>
        <p:nvSpPr>
          <p:cNvPr id="37" name="Shape 35"/>
          <p:cNvSpPr/>
          <p:nvPr/>
        </p:nvSpPr>
        <p:spPr>
          <a:xfrm>
            <a:off x="777240" y="5751576"/>
            <a:ext cx="82296" cy="82296"/>
          </a:xfrm>
          <a:prstGeom prst="ellipse">
            <a:avLst/>
          </a:prstGeom>
          <a:solidFill>
            <a:srgbClr val="2EC4B6"/>
          </a:solidFill>
        </p:spPr>
      </p:sp>
      <p:sp>
        <p:nvSpPr>
          <p:cNvPr id="38" name="Text 36"/>
          <p:cNvSpPr/>
          <p:nvPr/>
        </p:nvSpPr>
        <p:spPr>
          <a:xfrm>
            <a:off x="1005840" y="5605272"/>
            <a:ext cx="4663440" cy="502920"/>
          </a:xfrm>
          <a:prstGeom prst="rect">
            <a:avLst/>
          </a:prstGeom>
          <a:noFill/>
        </p:spPr>
        <p:txBody>
          <a:bodyPr wrap="square" rtlCol="0" anchor="ctr"/>
          <a:lstStyle/>
          <a:p>
            <a:pPr marL="0" indent="0">
              <a:lnSpc>
                <a:spcPct val="115000"/>
              </a:lnSpc>
              <a:buNone/>
            </a:pPr>
            <a:r>
              <a:rPr lang="en-US" sz="1130" dirty="0">
                <a:solidFill>
                  <a:srgbClr val="17262B"/>
                </a:solidFill>
                <a:latin typeface="Calibri" panose="020F0502020204030204" pitchFamily="34" charset="0"/>
                <a:ea typeface="Calibri" panose="020F0502020204030204" pitchFamily="34" charset="-122"/>
                <a:cs typeface="Calibri" panose="020F0502020204030204" pitchFamily="34" charset="-120"/>
              </a:rPr>
              <a:t>Recommended operational actions — auto-generated scenario recommendations</a:t>
            </a:r>
            <a:endParaRPr lang="en-US" sz="1130" dirty="0"/>
          </a:p>
        </p:txBody>
      </p:sp>
      <p:sp>
        <p:nvSpPr>
          <p:cNvPr id="39" name="Shape 37"/>
          <p:cNvSpPr/>
          <p:nvPr/>
        </p:nvSpPr>
        <p:spPr>
          <a:xfrm>
            <a:off x="6080760" y="2788920"/>
            <a:ext cx="5605272" cy="3520440"/>
          </a:xfrm>
          <a:prstGeom prst="roundRect">
            <a:avLst>
              <a:gd name="adj" fmla="val 2338"/>
            </a:avLst>
          </a:prstGeom>
          <a:solidFill>
            <a:srgbClr val="024958"/>
          </a:solidFill>
          <a:ln w="12700">
            <a:solidFill>
              <a:srgbClr val="DCE7E8"/>
            </a:solidFill>
            <a:prstDash val="solid"/>
          </a:ln>
        </p:spPr>
      </p:sp>
      <p:sp>
        <p:nvSpPr>
          <p:cNvPr id="40" name="Shape 38"/>
          <p:cNvSpPr/>
          <p:nvPr/>
        </p:nvSpPr>
        <p:spPr>
          <a:xfrm>
            <a:off x="6309360" y="2999232"/>
            <a:ext cx="201168" cy="201168"/>
          </a:xfrm>
          <a:prstGeom prst="roundRect">
            <a:avLst>
              <a:gd name="adj" fmla="val 18182"/>
            </a:avLst>
          </a:prstGeom>
          <a:solidFill>
            <a:srgbClr val="2EC4B6"/>
          </a:solidFill>
        </p:spPr>
      </p:sp>
      <p:sp>
        <p:nvSpPr>
          <p:cNvPr id="41" name="Text 39"/>
          <p:cNvSpPr/>
          <p:nvPr/>
        </p:nvSpPr>
        <p:spPr>
          <a:xfrm>
            <a:off x="6601968" y="2944368"/>
            <a:ext cx="4828032" cy="310896"/>
          </a:xfrm>
          <a:prstGeom prst="rect">
            <a:avLst/>
          </a:prstGeom>
          <a:noFill/>
        </p:spPr>
        <p:txBody>
          <a:bodyPr wrap="square"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AI-Generated Executive Narrative</a:t>
            </a:r>
            <a:endParaRPr lang="en-US" sz="1500" dirty="0"/>
          </a:p>
        </p:txBody>
      </p:sp>
      <p:sp>
        <p:nvSpPr>
          <p:cNvPr id="42" name="Text 40"/>
          <p:cNvSpPr/>
          <p:nvPr/>
        </p:nvSpPr>
        <p:spPr>
          <a:xfrm>
            <a:off x="6309360" y="3401568"/>
            <a:ext cx="5120640" cy="685800"/>
          </a:xfrm>
          <a:prstGeom prst="rect">
            <a:avLst/>
          </a:prstGeom>
          <a:noFill/>
        </p:spPr>
        <p:txBody>
          <a:bodyPr wrap="square" rtlCol="0" anchor="ctr"/>
          <a:lstStyle/>
          <a:p>
            <a:pPr marL="0" indent="0">
              <a:lnSpc>
                <a:spcPct val="120000"/>
              </a:lnSpc>
              <a:buNone/>
            </a:pPr>
            <a:r>
              <a:rPr lang="en-US" sz="1100" i="1" dirty="0">
                <a:solidFill>
                  <a:srgbClr val="FFFFFF"/>
                </a:solidFill>
                <a:latin typeface="Calibri" panose="020F0502020204030204" pitchFamily="34" charset="0"/>
                <a:ea typeface="Calibri" panose="020F0502020204030204" pitchFamily="34" charset="-122"/>
                <a:cs typeface="Calibri" panose="020F0502020204030204" pitchFamily="34" charset="-120"/>
              </a:rPr>
              <a:t>"Stable Operation" — Overall operational performance is excellent. Service Level reached 92.3%, exceeding the contractual SLA target.</a:t>
            </a:r>
            <a:endParaRPr lang="en-US" sz="1100" dirty="0"/>
          </a:p>
        </p:txBody>
      </p:sp>
      <p:sp>
        <p:nvSpPr>
          <p:cNvPr id="43" name="Text 41"/>
          <p:cNvSpPr/>
          <p:nvPr/>
        </p:nvSpPr>
        <p:spPr>
          <a:xfrm>
            <a:off x="6309360" y="4114800"/>
            <a:ext cx="5120640" cy="777240"/>
          </a:xfrm>
          <a:prstGeom prst="rect">
            <a:avLst/>
          </a:prstGeom>
          <a:noFill/>
        </p:spPr>
        <p:txBody>
          <a:bodyPr wrap="square" rtlCol="0" anchor="ctr"/>
          <a:lstStyle/>
          <a:p>
            <a:pPr marL="0" indent="0">
              <a:lnSpc>
                <a:spcPct val="120000"/>
              </a:lnSpc>
              <a:buNone/>
            </a:pPr>
            <a:r>
              <a:rPr lang="en-US" sz="1100" i="1" dirty="0">
                <a:solidFill>
                  <a:srgbClr val="FFFFFF"/>
                </a:solidFill>
                <a:latin typeface="Calibri" panose="020F0502020204030204" pitchFamily="34" charset="0"/>
                <a:ea typeface="Calibri" panose="020F0502020204030204" pitchFamily="34" charset="-122"/>
                <a:cs typeface="Calibri" panose="020F0502020204030204" pitchFamily="34" charset="-120"/>
              </a:rPr>
              <a:t>"Short-Term Priorities" — Continue monitoring Average ASA to maintain fast response times; maintain current abandonment performance through continuous monitoring.</a:t>
            </a:r>
            <a:endParaRPr lang="en-US" sz="1100" dirty="0"/>
          </a:p>
        </p:txBody>
      </p:sp>
      <p:sp>
        <p:nvSpPr>
          <p:cNvPr id="44" name="Text 42"/>
          <p:cNvSpPr/>
          <p:nvPr/>
        </p:nvSpPr>
        <p:spPr>
          <a:xfrm>
            <a:off x="6309360" y="4937760"/>
            <a:ext cx="5120640" cy="594360"/>
          </a:xfrm>
          <a:prstGeom prst="rect">
            <a:avLst/>
          </a:prstGeom>
          <a:noFill/>
        </p:spPr>
        <p:txBody>
          <a:bodyPr wrap="square" rtlCol="0" anchor="ctr"/>
          <a:lstStyle/>
          <a:p>
            <a:pPr marL="0" indent="0">
              <a:lnSpc>
                <a:spcPct val="120000"/>
              </a:lnSpc>
              <a:buNone/>
            </a:pPr>
            <a:r>
              <a:rPr lang="en-US" sz="1100" i="1" dirty="0">
                <a:solidFill>
                  <a:srgbClr val="FFFFFF"/>
                </a:solidFill>
                <a:latin typeface="Calibri" panose="020F0502020204030204" pitchFamily="34" charset="0"/>
                <a:ea typeface="Calibri" panose="020F0502020204030204" pitchFamily="34" charset="-122"/>
                <a:cs typeface="Calibri" panose="020F0502020204030204" pitchFamily="34" charset="-120"/>
              </a:rPr>
              <a:t>"Mid-Term Initiatives" — Improve forecasting models using historical call patterns and seasonal demand.</a:t>
            </a:r>
            <a:endParaRPr lang="en-US" sz="1100" dirty="0"/>
          </a:p>
        </p:txBody>
      </p:sp>
      <p:sp>
        <p:nvSpPr>
          <p:cNvPr id="45" name="Text 43"/>
          <p:cNvSpPr/>
          <p:nvPr/>
        </p:nvSpPr>
        <p:spPr>
          <a:xfrm>
            <a:off x="6309360" y="5577840"/>
            <a:ext cx="5120640" cy="594360"/>
          </a:xfrm>
          <a:prstGeom prst="rect">
            <a:avLst/>
          </a:prstGeom>
          <a:noFill/>
        </p:spPr>
        <p:txBody>
          <a:bodyPr wrap="square" rtlCol="0" anchor="ctr"/>
          <a:lstStyle/>
          <a:p>
            <a:pPr marL="0" indent="0">
              <a:lnSpc>
                <a:spcPct val="115000"/>
              </a:lnSpc>
              <a:buNone/>
            </a:pPr>
            <a:r>
              <a:rPr lang="en-US" sz="950" dirty="0">
                <a:solidFill>
                  <a:srgbClr val="CFE3E3"/>
                </a:solidFill>
                <a:latin typeface="Calibri" panose="020F0502020204030204" pitchFamily="34" charset="0"/>
                <a:ea typeface="Calibri" panose="020F0502020204030204" pitchFamily="34" charset="-122"/>
                <a:cs typeface="Calibri" panose="020F0502020204030204" pitchFamily="34" charset="-120"/>
              </a:rPr>
              <a:t>Generated live from the DAX model — narrative measures translate KPI values into plain-language guidance for non-technical stakeholders.</a:t>
            </a:r>
            <a:endParaRPr lang="en-US" sz="950" dirty="0"/>
          </a:p>
        </p:txBody>
      </p:sp>
      <p:sp>
        <p:nvSpPr>
          <p:cNvPr id="46" name="Text 44"/>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12</a:t>
            </a:r>
            <a:endParaRPr lang="en-US" sz="1000" dirty="0"/>
          </a:p>
        </p:txBody>
      </p:sp>
      <p:sp>
        <p:nvSpPr>
          <p:cNvPr id="47" name="Text 45"/>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KEY INSIGHTS</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Executive Insights</a:t>
            </a:r>
            <a:endParaRPr lang="en-US" sz="2800" dirty="0"/>
          </a:p>
        </p:txBody>
      </p:sp>
      <p:sp>
        <p:nvSpPr>
          <p:cNvPr id="4" name="Shape 2"/>
          <p:cNvSpPr/>
          <p:nvPr/>
        </p:nvSpPr>
        <p:spPr>
          <a:xfrm>
            <a:off x="502920" y="123444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 name="Shape 3"/>
          <p:cNvSpPr/>
          <p:nvPr/>
        </p:nvSpPr>
        <p:spPr>
          <a:xfrm>
            <a:off x="685800" y="1399032"/>
            <a:ext cx="292608" cy="292608"/>
          </a:xfrm>
          <a:prstGeom prst="roundRect">
            <a:avLst>
              <a:gd name="adj" fmla="val 18750"/>
            </a:avLst>
          </a:prstGeom>
          <a:solidFill>
            <a:srgbClr val="024958"/>
          </a:solidFill>
        </p:spPr>
      </p:sp>
      <p:sp>
        <p:nvSpPr>
          <p:cNvPr id="6" name="Text 4"/>
          <p:cNvSpPr/>
          <p:nvPr/>
        </p:nvSpPr>
        <p:spPr>
          <a:xfrm>
            <a:off x="685800" y="1399032"/>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7" name="Text 5"/>
          <p:cNvSpPr/>
          <p:nvPr/>
        </p:nvSpPr>
        <p:spPr>
          <a:xfrm>
            <a:off x="1051560" y="1380744"/>
            <a:ext cx="2874264" cy="36576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Volume drives service risk</a:t>
            </a:r>
            <a:endParaRPr lang="en-US" sz="1200" dirty="0"/>
          </a:p>
        </p:txBody>
      </p:sp>
      <p:sp>
        <p:nvSpPr>
          <p:cNvPr id="8" name="Text 6"/>
          <p:cNvSpPr/>
          <p:nvPr/>
        </p:nvSpPr>
        <p:spPr>
          <a:xfrm>
            <a:off x="685800" y="1801368"/>
            <a:ext cx="3240024" cy="777240"/>
          </a:xfrm>
          <a:prstGeom prst="rect">
            <a:avLst/>
          </a:prstGeom>
          <a:noFill/>
        </p:spPr>
        <p:txBody>
          <a:bodyPr wrap="square" rtlCol="0" anchor="ctr"/>
          <a:lstStyle/>
          <a:p>
            <a:pPr marL="0" indent="0">
              <a:lnSpc>
                <a:spcPct val="115000"/>
              </a:lnSpc>
              <a:buNone/>
            </a:pPr>
            <a:r>
              <a:rPr lang="en-US" sz="930" dirty="0">
                <a:solidFill>
                  <a:srgbClr val="17262B"/>
                </a:solidFill>
                <a:latin typeface="Calibri" panose="020F0502020204030204" pitchFamily="34" charset="0"/>
                <a:ea typeface="Calibri" panose="020F0502020204030204" pitchFamily="34" charset="-122"/>
                <a:cs typeface="Calibri" panose="020F0502020204030204" pitchFamily="34" charset="-120"/>
              </a:rPr>
              <a:t>March's call volume (876K, ~2x Feb/Apr) coincided with the quarter's lowest Service Level (87.1%) and highest ASA (14.4s).</a:t>
            </a:r>
            <a:endParaRPr lang="en-US" sz="930" dirty="0"/>
          </a:p>
        </p:txBody>
      </p:sp>
      <p:sp>
        <p:nvSpPr>
          <p:cNvPr id="9" name="Text 7"/>
          <p:cNvSpPr/>
          <p:nvPr/>
        </p:nvSpPr>
        <p:spPr>
          <a:xfrm>
            <a:off x="685800" y="2587752"/>
            <a:ext cx="3240024" cy="182880"/>
          </a:xfrm>
          <a:prstGeom prst="rect">
            <a:avLst/>
          </a:prstGeom>
          <a:noFill/>
        </p:spPr>
        <p:txBody>
          <a:bodyPr wrap="square" rtlCol="0" anchor="ctr"/>
          <a:lstStyle/>
          <a:p>
            <a:pPr marL="0" indent="0">
              <a:buNone/>
            </a:pPr>
            <a:r>
              <a:rPr lang="en-US" sz="800" b="1" kern="0" spc="50" dirty="0">
                <a:solidFill>
                  <a:srgbClr val="2EC4B6"/>
                </a:solidFill>
                <a:latin typeface="Calibri" panose="020F0502020204030204" pitchFamily="34" charset="0"/>
                <a:ea typeface="Calibri" panose="020F0502020204030204" pitchFamily="34" charset="-122"/>
                <a:cs typeface="Calibri" panose="020F0502020204030204" pitchFamily="34" charset="-120"/>
              </a:rPr>
              <a:t>IMPACT</a:t>
            </a:r>
            <a:endParaRPr lang="en-US" sz="800" dirty="0"/>
          </a:p>
        </p:txBody>
      </p:sp>
      <p:sp>
        <p:nvSpPr>
          <p:cNvPr id="10" name="Text 8"/>
          <p:cNvSpPr/>
          <p:nvPr/>
        </p:nvSpPr>
        <p:spPr>
          <a:xfrm>
            <a:off x="685800" y="2752344"/>
            <a:ext cx="3240024" cy="411480"/>
          </a:xfrm>
          <a:prstGeom prst="rect">
            <a:avLst/>
          </a:prstGeom>
          <a:noFill/>
        </p:spPr>
        <p:txBody>
          <a:bodyPr wrap="square" rtlCol="0" anchor="ctr"/>
          <a:lstStyle/>
          <a:p>
            <a:pPr marL="0" indent="0">
              <a:lnSpc>
                <a:spcPct val="110000"/>
              </a:lnSpc>
              <a:buNone/>
            </a:pPr>
            <a:r>
              <a:rPr lang="en-US" sz="900" i="1" dirty="0">
                <a:solidFill>
                  <a:srgbClr val="5B6E73"/>
                </a:solidFill>
                <a:latin typeface="Calibri" panose="020F0502020204030204" pitchFamily="34" charset="0"/>
                <a:ea typeface="Calibri" panose="020F0502020204030204" pitchFamily="34" charset="-122"/>
                <a:cs typeface="Calibri" panose="020F0502020204030204" pitchFamily="34" charset="-120"/>
              </a:rPr>
              <a:t>Demand spikes materially erode service quality without added capacity.</a:t>
            </a:r>
            <a:endParaRPr lang="en-US" sz="900" dirty="0"/>
          </a:p>
        </p:txBody>
      </p:sp>
      <p:sp>
        <p:nvSpPr>
          <p:cNvPr id="11" name="Text 9"/>
          <p:cNvSpPr/>
          <p:nvPr/>
        </p:nvSpPr>
        <p:spPr>
          <a:xfrm>
            <a:off x="685800" y="3172968"/>
            <a:ext cx="3240024" cy="182880"/>
          </a:xfrm>
          <a:prstGeom prst="rect">
            <a:avLst/>
          </a:prstGeom>
          <a:noFill/>
        </p:spPr>
        <p:txBody>
          <a:bodyPr wrap="square" rtlCol="0" anchor="ctr"/>
          <a:lstStyle/>
          <a:p>
            <a:pPr marL="0" indent="0">
              <a:buNone/>
            </a:pPr>
            <a:r>
              <a:rPr lang="en-US" sz="800" b="1" kern="0" spc="50" dirty="0">
                <a:solidFill>
                  <a:srgbClr val="C99A3C"/>
                </a:solidFill>
                <a:latin typeface="Calibri" panose="020F0502020204030204" pitchFamily="34" charset="0"/>
                <a:ea typeface="Calibri" panose="020F0502020204030204" pitchFamily="34" charset="-122"/>
                <a:cs typeface="Calibri" panose="020F0502020204030204" pitchFamily="34" charset="-120"/>
              </a:rPr>
              <a:t>ACTION</a:t>
            </a:r>
            <a:endParaRPr lang="en-US" sz="800" dirty="0"/>
          </a:p>
        </p:txBody>
      </p:sp>
      <p:sp>
        <p:nvSpPr>
          <p:cNvPr id="12" name="Text 10"/>
          <p:cNvSpPr/>
          <p:nvPr/>
        </p:nvSpPr>
        <p:spPr>
          <a:xfrm>
            <a:off x="685800" y="3337560"/>
            <a:ext cx="3240024" cy="365760"/>
          </a:xfrm>
          <a:prstGeom prst="rect">
            <a:avLst/>
          </a:prstGeom>
          <a:noFill/>
        </p:spPr>
        <p:txBody>
          <a:bodyPr wrap="square" rtlCol="0" anchor="ctr"/>
          <a:lstStyle/>
          <a:p>
            <a:pPr marL="0" indent="0">
              <a:lnSpc>
                <a:spcPct val="110000"/>
              </a:lnSpc>
              <a:buNone/>
            </a:pPr>
            <a:r>
              <a:rPr lang="en-US" sz="900" dirty="0">
                <a:solidFill>
                  <a:srgbClr val="17262B"/>
                </a:solidFill>
                <a:latin typeface="Calibri" panose="020F0502020204030204" pitchFamily="34" charset="0"/>
                <a:ea typeface="Calibri" panose="020F0502020204030204" pitchFamily="34" charset="-122"/>
                <a:cs typeface="Calibri" panose="020F0502020204030204" pitchFamily="34" charset="-120"/>
              </a:rPr>
              <a:t>Build peak-period staffing plans keyed to forecasted volume, not just monthly averages.</a:t>
            </a:r>
            <a:endParaRPr lang="en-US" sz="900" dirty="0"/>
          </a:p>
        </p:txBody>
      </p:sp>
      <p:sp>
        <p:nvSpPr>
          <p:cNvPr id="13" name="Shape 11"/>
          <p:cNvSpPr/>
          <p:nvPr/>
        </p:nvSpPr>
        <p:spPr>
          <a:xfrm>
            <a:off x="4291584" y="123444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14" name="Shape 12"/>
          <p:cNvSpPr/>
          <p:nvPr/>
        </p:nvSpPr>
        <p:spPr>
          <a:xfrm>
            <a:off x="4474464" y="1399032"/>
            <a:ext cx="292608" cy="292608"/>
          </a:xfrm>
          <a:prstGeom prst="roundRect">
            <a:avLst>
              <a:gd name="adj" fmla="val 18750"/>
            </a:avLst>
          </a:prstGeom>
          <a:solidFill>
            <a:srgbClr val="024958"/>
          </a:solidFill>
        </p:spPr>
      </p:sp>
      <p:sp>
        <p:nvSpPr>
          <p:cNvPr id="15" name="Text 13"/>
          <p:cNvSpPr/>
          <p:nvPr/>
        </p:nvSpPr>
        <p:spPr>
          <a:xfrm>
            <a:off x="4474464" y="1399032"/>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6" name="Text 14"/>
          <p:cNvSpPr/>
          <p:nvPr/>
        </p:nvSpPr>
        <p:spPr>
          <a:xfrm>
            <a:off x="4840224" y="1380744"/>
            <a:ext cx="2874264" cy="36576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Project B is the operational bottleneck</a:t>
            </a:r>
            <a:endParaRPr lang="en-US" sz="1200" dirty="0"/>
          </a:p>
        </p:txBody>
      </p:sp>
      <p:sp>
        <p:nvSpPr>
          <p:cNvPr id="17" name="Text 15"/>
          <p:cNvSpPr/>
          <p:nvPr/>
        </p:nvSpPr>
        <p:spPr>
          <a:xfrm>
            <a:off x="4474464" y="1801368"/>
            <a:ext cx="3240024" cy="777240"/>
          </a:xfrm>
          <a:prstGeom prst="rect">
            <a:avLst/>
          </a:prstGeom>
          <a:noFill/>
        </p:spPr>
        <p:txBody>
          <a:bodyPr wrap="square" rtlCol="0" anchor="ctr"/>
          <a:lstStyle/>
          <a:p>
            <a:pPr marL="0" indent="0">
              <a:lnSpc>
                <a:spcPct val="115000"/>
              </a:lnSpc>
              <a:buNone/>
            </a:pPr>
            <a:r>
              <a:rPr lang="en-US" sz="930" dirty="0">
                <a:solidFill>
                  <a:srgbClr val="17262B"/>
                </a:solidFill>
                <a:latin typeface="Calibri" panose="020F0502020204030204" pitchFamily="34" charset="0"/>
                <a:ea typeface="Calibri" panose="020F0502020204030204" pitchFamily="34" charset="-122"/>
                <a:cs typeface="Calibri" panose="020F0502020204030204" pitchFamily="34" charset="-120"/>
              </a:rPr>
              <a:t>Project B holds 52% of call volume but the lowest Service Level (92%) and slowest ASA (11.7s) of the three projects.</a:t>
            </a:r>
            <a:endParaRPr lang="en-US" sz="930" dirty="0"/>
          </a:p>
        </p:txBody>
      </p:sp>
      <p:sp>
        <p:nvSpPr>
          <p:cNvPr id="18" name="Text 16"/>
          <p:cNvSpPr/>
          <p:nvPr/>
        </p:nvSpPr>
        <p:spPr>
          <a:xfrm>
            <a:off x="4474464" y="2587752"/>
            <a:ext cx="3240024" cy="182880"/>
          </a:xfrm>
          <a:prstGeom prst="rect">
            <a:avLst/>
          </a:prstGeom>
          <a:noFill/>
        </p:spPr>
        <p:txBody>
          <a:bodyPr wrap="square" rtlCol="0" anchor="ctr"/>
          <a:lstStyle/>
          <a:p>
            <a:pPr marL="0" indent="0">
              <a:buNone/>
            </a:pPr>
            <a:r>
              <a:rPr lang="en-US" sz="800" b="1" kern="0" spc="50" dirty="0">
                <a:solidFill>
                  <a:srgbClr val="2EC4B6"/>
                </a:solidFill>
                <a:latin typeface="Calibri" panose="020F0502020204030204" pitchFamily="34" charset="0"/>
                <a:ea typeface="Calibri" panose="020F0502020204030204" pitchFamily="34" charset="-122"/>
                <a:cs typeface="Calibri" panose="020F0502020204030204" pitchFamily="34" charset="-120"/>
              </a:rPr>
              <a:t>IMPACT</a:t>
            </a:r>
            <a:endParaRPr lang="en-US" sz="800" dirty="0"/>
          </a:p>
        </p:txBody>
      </p:sp>
      <p:sp>
        <p:nvSpPr>
          <p:cNvPr id="19" name="Text 17"/>
          <p:cNvSpPr/>
          <p:nvPr/>
        </p:nvSpPr>
        <p:spPr>
          <a:xfrm>
            <a:off x="4474464" y="2752344"/>
            <a:ext cx="3240024" cy="411480"/>
          </a:xfrm>
          <a:prstGeom prst="rect">
            <a:avLst/>
          </a:prstGeom>
          <a:noFill/>
        </p:spPr>
        <p:txBody>
          <a:bodyPr wrap="square" rtlCol="0" anchor="ctr"/>
          <a:lstStyle/>
          <a:p>
            <a:pPr marL="0" indent="0">
              <a:lnSpc>
                <a:spcPct val="110000"/>
              </a:lnSpc>
              <a:buNone/>
            </a:pPr>
            <a:r>
              <a:rPr lang="en-US" sz="900" i="1" dirty="0">
                <a:solidFill>
                  <a:srgbClr val="5B6E73"/>
                </a:solidFill>
                <a:latin typeface="Calibri" panose="020F0502020204030204" pitchFamily="34" charset="0"/>
                <a:ea typeface="Calibri" panose="020F0502020204030204" pitchFamily="34" charset="-122"/>
                <a:cs typeface="Calibri" panose="020F0502020204030204" pitchFamily="34" charset="-120"/>
              </a:rPr>
              <a:t>A single project disproportionately shapes the overall Service Level result.</a:t>
            </a:r>
            <a:endParaRPr lang="en-US" sz="900" dirty="0"/>
          </a:p>
        </p:txBody>
      </p:sp>
      <p:sp>
        <p:nvSpPr>
          <p:cNvPr id="20" name="Text 18"/>
          <p:cNvSpPr/>
          <p:nvPr/>
        </p:nvSpPr>
        <p:spPr>
          <a:xfrm>
            <a:off x="4474464" y="3172968"/>
            <a:ext cx="3240024" cy="182880"/>
          </a:xfrm>
          <a:prstGeom prst="rect">
            <a:avLst/>
          </a:prstGeom>
          <a:noFill/>
        </p:spPr>
        <p:txBody>
          <a:bodyPr wrap="square" rtlCol="0" anchor="ctr"/>
          <a:lstStyle/>
          <a:p>
            <a:pPr marL="0" indent="0">
              <a:buNone/>
            </a:pPr>
            <a:r>
              <a:rPr lang="en-US" sz="800" b="1" kern="0" spc="50" dirty="0">
                <a:solidFill>
                  <a:srgbClr val="C99A3C"/>
                </a:solidFill>
                <a:latin typeface="Calibri" panose="020F0502020204030204" pitchFamily="34" charset="0"/>
                <a:ea typeface="Calibri" panose="020F0502020204030204" pitchFamily="34" charset="-122"/>
                <a:cs typeface="Calibri" panose="020F0502020204030204" pitchFamily="34" charset="-120"/>
              </a:rPr>
              <a:t>ACTION</a:t>
            </a:r>
            <a:endParaRPr lang="en-US" sz="800" dirty="0"/>
          </a:p>
        </p:txBody>
      </p:sp>
      <p:sp>
        <p:nvSpPr>
          <p:cNvPr id="21" name="Text 19"/>
          <p:cNvSpPr/>
          <p:nvPr/>
        </p:nvSpPr>
        <p:spPr>
          <a:xfrm>
            <a:off x="4474464" y="3337560"/>
            <a:ext cx="3240024" cy="365760"/>
          </a:xfrm>
          <a:prstGeom prst="rect">
            <a:avLst/>
          </a:prstGeom>
          <a:noFill/>
        </p:spPr>
        <p:txBody>
          <a:bodyPr wrap="square" rtlCol="0" anchor="ctr"/>
          <a:lstStyle/>
          <a:p>
            <a:pPr marL="0" indent="0">
              <a:lnSpc>
                <a:spcPct val="110000"/>
              </a:lnSpc>
              <a:buNone/>
            </a:pPr>
            <a:r>
              <a:rPr lang="en-US" sz="900" dirty="0">
                <a:solidFill>
                  <a:srgbClr val="17262B"/>
                </a:solidFill>
                <a:latin typeface="Calibri" panose="020F0502020204030204" pitchFamily="34" charset="0"/>
                <a:ea typeface="Calibri" panose="020F0502020204030204" pitchFamily="34" charset="-122"/>
                <a:cs typeface="Calibri" panose="020F0502020204030204" pitchFamily="34" charset="-120"/>
              </a:rPr>
              <a:t>Prioritize Project B for a workforce and routing review.</a:t>
            </a:r>
            <a:endParaRPr lang="en-US" sz="900" dirty="0"/>
          </a:p>
        </p:txBody>
      </p:sp>
      <p:sp>
        <p:nvSpPr>
          <p:cNvPr id="22" name="Shape 20"/>
          <p:cNvSpPr/>
          <p:nvPr/>
        </p:nvSpPr>
        <p:spPr>
          <a:xfrm>
            <a:off x="8080248" y="123444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3" name="Shape 21"/>
          <p:cNvSpPr/>
          <p:nvPr/>
        </p:nvSpPr>
        <p:spPr>
          <a:xfrm>
            <a:off x="8263128" y="1399032"/>
            <a:ext cx="292608" cy="292608"/>
          </a:xfrm>
          <a:prstGeom prst="roundRect">
            <a:avLst>
              <a:gd name="adj" fmla="val 18750"/>
            </a:avLst>
          </a:prstGeom>
          <a:solidFill>
            <a:srgbClr val="024958"/>
          </a:solidFill>
        </p:spPr>
      </p:sp>
      <p:sp>
        <p:nvSpPr>
          <p:cNvPr id="24" name="Text 22"/>
          <p:cNvSpPr/>
          <p:nvPr/>
        </p:nvSpPr>
        <p:spPr>
          <a:xfrm>
            <a:off x="8263128" y="1399032"/>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25" name="Text 23"/>
          <p:cNvSpPr/>
          <p:nvPr/>
        </p:nvSpPr>
        <p:spPr>
          <a:xfrm>
            <a:off x="8628888" y="1380744"/>
            <a:ext cx="2874264" cy="36576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Project C is a benchmark worth replicating</a:t>
            </a:r>
            <a:endParaRPr lang="en-US" sz="1200" dirty="0"/>
          </a:p>
        </p:txBody>
      </p:sp>
      <p:sp>
        <p:nvSpPr>
          <p:cNvPr id="26" name="Text 24"/>
          <p:cNvSpPr/>
          <p:nvPr/>
        </p:nvSpPr>
        <p:spPr>
          <a:xfrm>
            <a:off x="8263128" y="1801368"/>
            <a:ext cx="3240024" cy="777240"/>
          </a:xfrm>
          <a:prstGeom prst="rect">
            <a:avLst/>
          </a:prstGeom>
          <a:noFill/>
        </p:spPr>
        <p:txBody>
          <a:bodyPr wrap="square" rtlCol="0" anchor="ctr"/>
          <a:lstStyle/>
          <a:p>
            <a:pPr marL="0" indent="0">
              <a:lnSpc>
                <a:spcPct val="115000"/>
              </a:lnSpc>
              <a:buNone/>
            </a:pPr>
            <a:r>
              <a:rPr lang="en-US" sz="930" dirty="0">
                <a:solidFill>
                  <a:srgbClr val="17262B"/>
                </a:solidFill>
                <a:latin typeface="Calibri" panose="020F0502020204030204" pitchFamily="34" charset="0"/>
                <a:ea typeface="Calibri" panose="020F0502020204030204" pitchFamily="34" charset="-122"/>
                <a:cs typeface="Calibri" panose="020F0502020204030204" pitchFamily="34" charset="-120"/>
              </a:rPr>
              <a:t>Project C posts 96% Service Level, 5.8s ASA, and the top Performance Score (88) despite lower volume.</a:t>
            </a:r>
            <a:endParaRPr lang="en-US" sz="930" dirty="0"/>
          </a:p>
        </p:txBody>
      </p:sp>
      <p:sp>
        <p:nvSpPr>
          <p:cNvPr id="27" name="Text 25"/>
          <p:cNvSpPr/>
          <p:nvPr/>
        </p:nvSpPr>
        <p:spPr>
          <a:xfrm>
            <a:off x="8263128" y="2587752"/>
            <a:ext cx="3240024" cy="182880"/>
          </a:xfrm>
          <a:prstGeom prst="rect">
            <a:avLst/>
          </a:prstGeom>
          <a:noFill/>
        </p:spPr>
        <p:txBody>
          <a:bodyPr wrap="square" rtlCol="0" anchor="ctr"/>
          <a:lstStyle/>
          <a:p>
            <a:pPr marL="0" indent="0">
              <a:buNone/>
            </a:pPr>
            <a:r>
              <a:rPr lang="en-US" sz="800" b="1" kern="0" spc="50" dirty="0">
                <a:solidFill>
                  <a:srgbClr val="2EC4B6"/>
                </a:solidFill>
                <a:latin typeface="Calibri" panose="020F0502020204030204" pitchFamily="34" charset="0"/>
                <a:ea typeface="Calibri" panose="020F0502020204030204" pitchFamily="34" charset="-122"/>
                <a:cs typeface="Calibri" panose="020F0502020204030204" pitchFamily="34" charset="-120"/>
              </a:rPr>
              <a:t>IMPACT</a:t>
            </a:r>
            <a:endParaRPr lang="en-US" sz="800" dirty="0"/>
          </a:p>
        </p:txBody>
      </p:sp>
      <p:sp>
        <p:nvSpPr>
          <p:cNvPr id="28" name="Text 26"/>
          <p:cNvSpPr/>
          <p:nvPr/>
        </p:nvSpPr>
        <p:spPr>
          <a:xfrm>
            <a:off x="8263128" y="2752344"/>
            <a:ext cx="3240024" cy="411480"/>
          </a:xfrm>
          <a:prstGeom prst="rect">
            <a:avLst/>
          </a:prstGeom>
          <a:noFill/>
        </p:spPr>
        <p:txBody>
          <a:bodyPr wrap="square" rtlCol="0" anchor="ctr"/>
          <a:lstStyle/>
          <a:p>
            <a:pPr marL="0" indent="0">
              <a:lnSpc>
                <a:spcPct val="110000"/>
              </a:lnSpc>
              <a:buNone/>
            </a:pPr>
            <a:r>
              <a:rPr lang="en-US" sz="900" i="1" dirty="0">
                <a:solidFill>
                  <a:srgbClr val="5B6E73"/>
                </a:solidFill>
                <a:latin typeface="Calibri" panose="020F0502020204030204" pitchFamily="34" charset="0"/>
                <a:ea typeface="Calibri" panose="020F0502020204030204" pitchFamily="34" charset="-122"/>
                <a:cs typeface="Calibri" panose="020F0502020204030204" pitchFamily="34" charset="-120"/>
              </a:rPr>
              <a:t>Project C's staffing/routing approach may generalize to other projects.</a:t>
            </a:r>
            <a:endParaRPr lang="en-US" sz="900" dirty="0"/>
          </a:p>
        </p:txBody>
      </p:sp>
      <p:sp>
        <p:nvSpPr>
          <p:cNvPr id="29" name="Text 27"/>
          <p:cNvSpPr/>
          <p:nvPr/>
        </p:nvSpPr>
        <p:spPr>
          <a:xfrm>
            <a:off x="8263128" y="3172968"/>
            <a:ext cx="3240024" cy="182880"/>
          </a:xfrm>
          <a:prstGeom prst="rect">
            <a:avLst/>
          </a:prstGeom>
          <a:noFill/>
        </p:spPr>
        <p:txBody>
          <a:bodyPr wrap="square" rtlCol="0" anchor="ctr"/>
          <a:lstStyle/>
          <a:p>
            <a:pPr marL="0" indent="0">
              <a:buNone/>
            </a:pPr>
            <a:r>
              <a:rPr lang="en-US" sz="800" b="1" kern="0" spc="50" dirty="0">
                <a:solidFill>
                  <a:srgbClr val="C99A3C"/>
                </a:solidFill>
                <a:latin typeface="Calibri" panose="020F0502020204030204" pitchFamily="34" charset="0"/>
                <a:ea typeface="Calibri" panose="020F0502020204030204" pitchFamily="34" charset="-122"/>
                <a:cs typeface="Calibri" panose="020F0502020204030204" pitchFamily="34" charset="-120"/>
              </a:rPr>
              <a:t>ACTION</a:t>
            </a:r>
            <a:endParaRPr lang="en-US" sz="800" dirty="0"/>
          </a:p>
        </p:txBody>
      </p:sp>
      <p:sp>
        <p:nvSpPr>
          <p:cNvPr id="30" name="Text 28"/>
          <p:cNvSpPr/>
          <p:nvPr/>
        </p:nvSpPr>
        <p:spPr>
          <a:xfrm>
            <a:off x="8263128" y="3337560"/>
            <a:ext cx="3240024" cy="365760"/>
          </a:xfrm>
          <a:prstGeom prst="rect">
            <a:avLst/>
          </a:prstGeom>
          <a:noFill/>
        </p:spPr>
        <p:txBody>
          <a:bodyPr wrap="square" rtlCol="0" anchor="ctr"/>
          <a:lstStyle/>
          <a:p>
            <a:pPr marL="0" indent="0">
              <a:lnSpc>
                <a:spcPct val="110000"/>
              </a:lnSpc>
              <a:buNone/>
            </a:pPr>
            <a:r>
              <a:rPr lang="en-US" sz="900" dirty="0">
                <a:solidFill>
                  <a:srgbClr val="17262B"/>
                </a:solidFill>
                <a:latin typeface="Calibri" panose="020F0502020204030204" pitchFamily="34" charset="0"/>
                <a:ea typeface="Calibri" panose="020F0502020204030204" pitchFamily="34" charset="-122"/>
                <a:cs typeface="Calibri" panose="020F0502020204030204" pitchFamily="34" charset="-120"/>
              </a:rPr>
              <a:t>Document and pilot Project C's practices on Project A or B.</a:t>
            </a:r>
            <a:endParaRPr lang="en-US" sz="900" dirty="0"/>
          </a:p>
        </p:txBody>
      </p:sp>
      <p:sp>
        <p:nvSpPr>
          <p:cNvPr id="31" name="Shape 29"/>
          <p:cNvSpPr/>
          <p:nvPr/>
        </p:nvSpPr>
        <p:spPr>
          <a:xfrm>
            <a:off x="502920" y="393192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32" name="Shape 30"/>
          <p:cNvSpPr/>
          <p:nvPr/>
        </p:nvSpPr>
        <p:spPr>
          <a:xfrm>
            <a:off x="685800" y="4096512"/>
            <a:ext cx="292608" cy="292608"/>
          </a:xfrm>
          <a:prstGeom prst="roundRect">
            <a:avLst>
              <a:gd name="adj" fmla="val 18750"/>
            </a:avLst>
          </a:prstGeom>
          <a:solidFill>
            <a:srgbClr val="024958"/>
          </a:solidFill>
        </p:spPr>
      </p:sp>
      <p:sp>
        <p:nvSpPr>
          <p:cNvPr id="33" name="Text 31"/>
          <p:cNvSpPr/>
          <p:nvPr/>
        </p:nvSpPr>
        <p:spPr>
          <a:xfrm>
            <a:off x="685800" y="4096512"/>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34" name="Text 32"/>
          <p:cNvSpPr/>
          <p:nvPr/>
        </p:nvSpPr>
        <p:spPr>
          <a:xfrm>
            <a:off x="1051560" y="4078224"/>
            <a:ext cx="2874264" cy="36576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Forecasting consistently overshoots demand</a:t>
            </a:r>
            <a:endParaRPr lang="en-US" sz="1200" dirty="0"/>
          </a:p>
        </p:txBody>
      </p:sp>
      <p:sp>
        <p:nvSpPr>
          <p:cNvPr id="35" name="Text 33"/>
          <p:cNvSpPr/>
          <p:nvPr/>
        </p:nvSpPr>
        <p:spPr>
          <a:xfrm>
            <a:off x="685800" y="4498848"/>
            <a:ext cx="3240024" cy="777240"/>
          </a:xfrm>
          <a:prstGeom prst="rect">
            <a:avLst/>
          </a:prstGeom>
          <a:noFill/>
        </p:spPr>
        <p:txBody>
          <a:bodyPr wrap="square" rtlCol="0" anchor="ctr"/>
          <a:lstStyle/>
          <a:p>
            <a:pPr marL="0" indent="0">
              <a:lnSpc>
                <a:spcPct val="115000"/>
              </a:lnSpc>
              <a:buNone/>
            </a:pPr>
            <a:r>
              <a:rPr lang="en-US" sz="930" dirty="0">
                <a:solidFill>
                  <a:srgbClr val="17262B"/>
                </a:solidFill>
                <a:latin typeface="Calibri" panose="020F0502020204030204" pitchFamily="34" charset="0"/>
                <a:ea typeface="Calibri" panose="020F0502020204030204" pitchFamily="34" charset="-122"/>
                <a:cs typeface="Calibri" panose="020F0502020204030204" pitchFamily="34" charset="-120"/>
              </a:rPr>
              <a:t>Forecasted calls exceeded actual offered calls in all three months (Feb −258K, Mar −102K, Apr −332K); Forecast Accuracy is 72%.</a:t>
            </a:r>
            <a:endParaRPr lang="en-US" sz="930" dirty="0"/>
          </a:p>
        </p:txBody>
      </p:sp>
      <p:sp>
        <p:nvSpPr>
          <p:cNvPr id="36" name="Text 34"/>
          <p:cNvSpPr/>
          <p:nvPr/>
        </p:nvSpPr>
        <p:spPr>
          <a:xfrm>
            <a:off x="685800" y="5285232"/>
            <a:ext cx="3240024" cy="182880"/>
          </a:xfrm>
          <a:prstGeom prst="rect">
            <a:avLst/>
          </a:prstGeom>
          <a:noFill/>
        </p:spPr>
        <p:txBody>
          <a:bodyPr wrap="square" rtlCol="0" anchor="ctr"/>
          <a:lstStyle/>
          <a:p>
            <a:pPr marL="0" indent="0">
              <a:buNone/>
            </a:pPr>
            <a:r>
              <a:rPr lang="en-US" sz="800" b="1" kern="0" spc="50" dirty="0">
                <a:solidFill>
                  <a:srgbClr val="2EC4B6"/>
                </a:solidFill>
                <a:latin typeface="Calibri" panose="020F0502020204030204" pitchFamily="34" charset="0"/>
                <a:ea typeface="Calibri" panose="020F0502020204030204" pitchFamily="34" charset="-122"/>
                <a:cs typeface="Calibri" panose="020F0502020204030204" pitchFamily="34" charset="-120"/>
              </a:rPr>
              <a:t>IMPACT</a:t>
            </a:r>
            <a:endParaRPr lang="en-US" sz="800" dirty="0"/>
          </a:p>
        </p:txBody>
      </p:sp>
      <p:sp>
        <p:nvSpPr>
          <p:cNvPr id="37" name="Text 35"/>
          <p:cNvSpPr/>
          <p:nvPr/>
        </p:nvSpPr>
        <p:spPr>
          <a:xfrm>
            <a:off x="685800" y="5449824"/>
            <a:ext cx="3240024" cy="411480"/>
          </a:xfrm>
          <a:prstGeom prst="rect">
            <a:avLst/>
          </a:prstGeom>
          <a:noFill/>
        </p:spPr>
        <p:txBody>
          <a:bodyPr wrap="square" rtlCol="0" anchor="ctr"/>
          <a:lstStyle/>
          <a:p>
            <a:pPr marL="0" indent="0">
              <a:lnSpc>
                <a:spcPct val="110000"/>
              </a:lnSpc>
              <a:buNone/>
            </a:pPr>
            <a:r>
              <a:rPr lang="en-US" sz="900" i="1" dirty="0">
                <a:solidFill>
                  <a:srgbClr val="5B6E73"/>
                </a:solidFill>
                <a:latin typeface="Calibri" panose="020F0502020204030204" pitchFamily="34" charset="0"/>
                <a:ea typeface="Calibri" panose="020F0502020204030204" pitchFamily="34" charset="-122"/>
                <a:cs typeface="Calibri" panose="020F0502020204030204" pitchFamily="34" charset="-120"/>
              </a:rPr>
              <a:t>Over-forecasting can distort staffing plans built on projected, not actual, demand.</a:t>
            </a:r>
            <a:endParaRPr lang="en-US" sz="900" dirty="0"/>
          </a:p>
        </p:txBody>
      </p:sp>
      <p:sp>
        <p:nvSpPr>
          <p:cNvPr id="38" name="Text 36"/>
          <p:cNvSpPr/>
          <p:nvPr/>
        </p:nvSpPr>
        <p:spPr>
          <a:xfrm>
            <a:off x="685800" y="5870448"/>
            <a:ext cx="3240024" cy="182880"/>
          </a:xfrm>
          <a:prstGeom prst="rect">
            <a:avLst/>
          </a:prstGeom>
          <a:noFill/>
        </p:spPr>
        <p:txBody>
          <a:bodyPr wrap="square" rtlCol="0" anchor="ctr"/>
          <a:lstStyle/>
          <a:p>
            <a:pPr marL="0" indent="0">
              <a:buNone/>
            </a:pPr>
            <a:r>
              <a:rPr lang="en-US" sz="800" b="1" kern="0" spc="50" dirty="0">
                <a:solidFill>
                  <a:srgbClr val="C99A3C"/>
                </a:solidFill>
                <a:latin typeface="Calibri" panose="020F0502020204030204" pitchFamily="34" charset="0"/>
                <a:ea typeface="Calibri" panose="020F0502020204030204" pitchFamily="34" charset="-122"/>
                <a:cs typeface="Calibri" panose="020F0502020204030204" pitchFamily="34" charset="-120"/>
              </a:rPr>
              <a:t>ACTION</a:t>
            </a:r>
            <a:endParaRPr lang="en-US" sz="800" dirty="0"/>
          </a:p>
        </p:txBody>
      </p:sp>
      <p:sp>
        <p:nvSpPr>
          <p:cNvPr id="39" name="Text 37"/>
          <p:cNvSpPr/>
          <p:nvPr/>
        </p:nvSpPr>
        <p:spPr>
          <a:xfrm>
            <a:off x="685800" y="6035040"/>
            <a:ext cx="3240024" cy="365760"/>
          </a:xfrm>
          <a:prstGeom prst="rect">
            <a:avLst/>
          </a:prstGeom>
          <a:noFill/>
        </p:spPr>
        <p:txBody>
          <a:bodyPr wrap="square" rtlCol="0" anchor="ctr"/>
          <a:lstStyle/>
          <a:p>
            <a:pPr marL="0" indent="0">
              <a:lnSpc>
                <a:spcPct val="110000"/>
              </a:lnSpc>
              <a:buNone/>
            </a:pPr>
            <a:r>
              <a:rPr lang="en-US" sz="900" dirty="0">
                <a:solidFill>
                  <a:srgbClr val="17262B"/>
                </a:solidFill>
                <a:latin typeface="Calibri" panose="020F0502020204030204" pitchFamily="34" charset="0"/>
                <a:ea typeface="Calibri" panose="020F0502020204030204" pitchFamily="34" charset="-122"/>
                <a:cs typeface="Calibri" panose="020F0502020204030204" pitchFamily="34" charset="-120"/>
              </a:rPr>
              <a:t>Recalibrate the forecast model against realized volume each month.</a:t>
            </a:r>
            <a:endParaRPr lang="en-US" sz="900" dirty="0"/>
          </a:p>
        </p:txBody>
      </p:sp>
      <p:sp>
        <p:nvSpPr>
          <p:cNvPr id="40" name="Shape 38"/>
          <p:cNvSpPr/>
          <p:nvPr/>
        </p:nvSpPr>
        <p:spPr>
          <a:xfrm>
            <a:off x="4291584" y="393192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41" name="Shape 39"/>
          <p:cNvSpPr/>
          <p:nvPr/>
        </p:nvSpPr>
        <p:spPr>
          <a:xfrm>
            <a:off x="4474464" y="4096512"/>
            <a:ext cx="292608" cy="292608"/>
          </a:xfrm>
          <a:prstGeom prst="roundRect">
            <a:avLst>
              <a:gd name="adj" fmla="val 18750"/>
            </a:avLst>
          </a:prstGeom>
          <a:solidFill>
            <a:srgbClr val="024958"/>
          </a:solidFill>
        </p:spPr>
      </p:sp>
      <p:sp>
        <p:nvSpPr>
          <p:cNvPr id="42" name="Text 40"/>
          <p:cNvSpPr/>
          <p:nvPr/>
        </p:nvSpPr>
        <p:spPr>
          <a:xfrm>
            <a:off x="4474464" y="4096512"/>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43" name="Text 41"/>
          <p:cNvSpPr/>
          <p:nvPr/>
        </p:nvSpPr>
        <p:spPr>
          <a:xfrm>
            <a:off x="4840224" y="4078224"/>
            <a:ext cx="2874264" cy="36576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A small group of agents carries outsized volume and risk</a:t>
            </a:r>
            <a:endParaRPr lang="en-US" sz="1200" dirty="0"/>
          </a:p>
        </p:txBody>
      </p:sp>
      <p:sp>
        <p:nvSpPr>
          <p:cNvPr id="44" name="Text 42"/>
          <p:cNvSpPr/>
          <p:nvPr/>
        </p:nvSpPr>
        <p:spPr>
          <a:xfrm>
            <a:off x="4474464" y="4498848"/>
            <a:ext cx="3240024" cy="777240"/>
          </a:xfrm>
          <a:prstGeom prst="rect">
            <a:avLst/>
          </a:prstGeom>
          <a:noFill/>
        </p:spPr>
        <p:txBody>
          <a:bodyPr wrap="square" rtlCol="0" anchor="ctr"/>
          <a:lstStyle/>
          <a:p>
            <a:pPr marL="0" indent="0">
              <a:lnSpc>
                <a:spcPct val="115000"/>
              </a:lnSpc>
              <a:buNone/>
            </a:pPr>
            <a:r>
              <a:rPr lang="en-US" sz="930" dirty="0">
                <a:solidFill>
                  <a:srgbClr val="17262B"/>
                </a:solidFill>
                <a:latin typeface="Calibri" panose="020F0502020204030204" pitchFamily="34" charset="0"/>
                <a:ea typeface="Calibri" panose="020F0502020204030204" pitchFamily="34" charset="-122"/>
                <a:cs typeface="Calibri" panose="020F0502020204030204" pitchFamily="34" charset="-120"/>
              </a:rPr>
              <a:t>Dina (172K calls) and Youssef post the lowest Service Level among all 16 agents alongside the highest workloads.</a:t>
            </a:r>
            <a:endParaRPr lang="en-US" sz="930" dirty="0"/>
          </a:p>
        </p:txBody>
      </p:sp>
      <p:sp>
        <p:nvSpPr>
          <p:cNvPr id="45" name="Text 43"/>
          <p:cNvSpPr/>
          <p:nvPr/>
        </p:nvSpPr>
        <p:spPr>
          <a:xfrm>
            <a:off x="4474464" y="5285232"/>
            <a:ext cx="3240024" cy="182880"/>
          </a:xfrm>
          <a:prstGeom prst="rect">
            <a:avLst/>
          </a:prstGeom>
          <a:noFill/>
        </p:spPr>
        <p:txBody>
          <a:bodyPr wrap="square" rtlCol="0" anchor="ctr"/>
          <a:lstStyle/>
          <a:p>
            <a:pPr marL="0" indent="0">
              <a:buNone/>
            </a:pPr>
            <a:r>
              <a:rPr lang="en-US" sz="800" b="1" kern="0" spc="50" dirty="0">
                <a:solidFill>
                  <a:srgbClr val="2EC4B6"/>
                </a:solidFill>
                <a:latin typeface="Calibri" panose="020F0502020204030204" pitchFamily="34" charset="0"/>
                <a:ea typeface="Calibri" panose="020F0502020204030204" pitchFamily="34" charset="-122"/>
                <a:cs typeface="Calibri" panose="020F0502020204030204" pitchFamily="34" charset="-120"/>
              </a:rPr>
              <a:t>IMPACT</a:t>
            </a:r>
            <a:endParaRPr lang="en-US" sz="800" dirty="0"/>
          </a:p>
        </p:txBody>
      </p:sp>
      <p:sp>
        <p:nvSpPr>
          <p:cNvPr id="46" name="Text 44"/>
          <p:cNvSpPr/>
          <p:nvPr/>
        </p:nvSpPr>
        <p:spPr>
          <a:xfrm>
            <a:off x="4474464" y="5449824"/>
            <a:ext cx="3240024" cy="411480"/>
          </a:xfrm>
          <a:prstGeom prst="rect">
            <a:avLst/>
          </a:prstGeom>
          <a:noFill/>
        </p:spPr>
        <p:txBody>
          <a:bodyPr wrap="square" rtlCol="0" anchor="ctr"/>
          <a:lstStyle/>
          <a:p>
            <a:pPr marL="0" indent="0">
              <a:lnSpc>
                <a:spcPct val="110000"/>
              </a:lnSpc>
              <a:buNone/>
            </a:pPr>
            <a:r>
              <a:rPr lang="en-US" sz="900" i="1" dirty="0">
                <a:solidFill>
                  <a:srgbClr val="5B6E73"/>
                </a:solidFill>
                <a:latin typeface="Calibri" panose="020F0502020204030204" pitchFamily="34" charset="0"/>
                <a:ea typeface="Calibri" panose="020F0502020204030204" pitchFamily="34" charset="-122"/>
                <a:cs typeface="Calibri" panose="020F0502020204030204" pitchFamily="34" charset="-120"/>
              </a:rPr>
              <a:t>High-volume agents may be operating past a sustainable service threshold.</a:t>
            </a:r>
            <a:endParaRPr lang="en-US" sz="900" dirty="0"/>
          </a:p>
        </p:txBody>
      </p:sp>
      <p:sp>
        <p:nvSpPr>
          <p:cNvPr id="47" name="Text 45"/>
          <p:cNvSpPr/>
          <p:nvPr/>
        </p:nvSpPr>
        <p:spPr>
          <a:xfrm>
            <a:off x="4474464" y="5870448"/>
            <a:ext cx="3240024" cy="182880"/>
          </a:xfrm>
          <a:prstGeom prst="rect">
            <a:avLst/>
          </a:prstGeom>
          <a:noFill/>
        </p:spPr>
        <p:txBody>
          <a:bodyPr wrap="square" rtlCol="0" anchor="ctr"/>
          <a:lstStyle/>
          <a:p>
            <a:pPr marL="0" indent="0">
              <a:buNone/>
            </a:pPr>
            <a:r>
              <a:rPr lang="en-US" sz="800" b="1" kern="0" spc="50" dirty="0">
                <a:solidFill>
                  <a:srgbClr val="C99A3C"/>
                </a:solidFill>
                <a:latin typeface="Calibri" panose="020F0502020204030204" pitchFamily="34" charset="0"/>
                <a:ea typeface="Calibri" panose="020F0502020204030204" pitchFamily="34" charset="-122"/>
                <a:cs typeface="Calibri" panose="020F0502020204030204" pitchFamily="34" charset="-120"/>
              </a:rPr>
              <a:t>ACTION</a:t>
            </a:r>
            <a:endParaRPr lang="en-US" sz="800" dirty="0"/>
          </a:p>
        </p:txBody>
      </p:sp>
      <p:sp>
        <p:nvSpPr>
          <p:cNvPr id="48" name="Text 46"/>
          <p:cNvSpPr/>
          <p:nvPr/>
        </p:nvSpPr>
        <p:spPr>
          <a:xfrm>
            <a:off x="4474464" y="6035040"/>
            <a:ext cx="3240024" cy="365760"/>
          </a:xfrm>
          <a:prstGeom prst="rect">
            <a:avLst/>
          </a:prstGeom>
          <a:noFill/>
        </p:spPr>
        <p:txBody>
          <a:bodyPr wrap="square" rtlCol="0" anchor="ctr"/>
          <a:lstStyle/>
          <a:p>
            <a:pPr marL="0" indent="0">
              <a:lnSpc>
                <a:spcPct val="110000"/>
              </a:lnSpc>
              <a:buNone/>
            </a:pPr>
            <a:r>
              <a:rPr lang="en-US" sz="900" dirty="0">
                <a:solidFill>
                  <a:srgbClr val="17262B"/>
                </a:solidFill>
                <a:latin typeface="Calibri" panose="020F0502020204030204" pitchFamily="34" charset="0"/>
                <a:ea typeface="Calibri" panose="020F0502020204030204" pitchFamily="34" charset="-122"/>
                <a:cs typeface="Calibri" panose="020F0502020204030204" pitchFamily="34" charset="-120"/>
              </a:rPr>
              <a:t>Review workload balancing and consider targeted coaching or support.</a:t>
            </a:r>
            <a:endParaRPr lang="en-US" sz="900" dirty="0"/>
          </a:p>
        </p:txBody>
      </p:sp>
      <p:sp>
        <p:nvSpPr>
          <p:cNvPr id="49" name="Shape 47"/>
          <p:cNvSpPr/>
          <p:nvPr/>
        </p:nvSpPr>
        <p:spPr>
          <a:xfrm>
            <a:off x="8080248" y="393192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0" name="Shape 48"/>
          <p:cNvSpPr/>
          <p:nvPr/>
        </p:nvSpPr>
        <p:spPr>
          <a:xfrm>
            <a:off x="8263128" y="4096512"/>
            <a:ext cx="292608" cy="292608"/>
          </a:xfrm>
          <a:prstGeom prst="roundRect">
            <a:avLst>
              <a:gd name="adj" fmla="val 18750"/>
            </a:avLst>
          </a:prstGeom>
          <a:solidFill>
            <a:srgbClr val="024958"/>
          </a:solidFill>
        </p:spPr>
      </p:sp>
      <p:sp>
        <p:nvSpPr>
          <p:cNvPr id="51" name="Text 49"/>
          <p:cNvSpPr/>
          <p:nvPr/>
        </p:nvSpPr>
        <p:spPr>
          <a:xfrm>
            <a:off x="8263128" y="4096512"/>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52" name="Text 50"/>
          <p:cNvSpPr/>
          <p:nvPr/>
        </p:nvSpPr>
        <p:spPr>
          <a:xfrm>
            <a:off x="8628888" y="4078224"/>
            <a:ext cx="2874264" cy="365760"/>
          </a:xfrm>
          <a:prstGeom prst="rect">
            <a:avLst/>
          </a:prstGeom>
          <a:noFill/>
        </p:spPr>
        <p:txBody>
          <a:bodyPr wrap="square" rtlCol="0" anchor="ctr"/>
          <a:lstStyle/>
          <a:p>
            <a:pPr marL="0" indent="0">
              <a:buNone/>
            </a:pPr>
            <a:r>
              <a:rPr lang="en-US" sz="1200" b="1" dirty="0">
                <a:solidFill>
                  <a:srgbClr val="024958"/>
                </a:solidFill>
                <a:latin typeface="Calibri" panose="020F0502020204030204" pitchFamily="34" charset="0"/>
                <a:ea typeface="Calibri" panose="020F0502020204030204" pitchFamily="34" charset="-122"/>
                <a:cs typeface="Calibri" panose="020F0502020204030204" pitchFamily="34" charset="-120"/>
              </a:rPr>
              <a:t>A 35% demand surge would push risk to High</a:t>
            </a:r>
            <a:endParaRPr lang="en-US" sz="1200" dirty="0"/>
          </a:p>
        </p:txBody>
      </p:sp>
      <p:sp>
        <p:nvSpPr>
          <p:cNvPr id="53" name="Text 51"/>
          <p:cNvSpPr/>
          <p:nvPr/>
        </p:nvSpPr>
        <p:spPr>
          <a:xfrm>
            <a:off x="8263128" y="4498848"/>
            <a:ext cx="3240024" cy="777240"/>
          </a:xfrm>
          <a:prstGeom prst="rect">
            <a:avLst/>
          </a:prstGeom>
          <a:noFill/>
        </p:spPr>
        <p:txBody>
          <a:bodyPr wrap="square" rtlCol="0" anchor="ctr"/>
          <a:lstStyle/>
          <a:p>
            <a:pPr marL="0" indent="0">
              <a:lnSpc>
                <a:spcPct val="115000"/>
              </a:lnSpc>
              <a:buNone/>
            </a:pPr>
            <a:r>
              <a:rPr lang="en-US" sz="930" dirty="0">
                <a:solidFill>
                  <a:srgbClr val="17262B"/>
                </a:solidFill>
                <a:latin typeface="Calibri" panose="020F0502020204030204" pitchFamily="34" charset="0"/>
                <a:ea typeface="Calibri" panose="020F0502020204030204" pitchFamily="34" charset="-122"/>
                <a:cs typeface="Calibri" panose="020F0502020204030204" pitchFamily="34" charset="-120"/>
              </a:rPr>
              <a:t>The What-If simulator shows Service Level falling to 83.5% and ASA rising to 10.8s under a +35% call-volume scenario.</a:t>
            </a:r>
            <a:endParaRPr lang="en-US" sz="930" dirty="0"/>
          </a:p>
        </p:txBody>
      </p:sp>
      <p:sp>
        <p:nvSpPr>
          <p:cNvPr id="54" name="Text 52"/>
          <p:cNvSpPr/>
          <p:nvPr/>
        </p:nvSpPr>
        <p:spPr>
          <a:xfrm>
            <a:off x="8263128" y="5285232"/>
            <a:ext cx="3240024" cy="182880"/>
          </a:xfrm>
          <a:prstGeom prst="rect">
            <a:avLst/>
          </a:prstGeom>
          <a:noFill/>
        </p:spPr>
        <p:txBody>
          <a:bodyPr wrap="square" rtlCol="0" anchor="ctr"/>
          <a:lstStyle/>
          <a:p>
            <a:pPr marL="0" indent="0">
              <a:buNone/>
            </a:pPr>
            <a:r>
              <a:rPr lang="en-US" sz="800" b="1" kern="0" spc="50" dirty="0">
                <a:solidFill>
                  <a:srgbClr val="2EC4B6"/>
                </a:solidFill>
                <a:latin typeface="Calibri" panose="020F0502020204030204" pitchFamily="34" charset="0"/>
                <a:ea typeface="Calibri" panose="020F0502020204030204" pitchFamily="34" charset="-122"/>
                <a:cs typeface="Calibri" panose="020F0502020204030204" pitchFamily="34" charset="-120"/>
              </a:rPr>
              <a:t>IMPACT</a:t>
            </a:r>
            <a:endParaRPr lang="en-US" sz="800" dirty="0"/>
          </a:p>
        </p:txBody>
      </p:sp>
      <p:sp>
        <p:nvSpPr>
          <p:cNvPr id="55" name="Text 53"/>
          <p:cNvSpPr/>
          <p:nvPr/>
        </p:nvSpPr>
        <p:spPr>
          <a:xfrm>
            <a:off x="8263128" y="5449824"/>
            <a:ext cx="3240024" cy="411480"/>
          </a:xfrm>
          <a:prstGeom prst="rect">
            <a:avLst/>
          </a:prstGeom>
          <a:noFill/>
        </p:spPr>
        <p:txBody>
          <a:bodyPr wrap="square" rtlCol="0" anchor="ctr"/>
          <a:lstStyle/>
          <a:p>
            <a:pPr marL="0" indent="0">
              <a:lnSpc>
                <a:spcPct val="110000"/>
              </a:lnSpc>
              <a:buNone/>
            </a:pPr>
            <a:r>
              <a:rPr lang="en-US" sz="900" i="1" dirty="0">
                <a:solidFill>
                  <a:srgbClr val="5B6E73"/>
                </a:solidFill>
                <a:latin typeface="Calibri" panose="020F0502020204030204" pitchFamily="34" charset="0"/>
                <a:ea typeface="Calibri" panose="020F0502020204030204" pitchFamily="34" charset="-122"/>
                <a:cs typeface="Calibri" panose="020F0502020204030204" pitchFamily="34" charset="-120"/>
              </a:rPr>
              <a:t>The center has a quantified, tested breaking point for current staffing.</a:t>
            </a:r>
            <a:endParaRPr lang="en-US" sz="900" dirty="0"/>
          </a:p>
        </p:txBody>
      </p:sp>
      <p:sp>
        <p:nvSpPr>
          <p:cNvPr id="56" name="Text 54"/>
          <p:cNvSpPr/>
          <p:nvPr/>
        </p:nvSpPr>
        <p:spPr>
          <a:xfrm>
            <a:off x="8263128" y="5870448"/>
            <a:ext cx="3240024" cy="182880"/>
          </a:xfrm>
          <a:prstGeom prst="rect">
            <a:avLst/>
          </a:prstGeom>
          <a:noFill/>
        </p:spPr>
        <p:txBody>
          <a:bodyPr wrap="square" rtlCol="0" anchor="ctr"/>
          <a:lstStyle/>
          <a:p>
            <a:pPr marL="0" indent="0">
              <a:buNone/>
            </a:pPr>
            <a:r>
              <a:rPr lang="en-US" sz="800" b="1" kern="0" spc="50" dirty="0">
                <a:solidFill>
                  <a:srgbClr val="C99A3C"/>
                </a:solidFill>
                <a:latin typeface="Calibri" panose="020F0502020204030204" pitchFamily="34" charset="0"/>
                <a:ea typeface="Calibri" panose="020F0502020204030204" pitchFamily="34" charset="-122"/>
                <a:cs typeface="Calibri" panose="020F0502020204030204" pitchFamily="34" charset="-120"/>
              </a:rPr>
              <a:t>ACTION</a:t>
            </a:r>
            <a:endParaRPr lang="en-US" sz="800" dirty="0"/>
          </a:p>
        </p:txBody>
      </p:sp>
      <p:sp>
        <p:nvSpPr>
          <p:cNvPr id="57" name="Text 55"/>
          <p:cNvSpPr/>
          <p:nvPr/>
        </p:nvSpPr>
        <p:spPr>
          <a:xfrm>
            <a:off x="8263128" y="6035040"/>
            <a:ext cx="3240024" cy="365760"/>
          </a:xfrm>
          <a:prstGeom prst="rect">
            <a:avLst/>
          </a:prstGeom>
          <a:noFill/>
        </p:spPr>
        <p:txBody>
          <a:bodyPr wrap="square" rtlCol="0" anchor="ctr"/>
          <a:lstStyle/>
          <a:p>
            <a:pPr marL="0" indent="0">
              <a:lnSpc>
                <a:spcPct val="110000"/>
              </a:lnSpc>
              <a:buNone/>
            </a:pPr>
            <a:r>
              <a:rPr lang="en-US" sz="900" dirty="0">
                <a:solidFill>
                  <a:srgbClr val="17262B"/>
                </a:solidFill>
                <a:latin typeface="Calibri" panose="020F0502020204030204" pitchFamily="34" charset="0"/>
                <a:ea typeface="Calibri" panose="020F0502020204030204" pitchFamily="34" charset="-122"/>
                <a:cs typeface="Calibri" panose="020F0502020204030204" pitchFamily="34" charset="-120"/>
              </a:rPr>
              <a:t>Use the scenario threshold as a staffing-review trigger, not just a report.</a:t>
            </a:r>
            <a:endParaRPr lang="en-US" sz="900" dirty="0"/>
          </a:p>
        </p:txBody>
      </p:sp>
      <p:sp>
        <p:nvSpPr>
          <p:cNvPr id="58" name="Text 56"/>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13</a:t>
            </a:r>
            <a:endParaRPr lang="en-US" sz="1000" dirty="0"/>
          </a:p>
        </p:txBody>
      </p:sp>
      <p:sp>
        <p:nvSpPr>
          <p:cNvPr id="59" name="Text 57"/>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RECOMMENDATIONS</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Business Recommendations</a:t>
            </a:r>
            <a:endParaRPr lang="en-US" sz="2800" dirty="0"/>
          </a:p>
        </p:txBody>
      </p:sp>
      <p:sp>
        <p:nvSpPr>
          <p:cNvPr id="4" name="Shape 2"/>
          <p:cNvSpPr/>
          <p:nvPr/>
        </p:nvSpPr>
        <p:spPr>
          <a:xfrm>
            <a:off x="502920" y="123444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5" name="Shape 3"/>
          <p:cNvSpPr/>
          <p:nvPr/>
        </p:nvSpPr>
        <p:spPr>
          <a:xfrm>
            <a:off x="704088" y="1435608"/>
            <a:ext cx="365760" cy="365760"/>
          </a:xfrm>
          <a:prstGeom prst="ellipse">
            <a:avLst/>
          </a:prstGeom>
          <a:solidFill>
            <a:srgbClr val="024958"/>
          </a:solidFill>
        </p:spPr>
      </p:sp>
      <p:sp>
        <p:nvSpPr>
          <p:cNvPr id="6" name="Text 4"/>
          <p:cNvSpPr/>
          <p:nvPr/>
        </p:nvSpPr>
        <p:spPr>
          <a:xfrm>
            <a:off x="704088" y="1911096"/>
            <a:ext cx="3203448" cy="548640"/>
          </a:xfrm>
          <a:prstGeom prst="rect">
            <a:avLst/>
          </a:prstGeom>
          <a:noFill/>
        </p:spPr>
        <p:txBody>
          <a:bodyPr wrap="square" rtlCol="0" anchor="ctr"/>
          <a:lstStyle/>
          <a:p>
            <a:pPr marL="0" indent="0">
              <a:lnSpc>
                <a:spcPct val="110000"/>
              </a:lnSpc>
              <a:buNone/>
            </a:pPr>
            <a:r>
              <a:rPr lang="en-US" sz="1450" b="1" dirty="0">
                <a:solidFill>
                  <a:srgbClr val="024958"/>
                </a:solidFill>
                <a:latin typeface="Cambria" panose="02040503050406030204" pitchFamily="34" charset="0"/>
                <a:ea typeface="Cambria" panose="02040503050406030204" pitchFamily="34" charset="-122"/>
                <a:cs typeface="Cambria" panose="02040503050406030204" pitchFamily="34" charset="-120"/>
              </a:rPr>
              <a:t>Workforce &amp; Staffing</a:t>
            </a:r>
            <a:endParaRPr lang="en-US" sz="1450" dirty="0"/>
          </a:p>
        </p:txBody>
      </p:sp>
      <p:sp>
        <p:nvSpPr>
          <p:cNvPr id="7" name="Text 5"/>
          <p:cNvSpPr/>
          <p:nvPr/>
        </p:nvSpPr>
        <p:spPr>
          <a:xfrm>
            <a:off x="704088" y="2459736"/>
            <a:ext cx="3203448" cy="1188720"/>
          </a:xfrm>
          <a:prstGeom prst="rect">
            <a:avLst/>
          </a:prstGeom>
          <a:noFill/>
        </p:spPr>
        <p:txBody>
          <a:bodyPr wrap="square" rtlCol="0" anchor="ctr"/>
          <a:lstStyle/>
          <a:p>
            <a:pPr marL="0" indent="0">
              <a:lnSpc>
                <a:spcPct val="120000"/>
              </a:lnSpc>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Review staffing allocation for Project B and for periods of elevated call demand, where increased ASA (11.7s) and Service Level below the 92% average indicate operational pressure.</a:t>
            </a:r>
            <a:endParaRPr lang="en-US" sz="1050" dirty="0"/>
          </a:p>
        </p:txBody>
      </p:sp>
      <p:sp>
        <p:nvSpPr>
          <p:cNvPr id="8" name="Shape 6"/>
          <p:cNvSpPr/>
          <p:nvPr/>
        </p:nvSpPr>
        <p:spPr>
          <a:xfrm>
            <a:off x="4291584" y="123444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9" name="Shape 7"/>
          <p:cNvSpPr/>
          <p:nvPr/>
        </p:nvSpPr>
        <p:spPr>
          <a:xfrm>
            <a:off x="4492752" y="1435608"/>
            <a:ext cx="365760" cy="365760"/>
          </a:xfrm>
          <a:prstGeom prst="ellipse">
            <a:avLst/>
          </a:prstGeom>
          <a:solidFill>
            <a:srgbClr val="0B7285"/>
          </a:solidFill>
        </p:spPr>
      </p:sp>
      <p:sp>
        <p:nvSpPr>
          <p:cNvPr id="10" name="Text 8"/>
          <p:cNvSpPr/>
          <p:nvPr/>
        </p:nvSpPr>
        <p:spPr>
          <a:xfrm>
            <a:off x="4492752" y="1911096"/>
            <a:ext cx="3203448" cy="548640"/>
          </a:xfrm>
          <a:prstGeom prst="rect">
            <a:avLst/>
          </a:prstGeom>
          <a:noFill/>
        </p:spPr>
        <p:txBody>
          <a:bodyPr wrap="square" rtlCol="0" anchor="ctr"/>
          <a:lstStyle/>
          <a:p>
            <a:pPr marL="0" indent="0">
              <a:lnSpc>
                <a:spcPct val="110000"/>
              </a:lnSpc>
              <a:buNone/>
            </a:pPr>
            <a:r>
              <a:rPr lang="en-US" sz="1450" b="1" dirty="0">
                <a:solidFill>
                  <a:srgbClr val="024958"/>
                </a:solidFill>
                <a:latin typeface="Cambria" panose="02040503050406030204" pitchFamily="34" charset="0"/>
                <a:ea typeface="Cambria" panose="02040503050406030204" pitchFamily="34" charset="-122"/>
                <a:cs typeface="Cambria" panose="02040503050406030204" pitchFamily="34" charset="-120"/>
              </a:rPr>
              <a:t>Peak-Period Planning</a:t>
            </a:r>
            <a:endParaRPr lang="en-US" sz="1450" dirty="0"/>
          </a:p>
        </p:txBody>
      </p:sp>
      <p:sp>
        <p:nvSpPr>
          <p:cNvPr id="11" name="Text 9"/>
          <p:cNvSpPr/>
          <p:nvPr/>
        </p:nvSpPr>
        <p:spPr>
          <a:xfrm>
            <a:off x="4492752" y="2459736"/>
            <a:ext cx="3203448" cy="1188720"/>
          </a:xfrm>
          <a:prstGeom prst="rect">
            <a:avLst/>
          </a:prstGeom>
          <a:noFill/>
        </p:spPr>
        <p:txBody>
          <a:bodyPr wrap="square" rtlCol="0" anchor="ctr"/>
          <a:lstStyle/>
          <a:p>
            <a:pPr marL="0" indent="0">
              <a:lnSpc>
                <a:spcPct val="120000"/>
              </a:lnSpc>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Build a staffing plan for March-equivalent demand spikes (~2x baseline volume), using the What-If simulator's +35% scenario (Service Level 83.5%, High risk) as a concrete planning threshold.</a:t>
            </a:r>
            <a:endParaRPr lang="en-US" sz="1050" dirty="0"/>
          </a:p>
        </p:txBody>
      </p:sp>
      <p:sp>
        <p:nvSpPr>
          <p:cNvPr id="12" name="Shape 10"/>
          <p:cNvSpPr/>
          <p:nvPr/>
        </p:nvSpPr>
        <p:spPr>
          <a:xfrm>
            <a:off x="8080248" y="123444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13" name="Shape 11"/>
          <p:cNvSpPr/>
          <p:nvPr/>
        </p:nvSpPr>
        <p:spPr>
          <a:xfrm>
            <a:off x="8281416" y="1435608"/>
            <a:ext cx="365760" cy="365760"/>
          </a:xfrm>
          <a:prstGeom prst="ellipse">
            <a:avLst/>
          </a:prstGeom>
          <a:solidFill>
            <a:srgbClr val="2EC4B6"/>
          </a:solidFill>
        </p:spPr>
      </p:sp>
      <p:sp>
        <p:nvSpPr>
          <p:cNvPr id="14" name="Text 12"/>
          <p:cNvSpPr/>
          <p:nvPr/>
        </p:nvSpPr>
        <p:spPr>
          <a:xfrm>
            <a:off x="8281416" y="1911096"/>
            <a:ext cx="3203448" cy="548640"/>
          </a:xfrm>
          <a:prstGeom prst="rect">
            <a:avLst/>
          </a:prstGeom>
          <a:noFill/>
        </p:spPr>
        <p:txBody>
          <a:bodyPr wrap="square" rtlCol="0" anchor="ctr"/>
          <a:lstStyle/>
          <a:p>
            <a:pPr marL="0" indent="0">
              <a:lnSpc>
                <a:spcPct val="110000"/>
              </a:lnSpc>
              <a:buNone/>
            </a:pPr>
            <a:r>
              <a:rPr lang="en-US" sz="1450" b="1" dirty="0">
                <a:solidFill>
                  <a:srgbClr val="024958"/>
                </a:solidFill>
                <a:latin typeface="Cambria" panose="02040503050406030204" pitchFamily="34" charset="0"/>
                <a:ea typeface="Cambria" panose="02040503050406030204" pitchFamily="34" charset="-122"/>
                <a:cs typeface="Cambria" panose="02040503050406030204" pitchFamily="34" charset="-120"/>
              </a:rPr>
              <a:t>Forecasting Review</a:t>
            </a:r>
            <a:endParaRPr lang="en-US" sz="1450" dirty="0"/>
          </a:p>
        </p:txBody>
      </p:sp>
      <p:sp>
        <p:nvSpPr>
          <p:cNvPr id="15" name="Text 13"/>
          <p:cNvSpPr/>
          <p:nvPr/>
        </p:nvSpPr>
        <p:spPr>
          <a:xfrm>
            <a:off x="8281416" y="2459736"/>
            <a:ext cx="3203448" cy="1188720"/>
          </a:xfrm>
          <a:prstGeom prst="rect">
            <a:avLst/>
          </a:prstGeom>
          <a:noFill/>
        </p:spPr>
        <p:txBody>
          <a:bodyPr wrap="square" rtlCol="0" anchor="ctr"/>
          <a:lstStyle/>
          <a:p>
            <a:pPr marL="0" indent="0">
              <a:lnSpc>
                <a:spcPct val="120000"/>
              </a:lnSpc>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Recalibrate the forecast model: actual volume ran below forecast by 258K–332K calls per month across all three months (72% overall accuracy).</a:t>
            </a:r>
            <a:endParaRPr lang="en-US" sz="1050" dirty="0"/>
          </a:p>
        </p:txBody>
      </p:sp>
      <p:sp>
        <p:nvSpPr>
          <p:cNvPr id="16" name="Shape 14"/>
          <p:cNvSpPr/>
          <p:nvPr/>
        </p:nvSpPr>
        <p:spPr>
          <a:xfrm>
            <a:off x="502920" y="393192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17" name="Shape 15"/>
          <p:cNvSpPr/>
          <p:nvPr/>
        </p:nvSpPr>
        <p:spPr>
          <a:xfrm>
            <a:off x="704088" y="4133088"/>
            <a:ext cx="365760" cy="365760"/>
          </a:xfrm>
          <a:prstGeom prst="ellipse">
            <a:avLst/>
          </a:prstGeom>
          <a:solidFill>
            <a:srgbClr val="C99A3C"/>
          </a:solidFill>
        </p:spPr>
      </p:sp>
      <p:sp>
        <p:nvSpPr>
          <p:cNvPr id="18" name="Text 16"/>
          <p:cNvSpPr/>
          <p:nvPr/>
        </p:nvSpPr>
        <p:spPr>
          <a:xfrm>
            <a:off x="704088" y="4608576"/>
            <a:ext cx="3203448" cy="548640"/>
          </a:xfrm>
          <a:prstGeom prst="rect">
            <a:avLst/>
          </a:prstGeom>
          <a:noFill/>
        </p:spPr>
        <p:txBody>
          <a:bodyPr wrap="square" rtlCol="0" anchor="ctr"/>
          <a:lstStyle/>
          <a:p>
            <a:pPr marL="0" indent="0">
              <a:lnSpc>
                <a:spcPct val="110000"/>
              </a:lnSpc>
              <a:buNone/>
            </a:pPr>
            <a:r>
              <a:rPr lang="en-US" sz="1450" b="1" dirty="0">
                <a:solidFill>
                  <a:srgbClr val="024958"/>
                </a:solidFill>
                <a:latin typeface="Cambria" panose="02040503050406030204" pitchFamily="34" charset="0"/>
                <a:ea typeface="Cambria" panose="02040503050406030204" pitchFamily="34" charset="-122"/>
                <a:cs typeface="Cambria" panose="02040503050406030204" pitchFamily="34" charset="-120"/>
              </a:rPr>
              <a:t>Agent Workload &amp; Coaching</a:t>
            </a:r>
            <a:endParaRPr lang="en-US" sz="1450" dirty="0"/>
          </a:p>
        </p:txBody>
      </p:sp>
      <p:sp>
        <p:nvSpPr>
          <p:cNvPr id="19" name="Text 17"/>
          <p:cNvSpPr/>
          <p:nvPr/>
        </p:nvSpPr>
        <p:spPr>
          <a:xfrm>
            <a:off x="704088" y="5157216"/>
            <a:ext cx="3203448" cy="1188720"/>
          </a:xfrm>
          <a:prstGeom prst="rect">
            <a:avLst/>
          </a:prstGeom>
          <a:noFill/>
        </p:spPr>
        <p:txBody>
          <a:bodyPr wrap="square" rtlCol="0" anchor="ctr"/>
          <a:lstStyle/>
          <a:p>
            <a:pPr marL="0" indent="0">
              <a:lnSpc>
                <a:spcPct val="120000"/>
              </a:lnSpc>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Investigate workload balancing for the highest-volume, lowest-Service-Level agents (Dina, Youssef, Huda, Rania), and document Laila's and Sara's practices (99.5% and 98.3% Service Level) for internal benchmarking.</a:t>
            </a:r>
            <a:endParaRPr lang="en-US" sz="1050" dirty="0"/>
          </a:p>
        </p:txBody>
      </p:sp>
      <p:sp>
        <p:nvSpPr>
          <p:cNvPr id="20" name="Shape 18"/>
          <p:cNvSpPr/>
          <p:nvPr/>
        </p:nvSpPr>
        <p:spPr>
          <a:xfrm>
            <a:off x="4291584" y="393192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1" name="Shape 19"/>
          <p:cNvSpPr/>
          <p:nvPr/>
        </p:nvSpPr>
        <p:spPr>
          <a:xfrm>
            <a:off x="4492752" y="4133088"/>
            <a:ext cx="365760" cy="365760"/>
          </a:xfrm>
          <a:prstGeom prst="ellipse">
            <a:avLst/>
          </a:prstGeom>
          <a:solidFill>
            <a:srgbClr val="024958"/>
          </a:solidFill>
        </p:spPr>
      </p:sp>
      <p:sp>
        <p:nvSpPr>
          <p:cNvPr id="22" name="Text 20"/>
          <p:cNvSpPr/>
          <p:nvPr/>
        </p:nvSpPr>
        <p:spPr>
          <a:xfrm>
            <a:off x="4492752" y="4608576"/>
            <a:ext cx="3203448" cy="548640"/>
          </a:xfrm>
          <a:prstGeom prst="rect">
            <a:avLst/>
          </a:prstGeom>
          <a:noFill/>
        </p:spPr>
        <p:txBody>
          <a:bodyPr wrap="square" rtlCol="0" anchor="ctr"/>
          <a:lstStyle/>
          <a:p>
            <a:pPr marL="0" indent="0">
              <a:lnSpc>
                <a:spcPct val="110000"/>
              </a:lnSpc>
              <a:buNone/>
            </a:pPr>
            <a:r>
              <a:rPr lang="en-US" sz="1450" b="1" dirty="0">
                <a:solidFill>
                  <a:srgbClr val="024958"/>
                </a:solidFill>
                <a:latin typeface="Cambria" panose="02040503050406030204" pitchFamily="34" charset="0"/>
                <a:ea typeface="Cambria" panose="02040503050406030204" pitchFamily="34" charset="-122"/>
                <a:cs typeface="Cambria" panose="02040503050406030204" pitchFamily="34" charset="-120"/>
              </a:rPr>
              <a:t>Internal Benchmarking</a:t>
            </a:r>
            <a:endParaRPr lang="en-US" sz="1450" dirty="0"/>
          </a:p>
        </p:txBody>
      </p:sp>
      <p:sp>
        <p:nvSpPr>
          <p:cNvPr id="23" name="Text 21"/>
          <p:cNvSpPr/>
          <p:nvPr/>
        </p:nvSpPr>
        <p:spPr>
          <a:xfrm>
            <a:off x="4492752" y="5157216"/>
            <a:ext cx="3203448" cy="1188720"/>
          </a:xfrm>
          <a:prstGeom prst="rect">
            <a:avLst/>
          </a:prstGeom>
          <a:noFill/>
        </p:spPr>
        <p:txBody>
          <a:bodyPr wrap="square" rtlCol="0" anchor="ctr"/>
          <a:lstStyle/>
          <a:p>
            <a:pPr marL="0" indent="0">
              <a:lnSpc>
                <a:spcPct val="120000"/>
              </a:lnSpc>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Formalize Project C's operating approach (96% Service Level, 5.8s ASA, top Performance Score) as a reference model to evaluate Projects A and B against.</a:t>
            </a:r>
            <a:endParaRPr lang="en-US" sz="1050" dirty="0"/>
          </a:p>
        </p:txBody>
      </p:sp>
      <p:sp>
        <p:nvSpPr>
          <p:cNvPr id="24" name="Shape 22"/>
          <p:cNvSpPr/>
          <p:nvPr/>
        </p:nvSpPr>
        <p:spPr>
          <a:xfrm>
            <a:off x="8080248" y="3931920"/>
            <a:ext cx="3605784" cy="2514600"/>
          </a:xfrm>
          <a:prstGeom prst="roundRect">
            <a:avLst>
              <a:gd name="adj" fmla="val 3273"/>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25" name="Shape 23"/>
          <p:cNvSpPr/>
          <p:nvPr/>
        </p:nvSpPr>
        <p:spPr>
          <a:xfrm>
            <a:off x="8281416" y="4133088"/>
            <a:ext cx="365760" cy="365760"/>
          </a:xfrm>
          <a:prstGeom prst="ellipse">
            <a:avLst/>
          </a:prstGeom>
          <a:solidFill>
            <a:srgbClr val="0B7285"/>
          </a:solidFill>
        </p:spPr>
      </p:sp>
      <p:sp>
        <p:nvSpPr>
          <p:cNvPr id="26" name="Text 24"/>
          <p:cNvSpPr/>
          <p:nvPr/>
        </p:nvSpPr>
        <p:spPr>
          <a:xfrm>
            <a:off x="8281416" y="4608576"/>
            <a:ext cx="3203448" cy="548640"/>
          </a:xfrm>
          <a:prstGeom prst="rect">
            <a:avLst/>
          </a:prstGeom>
          <a:noFill/>
        </p:spPr>
        <p:txBody>
          <a:bodyPr wrap="square" rtlCol="0" anchor="ctr"/>
          <a:lstStyle/>
          <a:p>
            <a:pPr marL="0" indent="0">
              <a:lnSpc>
                <a:spcPct val="110000"/>
              </a:lnSpc>
              <a:buNone/>
            </a:pPr>
            <a:r>
              <a:rPr lang="en-US" sz="1450" b="1" dirty="0">
                <a:solidFill>
                  <a:srgbClr val="024958"/>
                </a:solidFill>
                <a:latin typeface="Cambria" panose="02040503050406030204" pitchFamily="34" charset="0"/>
                <a:ea typeface="Cambria" panose="02040503050406030204" pitchFamily="34" charset="-122"/>
                <a:cs typeface="Cambria" panose="02040503050406030204" pitchFamily="34" charset="-120"/>
              </a:rPr>
              <a:t>SLA &amp; Queue Monitoring</a:t>
            </a:r>
            <a:endParaRPr lang="en-US" sz="1450" dirty="0"/>
          </a:p>
        </p:txBody>
      </p:sp>
      <p:sp>
        <p:nvSpPr>
          <p:cNvPr id="27" name="Text 25"/>
          <p:cNvSpPr/>
          <p:nvPr/>
        </p:nvSpPr>
        <p:spPr>
          <a:xfrm>
            <a:off x="8281416" y="5157216"/>
            <a:ext cx="3203448" cy="1188720"/>
          </a:xfrm>
          <a:prstGeom prst="rect">
            <a:avLst/>
          </a:prstGeom>
          <a:noFill/>
        </p:spPr>
        <p:txBody>
          <a:bodyPr wrap="square" rtlCol="0" anchor="ctr"/>
          <a:lstStyle/>
          <a:p>
            <a:pPr marL="0" indent="0">
              <a:lnSpc>
                <a:spcPct val="120000"/>
              </a:lnSpc>
              <a:buNone/>
            </a:pPr>
            <a:r>
              <a:rPr lang="en-US" sz="1050" dirty="0">
                <a:solidFill>
                  <a:srgbClr val="17262B"/>
                </a:solidFill>
                <a:latin typeface="Calibri" panose="020F0502020204030204" pitchFamily="34" charset="0"/>
                <a:ea typeface="Calibri" panose="020F0502020204030204" pitchFamily="34" charset="-122"/>
                <a:cs typeface="Calibri" panose="020F0502020204030204" pitchFamily="34" charset="-120"/>
              </a:rPr>
              <a:t>Maintain the current abandon-rate performance (1.3% overall) through continuous monitoring, per the dashboard's own short-term priority guidance.</a:t>
            </a:r>
            <a:endParaRPr lang="en-US" sz="1050" dirty="0"/>
          </a:p>
        </p:txBody>
      </p:sp>
      <p:sp>
        <p:nvSpPr>
          <p:cNvPr id="28" name="Text 26"/>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14</a:t>
            </a:r>
            <a:endParaRPr lang="en-US" sz="1000" dirty="0"/>
          </a:p>
        </p:txBody>
      </p:sp>
      <p:sp>
        <p:nvSpPr>
          <p:cNvPr id="29" name="Text 27"/>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502920" y="128016"/>
            <a:ext cx="11183112" cy="274320"/>
          </a:xfrm>
          <a:prstGeom prst="rect">
            <a:avLst/>
          </a:prstGeom>
          <a:noFill/>
        </p:spPr>
        <p:txBody>
          <a:bodyPr wrap="square" rtlCol="0" anchor="ctr"/>
          <a:lstStyle/>
          <a:p>
            <a:pPr marL="0" indent="0" algn="l">
              <a:buNone/>
            </a:pPr>
            <a:r>
              <a:rPr lang="en-US" sz="11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FUTURE DEVELOPMENT</a:t>
            </a:r>
            <a:endParaRPr lang="en-US" sz="1100" dirty="0"/>
          </a:p>
        </p:txBody>
      </p:sp>
      <p:sp>
        <p:nvSpPr>
          <p:cNvPr id="3" name="Text 1"/>
          <p:cNvSpPr/>
          <p:nvPr/>
        </p:nvSpPr>
        <p:spPr>
          <a:xfrm>
            <a:off x="502920" y="365760"/>
            <a:ext cx="11183112" cy="640080"/>
          </a:xfrm>
          <a:prstGeom prst="rect">
            <a:avLst/>
          </a:prstGeom>
          <a:noFill/>
        </p:spPr>
        <p:txBody>
          <a:bodyPr wrap="square" rtlCol="0" anchor="ctr"/>
          <a:lstStyle/>
          <a:p>
            <a:pPr marL="0" indent="0" algn="l">
              <a:buNone/>
            </a:pPr>
            <a:r>
              <a:rPr lang="en-US" sz="2800" b="1" dirty="0">
                <a:solidFill>
                  <a:srgbClr val="024958"/>
                </a:solidFill>
                <a:latin typeface="Cambria" panose="02040503050406030204" pitchFamily="34" charset="0"/>
                <a:ea typeface="Cambria" panose="02040503050406030204" pitchFamily="34" charset="-122"/>
                <a:cs typeface="Cambria" panose="02040503050406030204" pitchFamily="34" charset="-120"/>
              </a:rPr>
              <a:t>Future Development Roadmap</a:t>
            </a:r>
            <a:endParaRPr lang="en-US" sz="2800" dirty="0"/>
          </a:p>
        </p:txBody>
      </p:sp>
      <p:sp>
        <p:nvSpPr>
          <p:cNvPr id="4" name="Text 2"/>
          <p:cNvSpPr/>
          <p:nvPr/>
        </p:nvSpPr>
        <p:spPr>
          <a:xfrm>
            <a:off x="502920" y="960120"/>
            <a:ext cx="9144000" cy="274320"/>
          </a:xfrm>
          <a:prstGeom prst="rect">
            <a:avLst/>
          </a:prstGeom>
          <a:noFill/>
        </p:spPr>
        <p:txBody>
          <a:bodyPr wrap="square" rtlCol="0" anchor="ctr"/>
          <a:lstStyle/>
          <a:p>
            <a:pPr marL="0" indent="0">
              <a:buNone/>
            </a:pPr>
            <a:r>
              <a:rPr lang="en-US" sz="1150" i="1" dirty="0">
                <a:solidFill>
                  <a:srgbClr val="5B6E73"/>
                </a:solidFill>
                <a:latin typeface="Calibri" panose="020F0502020204030204" pitchFamily="34" charset="0"/>
                <a:ea typeface="Calibri" panose="020F0502020204030204" pitchFamily="34" charset="-122"/>
                <a:cs typeface="Calibri" panose="020F0502020204030204" pitchFamily="34" charset="-120"/>
              </a:rPr>
              <a:t>Proposed next steps — not part of the current implementation.</a:t>
            </a:r>
            <a:endParaRPr lang="en-US" sz="1150" dirty="0"/>
          </a:p>
        </p:txBody>
      </p:sp>
      <p:sp>
        <p:nvSpPr>
          <p:cNvPr id="5" name="Shape 3"/>
          <p:cNvSpPr/>
          <p:nvPr/>
        </p:nvSpPr>
        <p:spPr>
          <a:xfrm>
            <a:off x="502920" y="1417320"/>
            <a:ext cx="2658618" cy="4892040"/>
          </a:xfrm>
          <a:prstGeom prst="roundRect">
            <a:avLst>
              <a:gd name="adj" fmla="val 3095"/>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6" name="Shape 4"/>
          <p:cNvSpPr/>
          <p:nvPr/>
        </p:nvSpPr>
        <p:spPr>
          <a:xfrm>
            <a:off x="502920" y="1417320"/>
            <a:ext cx="2658618" cy="777240"/>
          </a:xfrm>
          <a:prstGeom prst="roundRect">
            <a:avLst>
              <a:gd name="adj" fmla="val 10588"/>
            </a:avLst>
          </a:prstGeom>
          <a:solidFill>
            <a:srgbClr val="024958"/>
          </a:solidFill>
        </p:spPr>
      </p:sp>
      <p:sp>
        <p:nvSpPr>
          <p:cNvPr id="7" name="Text 5"/>
          <p:cNvSpPr/>
          <p:nvPr/>
        </p:nvSpPr>
        <p:spPr>
          <a:xfrm>
            <a:off x="640080" y="1508760"/>
            <a:ext cx="2384298" cy="256032"/>
          </a:xfrm>
          <a:prstGeom prst="rect">
            <a:avLst/>
          </a:prstGeom>
          <a:noFill/>
        </p:spPr>
        <p:txBody>
          <a:bodyPr wrap="square" rtlCol="0" anchor="ctr"/>
          <a:lstStyle/>
          <a:p>
            <a:pPr marL="0" indent="0">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PHASE 1</a:t>
            </a:r>
            <a:endParaRPr lang="en-US" sz="1000" dirty="0"/>
          </a:p>
        </p:txBody>
      </p:sp>
      <p:sp>
        <p:nvSpPr>
          <p:cNvPr id="8" name="Text 6"/>
          <p:cNvSpPr/>
          <p:nvPr/>
        </p:nvSpPr>
        <p:spPr>
          <a:xfrm>
            <a:off x="640080" y="1755648"/>
            <a:ext cx="2384298" cy="384048"/>
          </a:xfrm>
          <a:prstGeom prst="rect">
            <a:avLst/>
          </a:prstGeom>
          <a:noFill/>
        </p:spPr>
        <p:txBody>
          <a:bodyPr wrap="square" rtlCol="0" anchor="ctr"/>
          <a:lstStyle/>
          <a:p>
            <a:pPr marL="0" indent="0">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 &amp; Infrastructure</a:t>
            </a:r>
            <a:endParaRPr lang="en-US" sz="1300" dirty="0"/>
          </a:p>
        </p:txBody>
      </p:sp>
      <p:sp>
        <p:nvSpPr>
          <p:cNvPr id="9" name="Shape 7"/>
          <p:cNvSpPr/>
          <p:nvPr/>
        </p:nvSpPr>
        <p:spPr>
          <a:xfrm>
            <a:off x="667512" y="2656459"/>
            <a:ext cx="73152" cy="73152"/>
          </a:xfrm>
          <a:prstGeom prst="ellipse">
            <a:avLst/>
          </a:prstGeom>
          <a:solidFill>
            <a:srgbClr val="024958"/>
          </a:solidFill>
        </p:spPr>
      </p:sp>
      <p:sp>
        <p:nvSpPr>
          <p:cNvPr id="10" name="Text 8"/>
          <p:cNvSpPr/>
          <p:nvPr/>
        </p:nvSpPr>
        <p:spPr>
          <a:xfrm>
            <a:off x="868680" y="2350008"/>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Automated data refresh</a:t>
            </a:r>
            <a:endParaRPr lang="en-US" sz="1030" dirty="0"/>
          </a:p>
        </p:txBody>
      </p:sp>
      <p:sp>
        <p:nvSpPr>
          <p:cNvPr id="11" name="Shape 9"/>
          <p:cNvSpPr/>
          <p:nvPr/>
        </p:nvSpPr>
        <p:spPr>
          <a:xfrm>
            <a:off x="667512" y="3497707"/>
            <a:ext cx="73152" cy="73152"/>
          </a:xfrm>
          <a:prstGeom prst="ellipse">
            <a:avLst/>
          </a:prstGeom>
          <a:solidFill>
            <a:srgbClr val="024958"/>
          </a:solidFill>
        </p:spPr>
      </p:sp>
      <p:sp>
        <p:nvSpPr>
          <p:cNvPr id="12" name="Text 10"/>
          <p:cNvSpPr/>
          <p:nvPr/>
        </p:nvSpPr>
        <p:spPr>
          <a:xfrm>
            <a:off x="868680" y="3191256"/>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Centralized data source</a:t>
            </a:r>
            <a:endParaRPr lang="en-US" sz="1030" dirty="0"/>
          </a:p>
        </p:txBody>
      </p:sp>
      <p:sp>
        <p:nvSpPr>
          <p:cNvPr id="13" name="Shape 11"/>
          <p:cNvSpPr/>
          <p:nvPr/>
        </p:nvSpPr>
        <p:spPr>
          <a:xfrm>
            <a:off x="667512" y="4338955"/>
            <a:ext cx="73152" cy="73152"/>
          </a:xfrm>
          <a:prstGeom prst="ellipse">
            <a:avLst/>
          </a:prstGeom>
          <a:solidFill>
            <a:srgbClr val="024958"/>
          </a:solidFill>
        </p:spPr>
      </p:sp>
      <p:sp>
        <p:nvSpPr>
          <p:cNvPr id="14" name="Text 12"/>
          <p:cNvSpPr/>
          <p:nvPr/>
        </p:nvSpPr>
        <p:spPr>
          <a:xfrm>
            <a:off x="868680" y="4032504"/>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Data quality monitoring</a:t>
            </a:r>
            <a:endParaRPr lang="en-US" sz="1030" dirty="0"/>
          </a:p>
        </p:txBody>
      </p:sp>
      <p:sp>
        <p:nvSpPr>
          <p:cNvPr id="15" name="Shape 13"/>
          <p:cNvSpPr/>
          <p:nvPr/>
        </p:nvSpPr>
        <p:spPr>
          <a:xfrm>
            <a:off x="667512" y="5180203"/>
            <a:ext cx="73152" cy="73152"/>
          </a:xfrm>
          <a:prstGeom prst="ellipse">
            <a:avLst/>
          </a:prstGeom>
          <a:solidFill>
            <a:srgbClr val="024958"/>
          </a:solidFill>
        </p:spPr>
      </p:sp>
      <p:sp>
        <p:nvSpPr>
          <p:cNvPr id="16" name="Text 14"/>
          <p:cNvSpPr/>
          <p:nvPr/>
        </p:nvSpPr>
        <p:spPr>
          <a:xfrm>
            <a:off x="868680" y="4873752"/>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Historical data warehouse</a:t>
            </a:r>
            <a:endParaRPr lang="en-US" sz="1030" dirty="0"/>
          </a:p>
        </p:txBody>
      </p:sp>
      <p:sp>
        <p:nvSpPr>
          <p:cNvPr id="17" name="Shape 15"/>
          <p:cNvSpPr/>
          <p:nvPr/>
        </p:nvSpPr>
        <p:spPr>
          <a:xfrm>
            <a:off x="3344418" y="1417320"/>
            <a:ext cx="2658618" cy="4892040"/>
          </a:xfrm>
          <a:prstGeom prst="roundRect">
            <a:avLst>
              <a:gd name="adj" fmla="val 3095"/>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18" name="Shape 16"/>
          <p:cNvSpPr/>
          <p:nvPr/>
        </p:nvSpPr>
        <p:spPr>
          <a:xfrm>
            <a:off x="3344418" y="1417320"/>
            <a:ext cx="2658618" cy="777240"/>
          </a:xfrm>
          <a:prstGeom prst="roundRect">
            <a:avLst>
              <a:gd name="adj" fmla="val 10588"/>
            </a:avLst>
          </a:prstGeom>
          <a:solidFill>
            <a:srgbClr val="0B7285"/>
          </a:solidFill>
        </p:spPr>
      </p:sp>
      <p:sp>
        <p:nvSpPr>
          <p:cNvPr id="19" name="Text 17"/>
          <p:cNvSpPr/>
          <p:nvPr/>
        </p:nvSpPr>
        <p:spPr>
          <a:xfrm>
            <a:off x="3481578" y="1508760"/>
            <a:ext cx="2384298" cy="256032"/>
          </a:xfrm>
          <a:prstGeom prst="rect">
            <a:avLst/>
          </a:prstGeom>
          <a:noFill/>
        </p:spPr>
        <p:txBody>
          <a:bodyPr wrap="square" rtlCol="0" anchor="ctr"/>
          <a:lstStyle/>
          <a:p>
            <a:pPr marL="0" indent="0">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PHASE 2</a:t>
            </a:r>
            <a:endParaRPr lang="en-US" sz="1000" dirty="0"/>
          </a:p>
        </p:txBody>
      </p:sp>
      <p:sp>
        <p:nvSpPr>
          <p:cNvPr id="20" name="Text 18"/>
          <p:cNvSpPr/>
          <p:nvPr/>
        </p:nvSpPr>
        <p:spPr>
          <a:xfrm>
            <a:off x="3481578" y="1755648"/>
            <a:ext cx="2384298" cy="384048"/>
          </a:xfrm>
          <a:prstGeom prst="rect">
            <a:avLst/>
          </a:prstGeom>
          <a:noFill/>
        </p:spPr>
        <p:txBody>
          <a:bodyPr wrap="square" rtlCol="0" anchor="ctr"/>
          <a:lstStyle/>
          <a:p>
            <a:pPr marL="0" indent="0">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Advanced Analytics</a:t>
            </a:r>
            <a:endParaRPr lang="en-US" sz="1300" dirty="0"/>
          </a:p>
        </p:txBody>
      </p:sp>
      <p:sp>
        <p:nvSpPr>
          <p:cNvPr id="21" name="Shape 19"/>
          <p:cNvSpPr/>
          <p:nvPr/>
        </p:nvSpPr>
        <p:spPr>
          <a:xfrm>
            <a:off x="3509010" y="2656459"/>
            <a:ext cx="73152" cy="73152"/>
          </a:xfrm>
          <a:prstGeom prst="ellipse">
            <a:avLst/>
          </a:prstGeom>
          <a:solidFill>
            <a:srgbClr val="0B7285"/>
          </a:solidFill>
        </p:spPr>
      </p:sp>
      <p:sp>
        <p:nvSpPr>
          <p:cNvPr id="22" name="Text 20"/>
          <p:cNvSpPr/>
          <p:nvPr/>
        </p:nvSpPr>
        <p:spPr>
          <a:xfrm>
            <a:off x="3710178" y="2350008"/>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Driver analysis</a:t>
            </a:r>
            <a:endParaRPr lang="en-US" sz="1030" dirty="0"/>
          </a:p>
        </p:txBody>
      </p:sp>
      <p:sp>
        <p:nvSpPr>
          <p:cNvPr id="23" name="Shape 21"/>
          <p:cNvSpPr/>
          <p:nvPr/>
        </p:nvSpPr>
        <p:spPr>
          <a:xfrm>
            <a:off x="3509010" y="3497707"/>
            <a:ext cx="73152" cy="73152"/>
          </a:xfrm>
          <a:prstGeom prst="ellipse">
            <a:avLst/>
          </a:prstGeom>
          <a:solidFill>
            <a:srgbClr val="0B7285"/>
          </a:solidFill>
        </p:spPr>
      </p:sp>
      <p:sp>
        <p:nvSpPr>
          <p:cNvPr id="24" name="Text 22"/>
          <p:cNvSpPr/>
          <p:nvPr/>
        </p:nvSpPr>
        <p:spPr>
          <a:xfrm>
            <a:off x="3710178" y="3191256"/>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Statistical analysis</a:t>
            </a:r>
            <a:endParaRPr lang="en-US" sz="1030" dirty="0"/>
          </a:p>
        </p:txBody>
      </p:sp>
      <p:sp>
        <p:nvSpPr>
          <p:cNvPr id="25" name="Shape 23"/>
          <p:cNvSpPr/>
          <p:nvPr/>
        </p:nvSpPr>
        <p:spPr>
          <a:xfrm>
            <a:off x="3509010" y="4338955"/>
            <a:ext cx="73152" cy="73152"/>
          </a:xfrm>
          <a:prstGeom prst="ellipse">
            <a:avLst/>
          </a:prstGeom>
          <a:solidFill>
            <a:srgbClr val="0B7285"/>
          </a:solidFill>
        </p:spPr>
      </p:sp>
      <p:sp>
        <p:nvSpPr>
          <p:cNvPr id="26" name="Text 24"/>
          <p:cNvSpPr/>
          <p:nvPr/>
        </p:nvSpPr>
        <p:spPr>
          <a:xfrm>
            <a:off x="3710178" y="4032504"/>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Forecasting improvement</a:t>
            </a:r>
            <a:endParaRPr lang="en-US" sz="1030" dirty="0"/>
          </a:p>
        </p:txBody>
      </p:sp>
      <p:sp>
        <p:nvSpPr>
          <p:cNvPr id="27" name="Shape 25"/>
          <p:cNvSpPr/>
          <p:nvPr/>
        </p:nvSpPr>
        <p:spPr>
          <a:xfrm>
            <a:off x="3509010" y="5180203"/>
            <a:ext cx="73152" cy="73152"/>
          </a:xfrm>
          <a:prstGeom prst="ellipse">
            <a:avLst/>
          </a:prstGeom>
          <a:solidFill>
            <a:srgbClr val="0B7285"/>
          </a:solidFill>
        </p:spPr>
      </p:sp>
      <p:sp>
        <p:nvSpPr>
          <p:cNvPr id="28" name="Text 26"/>
          <p:cNvSpPr/>
          <p:nvPr/>
        </p:nvSpPr>
        <p:spPr>
          <a:xfrm>
            <a:off x="3710178" y="4873752"/>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Predictive workload modeling</a:t>
            </a:r>
            <a:endParaRPr lang="en-US" sz="1030" dirty="0"/>
          </a:p>
        </p:txBody>
      </p:sp>
      <p:sp>
        <p:nvSpPr>
          <p:cNvPr id="29" name="Shape 27"/>
          <p:cNvSpPr/>
          <p:nvPr/>
        </p:nvSpPr>
        <p:spPr>
          <a:xfrm>
            <a:off x="6185916" y="1417320"/>
            <a:ext cx="2658618" cy="4892040"/>
          </a:xfrm>
          <a:prstGeom prst="roundRect">
            <a:avLst>
              <a:gd name="adj" fmla="val 3095"/>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30" name="Shape 28"/>
          <p:cNvSpPr/>
          <p:nvPr/>
        </p:nvSpPr>
        <p:spPr>
          <a:xfrm>
            <a:off x="6185916" y="1417320"/>
            <a:ext cx="2658618" cy="777240"/>
          </a:xfrm>
          <a:prstGeom prst="roundRect">
            <a:avLst>
              <a:gd name="adj" fmla="val 10588"/>
            </a:avLst>
          </a:prstGeom>
          <a:solidFill>
            <a:srgbClr val="2EC4B6"/>
          </a:solidFill>
        </p:spPr>
      </p:sp>
      <p:sp>
        <p:nvSpPr>
          <p:cNvPr id="31" name="Text 29"/>
          <p:cNvSpPr/>
          <p:nvPr/>
        </p:nvSpPr>
        <p:spPr>
          <a:xfrm>
            <a:off x="6323076" y="1508760"/>
            <a:ext cx="2384298" cy="256032"/>
          </a:xfrm>
          <a:prstGeom prst="rect">
            <a:avLst/>
          </a:prstGeom>
          <a:noFill/>
        </p:spPr>
        <p:txBody>
          <a:bodyPr wrap="square" rtlCol="0" anchor="ctr"/>
          <a:lstStyle/>
          <a:p>
            <a:pPr marL="0" indent="0">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PHASE 3</a:t>
            </a:r>
            <a:endParaRPr lang="en-US" sz="1000" dirty="0"/>
          </a:p>
        </p:txBody>
      </p:sp>
      <p:sp>
        <p:nvSpPr>
          <p:cNvPr id="32" name="Text 30"/>
          <p:cNvSpPr/>
          <p:nvPr/>
        </p:nvSpPr>
        <p:spPr>
          <a:xfrm>
            <a:off x="6323076" y="1755648"/>
            <a:ext cx="2384298" cy="384048"/>
          </a:xfrm>
          <a:prstGeom prst="rect">
            <a:avLst/>
          </a:prstGeom>
          <a:noFill/>
        </p:spPr>
        <p:txBody>
          <a:bodyPr wrap="square" rtlCol="0" anchor="ctr"/>
          <a:lstStyle/>
          <a:p>
            <a:pPr marL="0" indent="0">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Workforce Optimization</a:t>
            </a:r>
            <a:endParaRPr lang="en-US" sz="1300" dirty="0"/>
          </a:p>
        </p:txBody>
      </p:sp>
      <p:sp>
        <p:nvSpPr>
          <p:cNvPr id="33" name="Shape 31"/>
          <p:cNvSpPr/>
          <p:nvPr/>
        </p:nvSpPr>
        <p:spPr>
          <a:xfrm>
            <a:off x="6350508" y="2656459"/>
            <a:ext cx="73152" cy="73152"/>
          </a:xfrm>
          <a:prstGeom prst="ellipse">
            <a:avLst/>
          </a:prstGeom>
          <a:solidFill>
            <a:srgbClr val="2EC4B6"/>
          </a:solidFill>
        </p:spPr>
      </p:sp>
      <p:sp>
        <p:nvSpPr>
          <p:cNvPr id="34" name="Text 32"/>
          <p:cNvSpPr/>
          <p:nvPr/>
        </p:nvSpPr>
        <p:spPr>
          <a:xfrm>
            <a:off x="6551676" y="2350008"/>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Staffing requirement forecasting</a:t>
            </a:r>
            <a:endParaRPr lang="en-US" sz="1030" dirty="0"/>
          </a:p>
        </p:txBody>
      </p:sp>
      <p:sp>
        <p:nvSpPr>
          <p:cNvPr id="35" name="Shape 33"/>
          <p:cNvSpPr/>
          <p:nvPr/>
        </p:nvSpPr>
        <p:spPr>
          <a:xfrm>
            <a:off x="6329553" y="3429127"/>
            <a:ext cx="73152" cy="73152"/>
          </a:xfrm>
          <a:prstGeom prst="ellipse">
            <a:avLst/>
          </a:prstGeom>
          <a:solidFill>
            <a:srgbClr val="2EC4B6"/>
          </a:solidFill>
        </p:spPr>
      </p:sp>
      <p:sp>
        <p:nvSpPr>
          <p:cNvPr id="36" name="Text 34"/>
          <p:cNvSpPr/>
          <p:nvPr/>
        </p:nvSpPr>
        <p:spPr>
          <a:xfrm>
            <a:off x="6551676" y="3191256"/>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Peak-period staffing recommendations</a:t>
            </a:r>
            <a:endParaRPr lang="en-US" sz="1030" dirty="0"/>
          </a:p>
        </p:txBody>
      </p:sp>
      <p:sp>
        <p:nvSpPr>
          <p:cNvPr id="37" name="Shape 35"/>
          <p:cNvSpPr/>
          <p:nvPr/>
        </p:nvSpPr>
        <p:spPr>
          <a:xfrm>
            <a:off x="6350508" y="4338955"/>
            <a:ext cx="73152" cy="73152"/>
          </a:xfrm>
          <a:prstGeom prst="ellipse">
            <a:avLst/>
          </a:prstGeom>
          <a:solidFill>
            <a:srgbClr val="2EC4B6"/>
          </a:solidFill>
        </p:spPr>
      </p:sp>
      <p:sp>
        <p:nvSpPr>
          <p:cNvPr id="38" name="Text 36"/>
          <p:cNvSpPr/>
          <p:nvPr/>
        </p:nvSpPr>
        <p:spPr>
          <a:xfrm>
            <a:off x="6551676" y="4032504"/>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Agent capacity analysis</a:t>
            </a:r>
            <a:endParaRPr lang="en-US" sz="1030" dirty="0"/>
          </a:p>
        </p:txBody>
      </p:sp>
      <p:sp>
        <p:nvSpPr>
          <p:cNvPr id="39" name="Shape 37"/>
          <p:cNvSpPr/>
          <p:nvPr/>
        </p:nvSpPr>
        <p:spPr>
          <a:xfrm>
            <a:off x="6350508" y="5180203"/>
            <a:ext cx="73152" cy="73152"/>
          </a:xfrm>
          <a:prstGeom prst="ellipse">
            <a:avLst/>
          </a:prstGeom>
          <a:solidFill>
            <a:srgbClr val="2EC4B6"/>
          </a:solidFill>
        </p:spPr>
      </p:sp>
      <p:sp>
        <p:nvSpPr>
          <p:cNvPr id="40" name="Text 38"/>
          <p:cNvSpPr/>
          <p:nvPr/>
        </p:nvSpPr>
        <p:spPr>
          <a:xfrm>
            <a:off x="6551676" y="4873752"/>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Workforce scheduling optimization</a:t>
            </a:r>
            <a:endParaRPr lang="en-US" sz="1030" dirty="0"/>
          </a:p>
        </p:txBody>
      </p:sp>
      <p:sp>
        <p:nvSpPr>
          <p:cNvPr id="41" name="Shape 39"/>
          <p:cNvSpPr/>
          <p:nvPr/>
        </p:nvSpPr>
        <p:spPr>
          <a:xfrm>
            <a:off x="9027414" y="1417320"/>
            <a:ext cx="2658618" cy="4892040"/>
          </a:xfrm>
          <a:prstGeom prst="roundRect">
            <a:avLst>
              <a:gd name="adj" fmla="val 3095"/>
            </a:avLst>
          </a:prstGeom>
          <a:solidFill>
            <a:srgbClr val="FFFFFF"/>
          </a:solidFill>
          <a:ln w="12700">
            <a:solidFill>
              <a:srgbClr val="DCE7E8"/>
            </a:solidFill>
            <a:prstDash val="solid"/>
          </a:ln>
          <a:effectLst>
            <a:outerShdw blurRad="88900" dist="25400" dir="5400000" algn="bl" rotWithShape="0">
              <a:srgbClr val="1A2A2E">
                <a:alpha val="10000"/>
              </a:srgbClr>
            </a:outerShdw>
          </a:effectLst>
        </p:spPr>
      </p:sp>
      <p:sp>
        <p:nvSpPr>
          <p:cNvPr id="42" name="Shape 40"/>
          <p:cNvSpPr/>
          <p:nvPr/>
        </p:nvSpPr>
        <p:spPr>
          <a:xfrm>
            <a:off x="9027414" y="1417320"/>
            <a:ext cx="2658618" cy="777240"/>
          </a:xfrm>
          <a:prstGeom prst="roundRect">
            <a:avLst>
              <a:gd name="adj" fmla="val 10588"/>
            </a:avLst>
          </a:prstGeom>
          <a:solidFill>
            <a:srgbClr val="C99A3C"/>
          </a:solidFill>
        </p:spPr>
      </p:sp>
      <p:sp>
        <p:nvSpPr>
          <p:cNvPr id="43" name="Text 41"/>
          <p:cNvSpPr/>
          <p:nvPr/>
        </p:nvSpPr>
        <p:spPr>
          <a:xfrm>
            <a:off x="9164574" y="1508760"/>
            <a:ext cx="2384298" cy="256032"/>
          </a:xfrm>
          <a:prstGeom prst="rect">
            <a:avLst/>
          </a:prstGeom>
          <a:noFill/>
        </p:spPr>
        <p:txBody>
          <a:bodyPr wrap="square" rtlCol="0" anchor="ctr"/>
          <a:lstStyle/>
          <a:p>
            <a:pPr marL="0" indent="0">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PHASE 4</a:t>
            </a:r>
            <a:endParaRPr lang="en-US" sz="1000" dirty="0"/>
          </a:p>
        </p:txBody>
      </p:sp>
      <p:sp>
        <p:nvSpPr>
          <p:cNvPr id="44" name="Text 42"/>
          <p:cNvSpPr/>
          <p:nvPr/>
        </p:nvSpPr>
        <p:spPr>
          <a:xfrm>
            <a:off x="9164574" y="1755648"/>
            <a:ext cx="2384298" cy="384048"/>
          </a:xfrm>
          <a:prstGeom prst="rect">
            <a:avLst/>
          </a:prstGeom>
          <a:noFill/>
        </p:spPr>
        <p:txBody>
          <a:bodyPr wrap="square" rtlCol="0" anchor="ctr"/>
          <a:lstStyle/>
          <a:p>
            <a:pPr marL="0" indent="0">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Decision Intelligence</a:t>
            </a:r>
            <a:endParaRPr lang="en-US" sz="1300" dirty="0"/>
          </a:p>
        </p:txBody>
      </p:sp>
      <p:sp>
        <p:nvSpPr>
          <p:cNvPr id="45" name="Shape 43"/>
          <p:cNvSpPr/>
          <p:nvPr/>
        </p:nvSpPr>
        <p:spPr>
          <a:xfrm>
            <a:off x="9192006" y="2656459"/>
            <a:ext cx="73152" cy="73152"/>
          </a:xfrm>
          <a:prstGeom prst="ellipse">
            <a:avLst/>
          </a:prstGeom>
          <a:solidFill>
            <a:srgbClr val="C99A3C"/>
          </a:solidFill>
        </p:spPr>
      </p:sp>
      <p:sp>
        <p:nvSpPr>
          <p:cNvPr id="46" name="Text 44"/>
          <p:cNvSpPr/>
          <p:nvPr/>
        </p:nvSpPr>
        <p:spPr>
          <a:xfrm>
            <a:off x="9393174" y="2350008"/>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Automated alerts</a:t>
            </a:r>
            <a:endParaRPr lang="en-US" sz="1030" dirty="0"/>
          </a:p>
        </p:txBody>
      </p:sp>
      <p:sp>
        <p:nvSpPr>
          <p:cNvPr id="47" name="Shape 45"/>
          <p:cNvSpPr/>
          <p:nvPr/>
        </p:nvSpPr>
        <p:spPr>
          <a:xfrm>
            <a:off x="9192006" y="3497707"/>
            <a:ext cx="73152" cy="73152"/>
          </a:xfrm>
          <a:prstGeom prst="ellipse">
            <a:avLst/>
          </a:prstGeom>
          <a:solidFill>
            <a:srgbClr val="C99A3C"/>
          </a:solidFill>
        </p:spPr>
      </p:sp>
      <p:sp>
        <p:nvSpPr>
          <p:cNvPr id="48" name="Text 46"/>
          <p:cNvSpPr/>
          <p:nvPr/>
        </p:nvSpPr>
        <p:spPr>
          <a:xfrm>
            <a:off x="9393174" y="3191256"/>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Threshold-based notifications</a:t>
            </a:r>
            <a:endParaRPr lang="en-US" sz="1030" dirty="0"/>
          </a:p>
        </p:txBody>
      </p:sp>
      <p:sp>
        <p:nvSpPr>
          <p:cNvPr id="49" name="Shape 47"/>
          <p:cNvSpPr/>
          <p:nvPr/>
        </p:nvSpPr>
        <p:spPr>
          <a:xfrm>
            <a:off x="9192006" y="4338955"/>
            <a:ext cx="73152" cy="73152"/>
          </a:xfrm>
          <a:prstGeom prst="ellipse">
            <a:avLst/>
          </a:prstGeom>
          <a:solidFill>
            <a:srgbClr val="C99A3C"/>
          </a:solidFill>
        </p:spPr>
      </p:sp>
      <p:sp>
        <p:nvSpPr>
          <p:cNvPr id="50" name="Text 48"/>
          <p:cNvSpPr/>
          <p:nvPr/>
        </p:nvSpPr>
        <p:spPr>
          <a:xfrm>
            <a:off x="9393174" y="4032504"/>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Scenario comparison</a:t>
            </a:r>
            <a:endParaRPr lang="en-US" sz="1030" dirty="0"/>
          </a:p>
        </p:txBody>
      </p:sp>
      <p:sp>
        <p:nvSpPr>
          <p:cNvPr id="51" name="Shape 49"/>
          <p:cNvSpPr/>
          <p:nvPr/>
        </p:nvSpPr>
        <p:spPr>
          <a:xfrm>
            <a:off x="9192006" y="5180203"/>
            <a:ext cx="73152" cy="73152"/>
          </a:xfrm>
          <a:prstGeom prst="ellipse">
            <a:avLst/>
          </a:prstGeom>
          <a:solidFill>
            <a:srgbClr val="C99A3C"/>
          </a:solidFill>
        </p:spPr>
      </p:sp>
      <p:sp>
        <p:nvSpPr>
          <p:cNvPr id="52" name="Text 50"/>
          <p:cNvSpPr/>
          <p:nvPr/>
        </p:nvSpPr>
        <p:spPr>
          <a:xfrm>
            <a:off x="9393174" y="4873752"/>
            <a:ext cx="2155698" cy="685800"/>
          </a:xfrm>
          <a:prstGeom prst="rect">
            <a:avLst/>
          </a:prstGeom>
          <a:noFill/>
        </p:spPr>
        <p:txBody>
          <a:bodyPr wrap="square" rtlCol="0" anchor="ctr"/>
          <a:lstStyle/>
          <a:p>
            <a:pPr marL="0" indent="0">
              <a:lnSpc>
                <a:spcPct val="115000"/>
              </a:lnSpc>
              <a:buNone/>
            </a:pPr>
            <a:r>
              <a:rPr lang="en-US" sz="1030" dirty="0">
                <a:solidFill>
                  <a:srgbClr val="17262B"/>
                </a:solidFill>
                <a:latin typeface="Calibri" panose="020F0502020204030204" pitchFamily="34" charset="0"/>
                <a:ea typeface="Calibri" panose="020F0502020204030204" pitchFamily="34" charset="-122"/>
                <a:cs typeface="Calibri" panose="020F0502020204030204" pitchFamily="34" charset="-120"/>
              </a:rPr>
              <a:t>Advanced operational recommendations</a:t>
            </a:r>
            <a:endParaRPr lang="en-US" sz="1030" dirty="0"/>
          </a:p>
        </p:txBody>
      </p:sp>
      <p:sp>
        <p:nvSpPr>
          <p:cNvPr id="53" name="Text 51"/>
          <p:cNvSpPr/>
          <p:nvPr/>
        </p:nvSpPr>
        <p:spPr>
          <a:xfrm>
            <a:off x="11365992" y="6446520"/>
            <a:ext cx="548640" cy="274320"/>
          </a:xfrm>
          <a:prstGeom prst="rect">
            <a:avLst/>
          </a:prstGeom>
          <a:noFill/>
        </p:spPr>
        <p:txBody>
          <a:bodyPr wrap="square" rtlCol="0" anchor="ctr"/>
          <a:lstStyle/>
          <a:p>
            <a:pPr marL="0" indent="0" algn="r">
              <a:buNone/>
            </a:pPr>
            <a:r>
              <a:rPr lang="en-US" sz="1000" dirty="0">
                <a:solidFill>
                  <a:srgbClr val="5B6E73"/>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p>
        </p:txBody>
      </p:sp>
      <p:sp>
        <p:nvSpPr>
          <p:cNvPr id="54" name="Text 52"/>
          <p:cNvSpPr/>
          <p:nvPr/>
        </p:nvSpPr>
        <p:spPr>
          <a:xfrm>
            <a:off x="502920" y="6446520"/>
            <a:ext cx="4572000" cy="274320"/>
          </a:xfrm>
          <a:prstGeom prst="rect">
            <a:avLst/>
          </a:prstGeom>
          <a:noFill/>
        </p:spPr>
        <p:txBody>
          <a:bodyPr wrap="square" rtlCol="0" anchor="ctr"/>
          <a:lstStyle/>
          <a:p>
            <a:pPr marL="0" indent="0" algn="l">
              <a:buNone/>
            </a:pPr>
            <a:r>
              <a:rPr lang="en-US" sz="900" kern="0" spc="100" dirty="0">
                <a:solidFill>
                  <a:srgbClr val="5B6E73"/>
                </a:solidFill>
                <a:latin typeface="Calibri" panose="020F0502020204030204" pitchFamily="34" charset="0"/>
                <a:ea typeface="Calibri" panose="020F0502020204030204" pitchFamily="34" charset="-122"/>
                <a:cs typeface="Calibri" panose="020F0502020204030204" pitchFamily="34" charset="-120"/>
              </a:rPr>
              <a:t>SALLA CALL CENTER ANALYTICS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1313C"/>
        </a:solidFill>
        <a:effectLst/>
      </p:bgPr>
    </p:bg>
    <p:spTree>
      <p:nvGrpSpPr>
        <p:cNvPr id="1" name=""/>
        <p:cNvGrpSpPr/>
        <p:nvPr/>
      </p:nvGrpSpPr>
      <p:grpSpPr>
        <a:xfrm>
          <a:off x="0" y="0"/>
          <a:ext cx="0" cy="0"/>
          <a:chOff x="0" y="0"/>
          <a:chExt cx="0" cy="0"/>
        </a:xfrm>
      </p:grpSpPr>
      <p:sp>
        <p:nvSpPr>
          <p:cNvPr id="2" name="Shape 0"/>
          <p:cNvSpPr/>
          <p:nvPr/>
        </p:nvSpPr>
        <p:spPr>
          <a:xfrm>
            <a:off x="-1645920" y="-1645920"/>
            <a:ext cx="5029200" cy="5029200"/>
          </a:xfrm>
          <a:prstGeom prst="ellipse">
            <a:avLst/>
          </a:prstGeom>
          <a:solidFill>
            <a:srgbClr val="024958"/>
          </a:solidFill>
        </p:spPr>
      </p:sp>
      <p:sp>
        <p:nvSpPr>
          <p:cNvPr id="3" name="Shape 1"/>
          <p:cNvSpPr/>
          <p:nvPr/>
        </p:nvSpPr>
        <p:spPr>
          <a:xfrm>
            <a:off x="9601200" y="4114800"/>
            <a:ext cx="5029200" cy="5029200"/>
          </a:xfrm>
          <a:prstGeom prst="ellipse">
            <a:avLst/>
          </a:prstGeom>
          <a:solidFill>
            <a:srgbClr val="024958"/>
          </a:solidFill>
        </p:spPr>
      </p:sp>
      <p:sp>
        <p:nvSpPr>
          <p:cNvPr id="4" name="Text 2"/>
          <p:cNvSpPr/>
          <p:nvPr/>
        </p:nvSpPr>
        <p:spPr>
          <a:xfrm>
            <a:off x="640080" y="640080"/>
            <a:ext cx="5486400" cy="320040"/>
          </a:xfrm>
          <a:prstGeom prst="rect">
            <a:avLst/>
          </a:prstGeom>
          <a:noFill/>
        </p:spPr>
        <p:txBody>
          <a:bodyPr wrap="square" rtlCol="0" anchor="ctr"/>
          <a:lstStyle/>
          <a:p>
            <a:pPr marL="0" indent="0">
              <a:buNone/>
            </a:pPr>
            <a:r>
              <a:rPr lang="en-US" sz="1200" b="1" kern="0" spc="200" dirty="0">
                <a:solidFill>
                  <a:srgbClr val="2EC4B6"/>
                </a:solidFill>
                <a:latin typeface="Calibri" panose="020F0502020204030204" pitchFamily="34" charset="0"/>
                <a:ea typeface="Calibri" panose="020F0502020204030204" pitchFamily="34" charset="-122"/>
                <a:cs typeface="Calibri" panose="020F0502020204030204" pitchFamily="34" charset="-120"/>
              </a:rPr>
              <a:t>CONCLUSION</a:t>
            </a:r>
            <a:endParaRPr lang="en-US" sz="1200" dirty="0"/>
          </a:p>
        </p:txBody>
      </p:sp>
      <p:sp>
        <p:nvSpPr>
          <p:cNvPr id="5" name="Text 3"/>
          <p:cNvSpPr/>
          <p:nvPr/>
        </p:nvSpPr>
        <p:spPr>
          <a:xfrm>
            <a:off x="640080" y="1005840"/>
            <a:ext cx="10515600" cy="82296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From Raw Call Logs to a Decision-Support Solution</a:t>
            </a:r>
            <a:endParaRPr lang="en-US" sz="3000" dirty="0"/>
          </a:p>
        </p:txBody>
      </p:sp>
      <p:sp>
        <p:nvSpPr>
          <p:cNvPr id="6" name="Text 4"/>
          <p:cNvSpPr/>
          <p:nvPr/>
        </p:nvSpPr>
        <p:spPr>
          <a:xfrm>
            <a:off x="640080" y="1965960"/>
            <a:ext cx="7863840" cy="1051560"/>
          </a:xfrm>
          <a:prstGeom prst="rect">
            <a:avLst/>
          </a:prstGeom>
          <a:noFill/>
        </p:spPr>
        <p:txBody>
          <a:bodyPr wrap="square" rtlCol="0" anchor="ctr"/>
          <a:lstStyle/>
          <a:p>
            <a:pPr marL="0" indent="0">
              <a:lnSpc>
                <a:spcPct val="130000"/>
              </a:lnSpc>
              <a:buNone/>
            </a:pPr>
            <a:r>
              <a:rPr lang="en-US" sz="1300" dirty="0">
                <a:solidFill>
                  <a:srgbClr val="D9E9E9"/>
                </a:solidFill>
                <a:latin typeface="Calibri" panose="020F0502020204030204" pitchFamily="34" charset="0"/>
                <a:ea typeface="Calibri" panose="020F0502020204030204" pitchFamily="34" charset="-122"/>
                <a:cs typeface="Calibri" panose="020F0502020204030204" pitchFamily="34" charset="-120"/>
              </a:rPr>
              <a:t>This project consolidated three months of raw call-center data into a unified analytical model, built a KPI and DAX framework around Service Level, ASA, Abandon Rate and Forecast Accuracy, and extended reporting into project- and agent-level diagnostics, root-cause indicators, and a quantified What-If scenario simulator.</a:t>
            </a:r>
            <a:endParaRPr lang="en-US" sz="1300" dirty="0"/>
          </a:p>
        </p:txBody>
      </p:sp>
      <p:sp>
        <p:nvSpPr>
          <p:cNvPr id="7" name="Shape 5"/>
          <p:cNvSpPr/>
          <p:nvPr/>
        </p:nvSpPr>
        <p:spPr>
          <a:xfrm>
            <a:off x="640080" y="3337560"/>
            <a:ext cx="1737360" cy="640080"/>
          </a:xfrm>
          <a:prstGeom prst="roundRect">
            <a:avLst>
              <a:gd name="adj" fmla="val 12857"/>
            </a:avLst>
          </a:prstGeom>
          <a:solidFill>
            <a:srgbClr val="0B7285"/>
          </a:solidFill>
        </p:spPr>
      </p:sp>
      <p:sp>
        <p:nvSpPr>
          <p:cNvPr id="8" name="Text 6"/>
          <p:cNvSpPr/>
          <p:nvPr/>
        </p:nvSpPr>
        <p:spPr>
          <a:xfrm>
            <a:off x="640080" y="3337560"/>
            <a:ext cx="1737360" cy="64008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a:t>
            </a:r>
            <a:endParaRPr lang="en-US" sz="1500" dirty="0"/>
          </a:p>
        </p:txBody>
      </p:sp>
      <p:sp>
        <p:nvSpPr>
          <p:cNvPr id="9" name="Text 7"/>
          <p:cNvSpPr/>
          <p:nvPr/>
        </p:nvSpPr>
        <p:spPr>
          <a:xfrm>
            <a:off x="2377440" y="3337560"/>
            <a:ext cx="320040" cy="640080"/>
          </a:xfrm>
          <a:prstGeom prst="rect">
            <a:avLst/>
          </a:prstGeom>
          <a:noFill/>
        </p:spPr>
        <p:txBody>
          <a:bodyPr wrap="square" rtlCol="0" anchor="ctr"/>
          <a:lstStyle/>
          <a:p>
            <a:pPr marL="0" indent="0" algn="ctr">
              <a:buNone/>
            </a:pPr>
            <a:r>
              <a:rPr lang="en-US" sz="2000" dirty="0">
                <a:solidFill>
                  <a:srgbClr val="2EC4B6"/>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0" name="Shape 8"/>
          <p:cNvSpPr/>
          <p:nvPr/>
        </p:nvSpPr>
        <p:spPr>
          <a:xfrm>
            <a:off x="2697480" y="3337560"/>
            <a:ext cx="1737360" cy="640080"/>
          </a:xfrm>
          <a:prstGeom prst="roundRect">
            <a:avLst>
              <a:gd name="adj" fmla="val 12857"/>
            </a:avLst>
          </a:prstGeom>
          <a:solidFill>
            <a:srgbClr val="0B7285"/>
          </a:solidFill>
        </p:spPr>
      </p:sp>
      <p:sp>
        <p:nvSpPr>
          <p:cNvPr id="11" name="Text 9"/>
          <p:cNvSpPr/>
          <p:nvPr/>
        </p:nvSpPr>
        <p:spPr>
          <a:xfrm>
            <a:off x="2697480" y="3337560"/>
            <a:ext cx="1737360" cy="64008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Insight</a:t>
            </a:r>
            <a:endParaRPr lang="en-US" sz="1500" dirty="0"/>
          </a:p>
        </p:txBody>
      </p:sp>
      <p:sp>
        <p:nvSpPr>
          <p:cNvPr id="12" name="Text 10"/>
          <p:cNvSpPr/>
          <p:nvPr/>
        </p:nvSpPr>
        <p:spPr>
          <a:xfrm>
            <a:off x="4434840" y="3337560"/>
            <a:ext cx="320040" cy="640080"/>
          </a:xfrm>
          <a:prstGeom prst="rect">
            <a:avLst/>
          </a:prstGeom>
          <a:noFill/>
        </p:spPr>
        <p:txBody>
          <a:bodyPr wrap="square" rtlCol="0" anchor="ctr"/>
          <a:lstStyle/>
          <a:p>
            <a:pPr marL="0" indent="0" algn="ctr">
              <a:buNone/>
            </a:pPr>
            <a:r>
              <a:rPr lang="en-US" sz="2000" dirty="0">
                <a:solidFill>
                  <a:srgbClr val="2EC4B6"/>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3" name="Shape 11"/>
          <p:cNvSpPr/>
          <p:nvPr/>
        </p:nvSpPr>
        <p:spPr>
          <a:xfrm>
            <a:off x="4754880" y="3337560"/>
            <a:ext cx="1737360" cy="640080"/>
          </a:xfrm>
          <a:prstGeom prst="roundRect">
            <a:avLst>
              <a:gd name="adj" fmla="val 12857"/>
            </a:avLst>
          </a:prstGeom>
          <a:solidFill>
            <a:srgbClr val="0B7285"/>
          </a:solidFill>
        </p:spPr>
      </p:sp>
      <p:sp>
        <p:nvSpPr>
          <p:cNvPr id="14" name="Text 12"/>
          <p:cNvSpPr/>
          <p:nvPr/>
        </p:nvSpPr>
        <p:spPr>
          <a:xfrm>
            <a:off x="4754880" y="3337560"/>
            <a:ext cx="1737360" cy="64008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Scenario</a:t>
            </a:r>
            <a:endParaRPr lang="en-US" sz="1500" dirty="0"/>
          </a:p>
        </p:txBody>
      </p:sp>
      <p:sp>
        <p:nvSpPr>
          <p:cNvPr id="15" name="Text 13"/>
          <p:cNvSpPr/>
          <p:nvPr/>
        </p:nvSpPr>
        <p:spPr>
          <a:xfrm>
            <a:off x="6492240" y="3337560"/>
            <a:ext cx="320040" cy="640080"/>
          </a:xfrm>
          <a:prstGeom prst="rect">
            <a:avLst/>
          </a:prstGeom>
          <a:noFill/>
        </p:spPr>
        <p:txBody>
          <a:bodyPr wrap="square" rtlCol="0" anchor="ctr"/>
          <a:lstStyle/>
          <a:p>
            <a:pPr marL="0" indent="0" algn="ctr">
              <a:buNone/>
            </a:pPr>
            <a:r>
              <a:rPr lang="en-US" sz="2000" dirty="0">
                <a:solidFill>
                  <a:srgbClr val="2EC4B6"/>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6" name="Shape 14"/>
          <p:cNvSpPr/>
          <p:nvPr/>
        </p:nvSpPr>
        <p:spPr>
          <a:xfrm>
            <a:off x="6812280" y="3337560"/>
            <a:ext cx="1737360" cy="640080"/>
          </a:xfrm>
          <a:prstGeom prst="roundRect">
            <a:avLst>
              <a:gd name="adj" fmla="val 12857"/>
            </a:avLst>
          </a:prstGeom>
          <a:solidFill>
            <a:srgbClr val="2EC4B6"/>
          </a:solidFill>
        </p:spPr>
      </p:sp>
      <p:sp>
        <p:nvSpPr>
          <p:cNvPr id="17" name="Text 15"/>
          <p:cNvSpPr/>
          <p:nvPr/>
        </p:nvSpPr>
        <p:spPr>
          <a:xfrm>
            <a:off x="6812280" y="3337560"/>
            <a:ext cx="1737360" cy="640080"/>
          </a:xfrm>
          <a:prstGeom prst="rect">
            <a:avLst/>
          </a:prstGeom>
          <a:noFill/>
        </p:spPr>
        <p:txBody>
          <a:bodyPr wrap="square" rtlCol="0" anchor="ctr"/>
          <a:lstStyle/>
          <a:p>
            <a:pPr marL="0" indent="0" algn="ctr">
              <a:buNone/>
            </a:pPr>
            <a:r>
              <a:rPr lang="en-US" sz="1500" b="1" dirty="0">
                <a:solidFill>
                  <a:srgbClr val="01313C"/>
                </a:solidFill>
                <a:latin typeface="Cambria" panose="02040503050406030204" pitchFamily="34" charset="0"/>
                <a:ea typeface="Cambria" panose="02040503050406030204" pitchFamily="34" charset="-122"/>
                <a:cs typeface="Cambria" panose="02040503050406030204" pitchFamily="34" charset="-120"/>
              </a:rPr>
              <a:t>Decision</a:t>
            </a:r>
            <a:endParaRPr lang="en-US" sz="1500" dirty="0"/>
          </a:p>
        </p:txBody>
      </p:sp>
      <p:sp>
        <p:nvSpPr>
          <p:cNvPr id="18" name="Shape 16"/>
          <p:cNvSpPr/>
          <p:nvPr/>
        </p:nvSpPr>
        <p:spPr>
          <a:xfrm>
            <a:off x="640080" y="4343400"/>
            <a:ext cx="7863840" cy="1508760"/>
          </a:xfrm>
          <a:prstGeom prst="roundRect">
            <a:avLst>
              <a:gd name="adj" fmla="val 5455"/>
            </a:avLst>
          </a:prstGeom>
          <a:solidFill>
            <a:srgbClr val="05424F"/>
          </a:solidFill>
          <a:ln w="12700">
            <a:solidFill>
              <a:srgbClr val="DCE7E8"/>
            </a:solidFill>
            <a:prstDash val="solid"/>
          </a:ln>
        </p:spPr>
      </p:sp>
      <p:sp>
        <p:nvSpPr>
          <p:cNvPr id="19" name="Text 17"/>
          <p:cNvSpPr/>
          <p:nvPr/>
        </p:nvSpPr>
        <p:spPr>
          <a:xfrm>
            <a:off x="868680" y="4343400"/>
            <a:ext cx="7406640" cy="1508760"/>
          </a:xfrm>
          <a:prstGeom prst="rect">
            <a:avLst/>
          </a:prstGeom>
          <a:noFill/>
        </p:spPr>
        <p:txBody>
          <a:bodyPr wrap="square" rtlCol="0" anchor="ctr"/>
          <a:lstStyle/>
          <a:p>
            <a:pPr marL="0" indent="0">
              <a:lnSpc>
                <a:spcPct val="130000"/>
              </a:lnSpc>
              <a:buNone/>
            </a:pPr>
            <a:r>
              <a:rPr lang="en-US" sz="1300" i="1" dirty="0">
                <a:solidFill>
                  <a:srgbClr val="FFFFFF"/>
                </a:solidFill>
                <a:latin typeface="Calibri" panose="020F0502020204030204" pitchFamily="34" charset="0"/>
                <a:ea typeface="Calibri" panose="020F0502020204030204" pitchFamily="34" charset="-122"/>
                <a:cs typeface="Calibri" panose="020F0502020204030204" pitchFamily="34" charset="-120"/>
              </a:rPr>
              <a:t>The result is a solution that moves management from asking "what happened" to "what should we do next" — with every figure traceable to the underlying data.</a:t>
            </a:r>
            <a:endParaRPr lang="en-US" sz="1300" dirty="0"/>
          </a:p>
        </p:txBody>
      </p:sp>
      <p:sp>
        <p:nvSpPr>
          <p:cNvPr id="20" name="Shape 18"/>
          <p:cNvSpPr/>
          <p:nvPr/>
        </p:nvSpPr>
        <p:spPr>
          <a:xfrm>
            <a:off x="8778240" y="1965960"/>
            <a:ext cx="2770632" cy="4069080"/>
          </a:xfrm>
          <a:prstGeom prst="roundRect">
            <a:avLst>
              <a:gd name="adj" fmla="val 2970"/>
            </a:avLst>
          </a:prstGeom>
          <a:solidFill>
            <a:srgbClr val="05424F"/>
          </a:solidFill>
          <a:ln w="12700">
            <a:solidFill>
              <a:srgbClr val="DCE7E8"/>
            </a:solidFill>
            <a:prstDash val="solid"/>
          </a:ln>
        </p:spPr>
      </p:sp>
      <p:sp>
        <p:nvSpPr>
          <p:cNvPr id="21" name="Text 19"/>
          <p:cNvSpPr/>
          <p:nvPr/>
        </p:nvSpPr>
        <p:spPr>
          <a:xfrm>
            <a:off x="9006840" y="2148840"/>
            <a:ext cx="2331720" cy="274320"/>
          </a:xfrm>
          <a:prstGeom prst="rect">
            <a:avLst/>
          </a:prstGeom>
          <a:noFill/>
        </p:spPr>
        <p:txBody>
          <a:bodyPr wrap="square" rtlCol="0" anchor="ctr"/>
          <a:lstStyle/>
          <a:p>
            <a:pPr marL="0" indent="0">
              <a:buNone/>
            </a:pPr>
            <a:r>
              <a:rPr lang="en-US" sz="950" b="1" kern="0" spc="100" dirty="0">
                <a:solidFill>
                  <a:srgbClr val="2EC4B6"/>
                </a:solidFill>
                <a:latin typeface="Calibri" panose="020F0502020204030204" pitchFamily="34" charset="0"/>
                <a:ea typeface="Calibri" panose="020F0502020204030204" pitchFamily="34" charset="-122"/>
                <a:cs typeface="Calibri" panose="020F0502020204030204" pitchFamily="34" charset="-120"/>
              </a:rPr>
              <a:t>PROJECT AT A GLANCE</a:t>
            </a:r>
            <a:endParaRPr lang="en-US" sz="950" dirty="0"/>
          </a:p>
        </p:txBody>
      </p:sp>
      <p:sp>
        <p:nvSpPr>
          <p:cNvPr id="22" name="Text 20"/>
          <p:cNvSpPr/>
          <p:nvPr/>
        </p:nvSpPr>
        <p:spPr>
          <a:xfrm>
            <a:off x="9006840" y="2514600"/>
            <a:ext cx="2331720" cy="365760"/>
          </a:xfrm>
          <a:prstGeom prst="rect">
            <a:avLst/>
          </a:prstGeom>
          <a:noFill/>
        </p:spPr>
        <p:txBody>
          <a:bodyPr wrap="square"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1.72M</a:t>
            </a:r>
            <a:endParaRPr lang="en-US" sz="1900" dirty="0"/>
          </a:p>
        </p:txBody>
      </p:sp>
      <p:sp>
        <p:nvSpPr>
          <p:cNvPr id="23" name="Text 21"/>
          <p:cNvSpPr/>
          <p:nvPr/>
        </p:nvSpPr>
        <p:spPr>
          <a:xfrm>
            <a:off x="9006840" y="2880360"/>
            <a:ext cx="2331720" cy="274320"/>
          </a:xfrm>
          <a:prstGeom prst="rect">
            <a:avLst/>
          </a:prstGeom>
          <a:noFill/>
        </p:spPr>
        <p:txBody>
          <a:bodyPr wrap="square" rtlCol="0" anchor="ctr"/>
          <a:lstStyle/>
          <a:p>
            <a:pPr marL="0" indent="0">
              <a:buNone/>
            </a:pPr>
            <a:r>
              <a:rPr lang="en-US" sz="950" dirty="0">
                <a:solidFill>
                  <a:srgbClr val="9FC4C4"/>
                </a:solidFill>
                <a:latin typeface="Calibri" panose="020F0502020204030204" pitchFamily="34" charset="0"/>
                <a:ea typeface="Calibri" panose="020F0502020204030204" pitchFamily="34" charset="-122"/>
                <a:cs typeface="Calibri" panose="020F0502020204030204" pitchFamily="34" charset="-120"/>
              </a:rPr>
              <a:t>Calls Handled</a:t>
            </a:r>
            <a:endParaRPr lang="en-US" sz="950" dirty="0"/>
          </a:p>
        </p:txBody>
      </p:sp>
      <p:sp>
        <p:nvSpPr>
          <p:cNvPr id="24" name="Text 22"/>
          <p:cNvSpPr/>
          <p:nvPr/>
        </p:nvSpPr>
        <p:spPr>
          <a:xfrm>
            <a:off x="9006840" y="3227832"/>
            <a:ext cx="2331720" cy="365760"/>
          </a:xfrm>
          <a:prstGeom prst="rect">
            <a:avLst/>
          </a:prstGeom>
          <a:noFill/>
        </p:spPr>
        <p:txBody>
          <a:bodyPr wrap="square"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92%</a:t>
            </a:r>
            <a:endParaRPr lang="en-US" sz="1900" dirty="0"/>
          </a:p>
        </p:txBody>
      </p:sp>
      <p:sp>
        <p:nvSpPr>
          <p:cNvPr id="25" name="Text 23"/>
          <p:cNvSpPr/>
          <p:nvPr/>
        </p:nvSpPr>
        <p:spPr>
          <a:xfrm>
            <a:off x="9006840" y="3593592"/>
            <a:ext cx="2331720" cy="274320"/>
          </a:xfrm>
          <a:prstGeom prst="rect">
            <a:avLst/>
          </a:prstGeom>
          <a:noFill/>
        </p:spPr>
        <p:txBody>
          <a:bodyPr wrap="square" rtlCol="0" anchor="ctr"/>
          <a:lstStyle/>
          <a:p>
            <a:pPr marL="0" indent="0">
              <a:buNone/>
            </a:pPr>
            <a:r>
              <a:rPr lang="en-US" sz="950" dirty="0">
                <a:solidFill>
                  <a:srgbClr val="9FC4C4"/>
                </a:solidFill>
                <a:latin typeface="Calibri" panose="020F0502020204030204" pitchFamily="34" charset="0"/>
                <a:ea typeface="Calibri" panose="020F0502020204030204" pitchFamily="34" charset="-122"/>
                <a:cs typeface="Calibri" panose="020F0502020204030204" pitchFamily="34" charset="-120"/>
              </a:rPr>
              <a:t>Service Level</a:t>
            </a:r>
            <a:endParaRPr lang="en-US" sz="950" dirty="0"/>
          </a:p>
        </p:txBody>
      </p:sp>
      <p:sp>
        <p:nvSpPr>
          <p:cNvPr id="26" name="Text 24"/>
          <p:cNvSpPr/>
          <p:nvPr/>
        </p:nvSpPr>
        <p:spPr>
          <a:xfrm>
            <a:off x="9006840" y="3941064"/>
            <a:ext cx="2331720" cy="365760"/>
          </a:xfrm>
          <a:prstGeom prst="rect">
            <a:avLst/>
          </a:prstGeom>
          <a:noFill/>
        </p:spPr>
        <p:txBody>
          <a:bodyPr wrap="square"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16</a:t>
            </a:r>
            <a:endParaRPr lang="en-US" sz="1900" dirty="0"/>
          </a:p>
        </p:txBody>
      </p:sp>
      <p:sp>
        <p:nvSpPr>
          <p:cNvPr id="27" name="Text 25"/>
          <p:cNvSpPr/>
          <p:nvPr/>
        </p:nvSpPr>
        <p:spPr>
          <a:xfrm>
            <a:off x="9006840" y="4306824"/>
            <a:ext cx="2331720" cy="274320"/>
          </a:xfrm>
          <a:prstGeom prst="rect">
            <a:avLst/>
          </a:prstGeom>
          <a:noFill/>
        </p:spPr>
        <p:txBody>
          <a:bodyPr wrap="square" rtlCol="0" anchor="ctr"/>
          <a:lstStyle/>
          <a:p>
            <a:pPr marL="0" indent="0">
              <a:buNone/>
            </a:pPr>
            <a:r>
              <a:rPr lang="en-US" sz="950" dirty="0">
                <a:solidFill>
                  <a:srgbClr val="9FC4C4"/>
                </a:solidFill>
                <a:latin typeface="Calibri" panose="020F0502020204030204" pitchFamily="34" charset="0"/>
                <a:ea typeface="Calibri" panose="020F0502020204030204" pitchFamily="34" charset="-122"/>
                <a:cs typeface="Calibri" panose="020F0502020204030204" pitchFamily="34" charset="-120"/>
              </a:rPr>
              <a:t>Agents Analyzed</a:t>
            </a:r>
            <a:endParaRPr lang="en-US" sz="950" dirty="0"/>
          </a:p>
        </p:txBody>
      </p:sp>
      <p:sp>
        <p:nvSpPr>
          <p:cNvPr id="28" name="Text 26"/>
          <p:cNvSpPr/>
          <p:nvPr/>
        </p:nvSpPr>
        <p:spPr>
          <a:xfrm>
            <a:off x="9006840" y="4654296"/>
            <a:ext cx="2331720" cy="365760"/>
          </a:xfrm>
          <a:prstGeom prst="rect">
            <a:avLst/>
          </a:prstGeom>
          <a:noFill/>
        </p:spPr>
        <p:txBody>
          <a:bodyPr wrap="square"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1900" dirty="0"/>
          </a:p>
        </p:txBody>
      </p:sp>
      <p:sp>
        <p:nvSpPr>
          <p:cNvPr id="29" name="Text 27"/>
          <p:cNvSpPr/>
          <p:nvPr/>
        </p:nvSpPr>
        <p:spPr>
          <a:xfrm>
            <a:off x="9006840" y="5020056"/>
            <a:ext cx="2331720" cy="274320"/>
          </a:xfrm>
          <a:prstGeom prst="rect">
            <a:avLst/>
          </a:prstGeom>
          <a:noFill/>
        </p:spPr>
        <p:txBody>
          <a:bodyPr wrap="square" rtlCol="0" anchor="ctr"/>
          <a:lstStyle/>
          <a:p>
            <a:pPr marL="0" indent="0">
              <a:buNone/>
            </a:pPr>
            <a:r>
              <a:rPr lang="en-US" sz="950" dirty="0">
                <a:solidFill>
                  <a:srgbClr val="9FC4C4"/>
                </a:solidFill>
                <a:latin typeface="Calibri" panose="020F0502020204030204" pitchFamily="34" charset="0"/>
                <a:ea typeface="Calibri" panose="020F0502020204030204" pitchFamily="34" charset="-122"/>
                <a:cs typeface="Calibri" panose="020F0502020204030204" pitchFamily="34" charset="-120"/>
              </a:rPr>
              <a:t>Projects Compared</a:t>
            </a:r>
            <a:endParaRPr lang="en-US" sz="950" dirty="0"/>
          </a:p>
        </p:txBody>
      </p:sp>
      <p:sp>
        <p:nvSpPr>
          <p:cNvPr id="30" name="Text 28"/>
          <p:cNvSpPr/>
          <p:nvPr/>
        </p:nvSpPr>
        <p:spPr>
          <a:xfrm>
            <a:off x="9006840" y="5367528"/>
            <a:ext cx="2331720" cy="365760"/>
          </a:xfrm>
          <a:prstGeom prst="rect">
            <a:avLst/>
          </a:prstGeom>
          <a:noFill/>
        </p:spPr>
        <p:txBody>
          <a:bodyPr wrap="square"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1900" dirty="0"/>
          </a:p>
        </p:txBody>
      </p:sp>
      <p:sp>
        <p:nvSpPr>
          <p:cNvPr id="31" name="Text 29"/>
          <p:cNvSpPr/>
          <p:nvPr/>
        </p:nvSpPr>
        <p:spPr>
          <a:xfrm>
            <a:off x="9006840" y="5733288"/>
            <a:ext cx="2331720" cy="274320"/>
          </a:xfrm>
          <a:prstGeom prst="rect">
            <a:avLst/>
          </a:prstGeom>
          <a:noFill/>
        </p:spPr>
        <p:txBody>
          <a:bodyPr wrap="square" rtlCol="0" anchor="ctr"/>
          <a:lstStyle/>
          <a:p>
            <a:pPr marL="0" indent="0">
              <a:buNone/>
            </a:pPr>
            <a:r>
              <a:rPr lang="en-US" sz="950" dirty="0">
                <a:solidFill>
                  <a:srgbClr val="9FC4C4"/>
                </a:solidFill>
                <a:latin typeface="Calibri" panose="020F0502020204030204" pitchFamily="34" charset="0"/>
                <a:ea typeface="Calibri" panose="020F0502020204030204" pitchFamily="34" charset="-122"/>
                <a:cs typeface="Calibri" panose="020F0502020204030204" pitchFamily="34" charset="-120"/>
              </a:rPr>
              <a:t>Months of Data</a:t>
            </a:r>
            <a:endParaRPr lang="en-US" sz="950" dirty="0"/>
          </a:p>
        </p:txBody>
      </p:sp>
      <p:sp>
        <p:nvSpPr>
          <p:cNvPr id="32" name="Text 30"/>
          <p:cNvSpPr/>
          <p:nvPr/>
        </p:nvSpPr>
        <p:spPr>
          <a:xfrm>
            <a:off x="640080" y="6355080"/>
            <a:ext cx="7315200" cy="274320"/>
          </a:xfrm>
          <a:prstGeom prst="rect">
            <a:avLst/>
          </a:prstGeom>
          <a:noFill/>
        </p:spPr>
        <p:txBody>
          <a:bodyPr wrap="square" rtlCol="0" anchor="ctr"/>
          <a:lstStyle/>
          <a:p>
            <a:pPr marL="0" indent="0">
              <a:buNone/>
            </a:pPr>
            <a:r>
              <a:rPr lang="en-US" sz="1050" dirty="0">
                <a:solidFill>
                  <a:srgbClr val="9FC4C4"/>
                </a:solidFill>
                <a:latin typeface="Calibri" panose="020F0502020204030204" pitchFamily="34" charset="0"/>
                <a:ea typeface="Calibri" panose="020F0502020204030204" pitchFamily="34" charset="-122"/>
                <a:cs typeface="Calibri" panose="020F0502020204030204" pitchFamily="34" charset="-120"/>
              </a:rPr>
              <a:t>Yasser Salem  ·  Data Analyst &amp; Power BI Developer</a:t>
            </a:r>
            <a:endParaRPr lang="en-US" sz="1050" dirty="0"/>
          </a:p>
        </p:txBody>
      </p:sp>
      <p:sp>
        <p:nvSpPr>
          <p:cNvPr id="33" name="Text 31"/>
          <p:cNvSpPr/>
          <p:nvPr/>
        </p:nvSpPr>
        <p:spPr>
          <a:xfrm>
            <a:off x="11365992" y="6492240"/>
            <a:ext cx="548640" cy="274320"/>
          </a:xfrm>
          <a:prstGeom prst="rect">
            <a:avLst/>
          </a:prstGeom>
          <a:noFill/>
        </p:spPr>
        <p:txBody>
          <a:bodyPr wrap="square" rtlCol="0" anchor="ctr"/>
          <a:lstStyle/>
          <a:p>
            <a:pPr marL="0" indent="0" algn="r">
              <a:buNone/>
            </a:pPr>
            <a:r>
              <a:rPr lang="en-US" sz="1000" dirty="0">
                <a:solidFill>
                  <a:srgbClr val="9FC4C4"/>
                </a:solidFill>
                <a:latin typeface="Calibri" panose="020F0502020204030204" pitchFamily="34" charset="0"/>
                <a:ea typeface="Calibri" panose="020F0502020204030204" pitchFamily="34" charset="-122"/>
                <a:cs typeface="Calibri" panose="020F0502020204030204" pitchFamily="34" charset="-120"/>
              </a:rPr>
              <a:t>16</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14895</Words>
  <Application>WPS Presentation</Application>
  <PresentationFormat>On-screen Show (16:9)</PresentationFormat>
  <Paragraphs>906</Paragraphs>
  <Slides>16</Slides>
  <Notes>16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Cambria</vt:lpstr>
      <vt:lpstr>Cambria</vt:lpstr>
      <vt:lpstr>Cambria</vt:lpstr>
      <vt:lpstr>Calibri</vt:lpstr>
      <vt:lpstr>Calibri</vt:lpstr>
      <vt:lpstr>Calibri</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Yasser Salem Elnakeb</cp:lastModifiedBy>
  <cp:revision>3</cp:revision>
  <dcterms:created xsi:type="dcterms:W3CDTF">2026-08-16T13:19:00Z</dcterms:created>
  <dcterms:modified xsi:type="dcterms:W3CDTF">2026-08-22T15:48:55Z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EA02D2ADC2F248A9BBADAC399C49E22D_12</vt:lpwstr>
  </property>
</Properties>
</file>